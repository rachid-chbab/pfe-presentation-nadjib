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78"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9" Type="http://schemas.openxmlformats.org/officeDocument/2006/relationships/notesSlide" Target="../notesSlides/notesSlide16.xml"/><Relationship Id="rId18" Type="http://schemas.openxmlformats.org/officeDocument/2006/relationships/slideLayout" Target="../slideLayouts/slideLayout1.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image" Target="../media/image2.png"/><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xml"/><Relationship Id="rId4" Type="http://schemas.openxmlformats.org/officeDocument/2006/relationships/image" Target="../media/image13.png"/><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9" Type="http://schemas.openxmlformats.org/officeDocument/2006/relationships/image" Target="../media/image14.png"/><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image" Target="../media/image10.png"/><Relationship Id="rId2" Type="http://schemas.openxmlformats.org/officeDocument/2006/relationships/tags" Target="../tags/tag18.xml"/><Relationship Id="rId14" Type="http://schemas.openxmlformats.org/officeDocument/2006/relationships/notesSlide" Target="../notesSlides/notesSlide20.xml"/><Relationship Id="rId13" Type="http://schemas.openxmlformats.org/officeDocument/2006/relationships/slideLayout" Target="../slideLayouts/slideLayout1.xml"/><Relationship Id="rId12" Type="http://schemas.openxmlformats.org/officeDocument/2006/relationships/tags" Target="../tags/tag26.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tags" Target="../tags/tag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0" y="594360"/>
            <a:ext cx="8000000" cy="457200"/>
          </a:xfrm>
          <a:prstGeom prst="rect">
            <a:avLst/>
          </a:prstGeom>
          <a:noFill/>
        </p:spPr>
        <p:txBody>
          <a:bodyPr wrap="square" lIns="0" tIns="0" rIns="0" bIns="0" rtlCol="0" anchor="ctr"/>
          <a:lstStyle/>
          <a:p>
            <a:pPr marL="0" indent="0" algn="ctr">
              <a:buNone/>
            </a:pPr>
            <a:r>
              <a:rPr lang="en-US" sz="1600" b="1" kern="0" spc="200" dirty="0">
                <a:solidFill>
                  <a:srgbClr val="0284C7"/>
                </a:solidFill>
                <a:latin typeface="Calibri" panose="020F0502020204030204" pitchFamily="34" charset="0"/>
                <a:ea typeface="Calibri" panose="020F0502020204030204" pitchFamily="34" charset="-122"/>
                <a:cs typeface="Calibri" panose="020F0502020204030204" pitchFamily="34" charset="-120"/>
              </a:rPr>
              <a:t>SOUTENANCE DE MASTER - RÉSEAUX RADIO MOBILES</a:t>
            </a:r>
            <a:endParaRPr lang="en-US" sz="1600" dirty="0"/>
          </a:p>
        </p:txBody>
      </p:sp>
      <p:sp>
        <p:nvSpPr>
          <p:cNvPr id="3" name="Text 1"/>
          <p:cNvSpPr/>
          <p:nvPr/>
        </p:nvSpPr>
        <p:spPr>
          <a:xfrm>
            <a:off x="548640" y="1143000"/>
            <a:ext cx="7497600" cy="1554480"/>
          </a:xfrm>
          <a:prstGeom prst="rect">
            <a:avLst/>
          </a:prstGeom>
          <a:noFill/>
        </p:spPr>
        <p:txBody>
          <a:bodyPr wrap="square" lIns="0" tIns="0" rIns="0" bIns="0" rtlCol="0" anchor="ctr"/>
          <a:lstStyle/>
          <a:p>
            <a:pPr marL="0" indent="0" algn="ctr">
              <a:lnSpc>
                <a:spcPct val="110000"/>
              </a:lnSpc>
              <a:buNone/>
            </a:pPr>
            <a:r>
              <a:rPr lang="en-US" sz="3600" b="1" dirty="0">
                <a:solidFill>
                  <a:srgbClr val="0F172A"/>
                </a:solidFill>
                <a:latin typeface="Calibri" panose="020F0502020204030204" pitchFamily="34" charset="0"/>
                <a:ea typeface="Calibri" panose="020F0502020204030204" pitchFamily="34" charset="-122"/>
                <a:cs typeface="Calibri" panose="020F0502020204030204" pitchFamily="34" charset="-120"/>
              </a:rPr>
              <a:t>Analyse et optimisation de la couverture 5G NR</a:t>
            </a:r>
            <a:endParaRPr lang="en-US" sz="3600" dirty="0"/>
          </a:p>
          <a:p>
            <a:pPr marL="0" indent="0" algn="ctr">
              <a:lnSpc>
                <a:spcPct val="110000"/>
              </a:lnSpc>
              <a:buNone/>
            </a:pPr>
            <a:r>
              <a:rPr lang="en-US" sz="3600" b="1" dirty="0">
                <a:solidFill>
                  <a:srgbClr val="0284C7"/>
                </a:solidFill>
                <a:latin typeface="Calibri" panose="020F0502020204030204" pitchFamily="34" charset="0"/>
                <a:ea typeface="Calibri" panose="020F0502020204030204" pitchFamily="34" charset="-122"/>
                <a:cs typeface="Calibri" panose="020F0502020204030204" pitchFamily="34" charset="-120"/>
              </a:rPr>
              <a:t>dans le réseau Mobilis</a:t>
            </a:r>
            <a:endParaRPr lang="en-US" sz="3600" dirty="0"/>
          </a:p>
        </p:txBody>
      </p:sp>
      <p:sp>
        <p:nvSpPr>
          <p:cNvPr id="4" name="Text 2"/>
          <p:cNvSpPr/>
          <p:nvPr/>
        </p:nvSpPr>
        <p:spPr>
          <a:xfrm>
            <a:off x="548640" y="2697480"/>
            <a:ext cx="7497600" cy="640080"/>
          </a:xfrm>
          <a:prstGeom prst="rect">
            <a:avLst/>
          </a:prstGeom>
          <a:noFill/>
        </p:spPr>
        <p:txBody>
          <a:bodyPr wrap="square" lIns="0" tIns="0" rIns="0" bIns="0" rtlCol="0" anchor="ctr"/>
          <a:lstStyle/>
          <a:p>
            <a:pPr marL="0" indent="0" algn="ctr">
              <a:buNone/>
            </a:pPr>
            <a:r>
              <a:rPr lang="en-US" sz="1400" dirty="0">
                <a:solidFill>
                  <a:srgbClr val="334155"/>
                </a:solidFill>
                <a:latin typeface="Calibri" panose="020F0502020204030204" pitchFamily="34" charset="0"/>
                <a:ea typeface="Calibri" panose="020F0502020204030204" pitchFamily="34" charset="-122"/>
                <a:cs typeface="Calibri" panose="020F0502020204030204" pitchFamily="34" charset="-120"/>
              </a:rPr>
              <a:t>Basée sur l'évaluation des faisceaux (Beams), du SS-RSRP et du SS-SINR, et leur impact sur la Qualité d'Expérience Utilisateur (QoE).</a:t>
            </a:r>
            <a:endParaRPr lang="en-US" sz="1400" dirty="0"/>
          </a:p>
        </p:txBody>
      </p:sp>
      <p:sp>
        <p:nvSpPr>
          <p:cNvPr id="5" name="Shape 3"/>
          <p:cNvSpPr/>
          <p:nvPr/>
        </p:nvSpPr>
        <p:spPr>
          <a:xfrm>
            <a:off x="548640" y="3520440"/>
            <a:ext cx="7497600" cy="1691640"/>
          </a:xfrm>
          <a:prstGeom prst="roundRect">
            <a:avLst>
              <a:gd name="adj" fmla="val 3784"/>
            </a:avLst>
          </a:prstGeom>
          <a:solidFill>
            <a:srgbClr val="F0F4F8"/>
          </a:solidFill>
          <a:ln w="12700">
            <a:solidFill>
              <a:srgbClr val="DBEAFE"/>
            </a:solidFill>
            <a:prstDash val="solid"/>
          </a:ln>
        </p:spPr>
      </p:sp>
      <p:sp>
        <p:nvSpPr>
          <p:cNvPr id="6" name="Text 4"/>
          <p:cNvSpPr/>
          <p:nvPr/>
        </p:nvSpPr>
        <p:spPr>
          <a:xfrm>
            <a:off x="1554480" y="3703320"/>
            <a:ext cx="3657600" cy="320040"/>
          </a:xfrm>
          <a:prstGeom prst="rect">
            <a:avLst/>
          </a:prstGeom>
          <a:noFill/>
        </p:spPr>
        <p:txBody>
          <a:bodyPr wrap="square" lIns="0" tIns="0" rIns="0" bIns="0" rtlCol="0" anchor="ctr"/>
          <a:lstStyle/>
          <a:p>
            <a:pPr marL="0" indent="0">
              <a:buNone/>
            </a:pPr>
            <a:r>
              <a:rPr lang="en-US" sz="1400" b="1" dirty="0">
                <a:solidFill>
                  <a:srgbClr val="0284C7"/>
                </a:solidFill>
                <a:latin typeface="Calibri" panose="020F0502020204030204" pitchFamily="34" charset="0"/>
                <a:ea typeface="Calibri" panose="020F0502020204030204" pitchFamily="34" charset="-122"/>
                <a:cs typeface="Calibri" panose="020F0502020204030204" pitchFamily="34" charset="-120"/>
              </a:rPr>
              <a:t>Présenté par :</a:t>
            </a:r>
            <a:endParaRPr lang="en-US" sz="1400" dirty="0"/>
          </a:p>
        </p:txBody>
      </p:sp>
      <p:sp>
        <p:nvSpPr>
          <p:cNvPr id="7" name="Text 5"/>
          <p:cNvSpPr/>
          <p:nvPr/>
        </p:nvSpPr>
        <p:spPr>
          <a:xfrm>
            <a:off x="4389120" y="3703320"/>
            <a:ext cx="3108480" cy="320040"/>
          </a:xfrm>
          <a:prstGeom prst="rect">
            <a:avLst/>
          </a:prstGeom>
          <a:noFill/>
        </p:spPr>
        <p:txBody>
          <a:bodyPr wrap="square" lIns="0" tIns="0" rIns="0" bIns="0" rtlCol="0" anchor="ctr"/>
          <a:lstStyle/>
          <a:p>
            <a:pPr marL="0" indent="0">
              <a:buNone/>
            </a:pPr>
            <a:r>
              <a:rPr lang="en-US" sz="1400" b="1" dirty="0">
                <a:solidFill>
                  <a:srgbClr val="0284C7"/>
                </a:solidFill>
                <a:latin typeface="Calibri" panose="020F0502020204030204" pitchFamily="34" charset="0"/>
                <a:ea typeface="Calibri" panose="020F0502020204030204" pitchFamily="34" charset="-122"/>
                <a:cs typeface="Calibri" panose="020F0502020204030204" pitchFamily="34" charset="-120"/>
              </a:rPr>
              <a:t>Encadré par :</a:t>
            </a:r>
            <a:endParaRPr lang="en-US" sz="1400" dirty="0"/>
          </a:p>
        </p:txBody>
      </p:sp>
      <p:sp>
        <p:nvSpPr>
          <p:cNvPr id="8" name="Text 6"/>
          <p:cNvSpPr/>
          <p:nvPr/>
        </p:nvSpPr>
        <p:spPr>
          <a:xfrm>
            <a:off x="1554480" y="4069080"/>
            <a:ext cx="4114800" cy="822960"/>
          </a:xfrm>
          <a:prstGeom prst="rect">
            <a:avLst/>
          </a:prstGeom>
          <a:noFill/>
        </p:spPr>
        <p:txBody>
          <a:bodyPr wrap="square" lIns="0" tIns="0" rIns="0" bIns="0" rtlCol="0" anchor="ctr"/>
          <a:lstStyle/>
          <a:p>
            <a:pPr marL="0" indent="0">
              <a:spcAft>
                <a:spcPts val="600"/>
              </a:spcAft>
              <a:buNone/>
            </a:pPr>
            <a:r>
              <a:rPr lang="en-US" sz="1400" dirty="0">
                <a:solidFill>
                  <a:srgbClr val="0F172A"/>
                </a:solidFill>
                <a:latin typeface="Calibri" panose="020F0502020204030204" pitchFamily="34" charset="0"/>
                <a:ea typeface="Calibri" panose="020F0502020204030204" pitchFamily="34" charset="-122"/>
                <a:cs typeface="Calibri" panose="020F0502020204030204" pitchFamily="34" charset="-120"/>
              </a:rPr>
              <a:t>Mr. HAMOUDI Aymene</a:t>
            </a:r>
            <a:endParaRPr lang="en-US" sz="1400" dirty="0"/>
          </a:p>
          <a:p>
            <a:pPr marL="0" indent="0">
              <a:spcAft>
                <a:spcPts val="600"/>
              </a:spcAft>
              <a:buNone/>
            </a:pPr>
            <a:r>
              <a:rPr lang="en-US" sz="1400" dirty="0">
                <a:solidFill>
                  <a:srgbClr val="0F172A"/>
                </a:solidFill>
                <a:latin typeface="Calibri" panose="020F0502020204030204" pitchFamily="34" charset="0"/>
                <a:ea typeface="Calibri" panose="020F0502020204030204" pitchFamily="34" charset="-122"/>
                <a:cs typeface="Calibri" panose="020F0502020204030204" pitchFamily="34" charset="-120"/>
              </a:rPr>
              <a:t>Mr. BENCHAOUCHE Nadjib</a:t>
            </a:r>
            <a:endParaRPr lang="en-US" sz="1400" dirty="0"/>
          </a:p>
        </p:txBody>
      </p:sp>
      <p:sp>
        <p:nvSpPr>
          <p:cNvPr id="9" name="Text 7"/>
          <p:cNvSpPr/>
          <p:nvPr/>
        </p:nvSpPr>
        <p:spPr>
          <a:xfrm>
            <a:off x="4389120" y="4069080"/>
            <a:ext cx="3108480" cy="822960"/>
          </a:xfrm>
          <a:prstGeom prst="rect">
            <a:avLst/>
          </a:prstGeom>
          <a:noFill/>
        </p:spPr>
        <p:txBody>
          <a:bodyPr wrap="square" lIns="0" tIns="0" rIns="0" bIns="0" rtlCol="0" anchor="ctr"/>
          <a:lstStyle/>
          <a:p>
            <a:pPr marL="0" indent="0">
              <a:spcAft>
                <a:spcPts val="600"/>
              </a:spcAft>
              <a:buNone/>
            </a:pPr>
            <a:r>
              <a:rPr lang="fr-FR" altLang="en-US" sz="1400" dirty="0">
                <a:solidFill>
                  <a:srgbClr val="0F172A"/>
                </a:solidFill>
                <a:latin typeface="Calibri" panose="020F0502020204030204" pitchFamily="34" charset="0"/>
                <a:ea typeface="Calibri" panose="020F0502020204030204" pitchFamily="34" charset="-122"/>
                <a:cs typeface="Calibri" panose="020F0502020204030204" pitchFamily="34" charset="-120"/>
              </a:rPr>
              <a:t>DR</a:t>
            </a:r>
            <a:r>
              <a:rPr lang="en-US" sz="1400" dirty="0">
                <a:solidFill>
                  <a:srgbClr val="0F172A"/>
                </a:solidFill>
                <a:latin typeface="Calibri" panose="020F0502020204030204" pitchFamily="34" charset="0"/>
                <a:ea typeface="Calibri" panose="020F0502020204030204" pitchFamily="34" charset="-122"/>
                <a:cs typeface="Calibri" panose="020F0502020204030204" pitchFamily="34" charset="-120"/>
              </a:rPr>
              <a:t>. EL AFENDI M. M. (USTHB)</a:t>
            </a:r>
            <a:endParaRPr lang="en-US" sz="1400" dirty="0"/>
          </a:p>
          <a:p>
            <a:pPr marL="0" indent="0">
              <a:spcAft>
                <a:spcPts val="600"/>
              </a:spcAft>
              <a:buNone/>
            </a:pPr>
            <a:r>
              <a:rPr lang="en-US" sz="1400" dirty="0">
                <a:solidFill>
                  <a:srgbClr val="0F172A"/>
                </a:solidFill>
                <a:latin typeface="Calibri" panose="020F0502020204030204" pitchFamily="34" charset="0"/>
                <a:ea typeface="Calibri" panose="020F0502020204030204" pitchFamily="34" charset="-122"/>
                <a:cs typeface="Calibri" panose="020F0502020204030204" pitchFamily="34" charset="-120"/>
              </a:rPr>
              <a:t>Mr. HASSANI Moussa (Mobilis)</a:t>
            </a:r>
            <a:endParaRPr lang="en-US" sz="1400" dirty="0"/>
          </a:p>
        </p:txBody>
      </p:sp>
      <p:sp>
        <p:nvSpPr>
          <p:cNvPr id="10" name="Shape 8"/>
          <p:cNvSpPr/>
          <p:nvPr/>
        </p:nvSpPr>
        <p:spPr>
          <a:xfrm>
            <a:off x="548640" y="5532120"/>
            <a:ext cx="7497600" cy="0"/>
          </a:xfrm>
          <a:prstGeom prst="line">
            <a:avLst/>
          </a:prstGeom>
          <a:noFill/>
          <a:ln w="12700">
            <a:solidFill>
              <a:srgbClr val="DBEAFE"/>
            </a:solidFill>
            <a:prstDash val="solid"/>
          </a:ln>
        </p:spPr>
      </p:sp>
      <p:sp>
        <p:nvSpPr>
          <p:cNvPr id="11" name="Text 9"/>
          <p:cNvSpPr/>
          <p:nvPr/>
        </p:nvSpPr>
        <p:spPr>
          <a:xfrm>
            <a:off x="548640" y="5715000"/>
            <a:ext cx="3840000" cy="365760"/>
          </a:xfrm>
          <a:prstGeom prst="rect">
            <a:avLst/>
          </a:prstGeom>
          <a:noFill/>
        </p:spPr>
        <p:txBody>
          <a:bodyPr wrap="square" lIns="0" tIns="0" rIns="0" bIns="0" rtlCol="0" anchor="ctr"/>
          <a:lstStyle/>
          <a:p>
            <a:pPr marL="0" indent="0">
              <a:buNone/>
            </a:pPr>
            <a:r>
              <a:rPr lang="en-US" sz="1200" dirty="0">
                <a:solidFill>
                  <a:srgbClr val="005BAC"/>
                </a:solidFill>
                <a:latin typeface="Calibri" panose="020F0502020204030204" pitchFamily="34" charset="0"/>
                <a:ea typeface="Calibri" panose="020F0502020204030204" pitchFamily="34" charset="-122"/>
                <a:cs typeface="Calibri" panose="020F0502020204030204" pitchFamily="34" charset="-120"/>
              </a:rPr>
              <a:t>USTHB - Faculté Génie Électrique  |  Date : 27/06/2026</a:t>
            </a:r>
            <a:endParaRPr lang="en-US" sz="1200" dirty="0"/>
          </a:p>
        </p:txBody>
      </p:sp>
      <p:sp>
        <p:nvSpPr>
          <p:cNvPr id="12" name="Text 10"/>
          <p:cNvSpPr/>
          <p:nvPr/>
        </p:nvSpPr>
        <p:spPr>
          <a:xfrm>
            <a:off x="4114800" y="5715000"/>
            <a:ext cx="3931200" cy="457200"/>
          </a:xfrm>
          <a:prstGeom prst="rect">
            <a:avLst/>
          </a:prstGeom>
          <a:noFill/>
        </p:spPr>
        <p:txBody>
          <a:bodyPr wrap="square" lIns="0" tIns="0" rIns="0" bIns="0" rtlCol="0" anchor="ctr"/>
          <a:lstStyle/>
          <a:p>
            <a:pPr marL="0" indent="0" algn="r">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Jury : </a:t>
            </a:r>
            <a:r>
              <a:rPr lang="fr-FR" alt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DR</a:t>
            </a: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 BAKIR Nadia (Présidente), </a:t>
            </a:r>
            <a:r>
              <a:rPr lang="fr-FR" alt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DR</a:t>
            </a: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 ADNAN Ayoub (Examinateur)</a:t>
            </a:r>
            <a:endParaRPr lang="en-US" sz="1200" dirty="0"/>
          </a:p>
        </p:txBody>
      </p:sp>
      <p:sp>
        <p:nvSpPr>
          <p:cNvPr id="9901" name="HeroBlock"/>
          <p:cNvSpPr/>
          <p:nvPr/>
        </p:nvSpPr>
        <p:spPr>
          <a:xfrm>
            <a:off x="8229600" y="0"/>
            <a:ext cx="3962400" cy="6858000"/>
          </a:xfrm>
          <a:prstGeom prst="rect">
            <a:avLst/>
          </a:prstGeom>
          <a:solidFill>
            <a:srgbClr val="005BAC"/>
          </a:solidFill>
          <a:ln w="0">
            <a:noFill/>
          </a:ln>
        </p:spPr>
        <p:txBody>
          <a:bodyPr/>
          <a:lstStyle/>
          <a:p/>
        </p:txBody>
      </p:sp>
      <p:sp>
        <p:nvSpPr>
          <p:cNvPr id="9902" name="CyanAccent"/>
          <p:cNvSpPr/>
          <p:nvPr/>
        </p:nvSpPr>
        <p:spPr>
          <a:xfrm>
            <a:off x="8239125" y="0"/>
            <a:ext cx="182880" cy="6858000"/>
          </a:xfrm>
          <a:prstGeom prst="rect">
            <a:avLst/>
          </a:prstGeom>
          <a:solidFill>
            <a:srgbClr val="0284C7"/>
          </a:solidFill>
          <a:ln w="0">
            <a:noFill/>
          </a:ln>
        </p:spPr>
        <p:txBody>
          <a:bodyPr/>
          <a:lstStyle/>
          <a:p/>
        </p:txBody>
      </p:sp>
      <p:sp>
        <p:nvSpPr>
          <p:cNvPr id="9903" name="TopBar"/>
          <p:cNvSpPr/>
          <p:nvPr/>
        </p:nvSpPr>
        <p:spPr>
          <a:xfrm>
            <a:off x="0" y="0"/>
            <a:ext cx="8229600" cy="91440"/>
          </a:xfrm>
          <a:prstGeom prst="rect">
            <a:avLst/>
          </a:prstGeom>
          <a:solidFill>
            <a:srgbClr val="0F172A"/>
          </a:solidFill>
          <a:ln w="0">
            <a:noFill/>
          </a:ln>
        </p:spPr>
        <p:txBody>
          <a:bodyPr/>
          <a:lstStyl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Plan de la présentation</a:t>
            </a:r>
            <a:endParaRPr lang="en-US" sz="2800" dirty="0"/>
          </a:p>
        </p:txBody>
      </p:sp>
      <p:sp>
        <p:nvSpPr>
          <p:cNvPr id="3" name="Shape 1"/>
          <p:cNvSpPr/>
          <p:nvPr/>
        </p:nvSpPr>
        <p:spPr>
          <a:xfrm>
            <a:off x="548640" y="1554480"/>
            <a:ext cx="3484778" cy="2377440"/>
          </a:xfrm>
          <a:prstGeom prst="roundRect">
            <a:avLst>
              <a:gd name="adj" fmla="val 2692"/>
            </a:avLst>
          </a:prstGeom>
          <a:solidFill>
            <a:srgbClr val="F0F4F8"/>
          </a:solidFill>
          <a:ln w="12700">
            <a:solidFill>
              <a:srgbClr val="DBEAFE"/>
            </a:solidFill>
            <a:prstDash val="solid"/>
          </a:ln>
        </p:spPr>
      </p:sp>
      <p:pic>
        <p:nvPicPr>
          <p:cNvPr id="4" name="Image 0" descr="preencoded.png"/>
          <p:cNvPicPr>
            <a:picLocks noChangeAspect="1"/>
          </p:cNvPicPr>
          <p:nvPr/>
        </p:nvPicPr>
        <p:blipFill>
          <a:blip r:embed="rId1"/>
          <a:stretch>
            <a:fillRect/>
          </a:stretch>
        </p:blipFill>
        <p:spPr>
          <a:xfrm>
            <a:off x="2034997" y="1828800"/>
            <a:ext cx="512064" cy="512064"/>
          </a:xfrm>
          <a:prstGeom prst="rect">
            <a:avLst/>
          </a:prstGeom>
        </p:spPr>
      </p:pic>
      <p:sp>
        <p:nvSpPr>
          <p:cNvPr id="5" name="Text 2"/>
          <p:cNvSpPr/>
          <p:nvPr/>
        </p:nvSpPr>
        <p:spPr>
          <a:xfrm>
            <a:off x="777240" y="2468880"/>
            <a:ext cx="3027578" cy="411480"/>
          </a:xfrm>
          <a:prstGeom prst="rect">
            <a:avLst/>
          </a:prstGeom>
          <a:noFill/>
        </p:spPr>
        <p:txBody>
          <a:bodyPr wrap="square" lIns="0" tIns="0" rIns="0" bIns="0" rtlCol="0" anchor="ctr"/>
          <a:lstStyle/>
          <a:p>
            <a:pPr marL="0" indent="0" algn="ctr">
              <a:buNone/>
            </a:pPr>
            <a:r>
              <a:rPr lang="en-US" sz="1500" b="1" dirty="0">
                <a:solidFill>
                  <a:srgbClr val="005BAC"/>
                </a:solidFill>
                <a:latin typeface="Calibri" panose="020F0502020204030204" pitchFamily="34" charset="0"/>
                <a:ea typeface="Calibri" panose="020F0502020204030204" pitchFamily="34" charset="-122"/>
                <a:cs typeface="Calibri" panose="020F0502020204030204" pitchFamily="34" charset="-120"/>
              </a:rPr>
              <a:t>1. Introduction</a:t>
            </a:r>
            <a:endParaRPr lang="en-US" sz="1500" dirty="0"/>
          </a:p>
        </p:txBody>
      </p:sp>
      <p:sp>
        <p:nvSpPr>
          <p:cNvPr id="6" name="Text 3"/>
          <p:cNvSpPr/>
          <p:nvPr/>
        </p:nvSpPr>
        <p:spPr>
          <a:xfrm>
            <a:off x="822960" y="2880360"/>
            <a:ext cx="2936138" cy="914400"/>
          </a:xfrm>
          <a:prstGeom prst="rect">
            <a:avLst/>
          </a:prstGeom>
          <a:noFill/>
        </p:spPr>
        <p:txBody>
          <a:bodyPr wrap="square" lIns="0" tIns="0" rIns="0" bIns="0" rtlCol="0" anchor="ctr"/>
          <a:lstStyle/>
          <a:p>
            <a:pPr marL="0" indent="0" algn="ctr">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Contexte et </a:t>
            </a:r>
            <a:r>
              <a:rPr lang="fr-FR" alt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Problematique</a:t>
            </a: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a:t>
            </a:r>
            <a:endParaRPr lang="en-US" sz="1150" dirty="0"/>
          </a:p>
        </p:txBody>
      </p:sp>
      <p:sp>
        <p:nvSpPr>
          <p:cNvPr id="7" name="Shape 4"/>
          <p:cNvSpPr/>
          <p:nvPr/>
        </p:nvSpPr>
        <p:spPr>
          <a:xfrm>
            <a:off x="4353458" y="1554480"/>
            <a:ext cx="3484778" cy="2377440"/>
          </a:xfrm>
          <a:prstGeom prst="roundRect">
            <a:avLst>
              <a:gd name="adj" fmla="val 2692"/>
            </a:avLst>
          </a:prstGeom>
          <a:solidFill>
            <a:srgbClr val="F0F4F8"/>
          </a:solidFill>
          <a:ln w="12700">
            <a:solidFill>
              <a:srgbClr val="DBEAFE"/>
            </a:solidFill>
            <a:prstDash val="solid"/>
          </a:ln>
        </p:spPr>
      </p:sp>
      <p:pic>
        <p:nvPicPr>
          <p:cNvPr id="8" name="Image 1" descr="preencoded.png"/>
          <p:cNvPicPr>
            <a:picLocks noChangeAspect="1"/>
          </p:cNvPicPr>
          <p:nvPr/>
        </p:nvPicPr>
        <p:blipFill>
          <a:blip r:embed="rId2"/>
          <a:stretch>
            <a:fillRect/>
          </a:stretch>
        </p:blipFill>
        <p:spPr>
          <a:xfrm>
            <a:off x="5839816" y="1828800"/>
            <a:ext cx="512064" cy="512064"/>
          </a:xfrm>
          <a:prstGeom prst="rect">
            <a:avLst/>
          </a:prstGeom>
        </p:spPr>
      </p:pic>
      <p:sp>
        <p:nvSpPr>
          <p:cNvPr id="9" name="Text 5"/>
          <p:cNvSpPr/>
          <p:nvPr/>
        </p:nvSpPr>
        <p:spPr>
          <a:xfrm>
            <a:off x="4582058" y="2468880"/>
            <a:ext cx="3027578" cy="411480"/>
          </a:xfrm>
          <a:prstGeom prst="rect">
            <a:avLst/>
          </a:prstGeom>
          <a:noFill/>
        </p:spPr>
        <p:txBody>
          <a:bodyPr wrap="square" lIns="0" tIns="0" rIns="0" bIns="0" rtlCol="0" anchor="ctr"/>
          <a:lstStyle/>
          <a:p>
            <a:pPr marL="0" indent="0" algn="ctr">
              <a:buNone/>
            </a:pPr>
            <a:r>
              <a:rPr lang="en-US" sz="1500" b="1" dirty="0">
                <a:solidFill>
                  <a:srgbClr val="005BAC"/>
                </a:solidFill>
                <a:latin typeface="Calibri" panose="020F0502020204030204" pitchFamily="34" charset="0"/>
                <a:ea typeface="Calibri" panose="020F0502020204030204" pitchFamily="34" charset="-122"/>
                <a:cs typeface="Calibri" panose="020F0502020204030204" pitchFamily="34" charset="-120"/>
              </a:rPr>
              <a:t>II. Fondements 5G NR</a:t>
            </a:r>
            <a:endParaRPr lang="en-US" sz="1500" dirty="0"/>
          </a:p>
        </p:txBody>
      </p:sp>
      <p:sp>
        <p:nvSpPr>
          <p:cNvPr id="10" name="Text 6"/>
          <p:cNvSpPr/>
          <p:nvPr/>
        </p:nvSpPr>
        <p:spPr>
          <a:xfrm>
            <a:off x="4627778" y="2880360"/>
            <a:ext cx="2936138" cy="914400"/>
          </a:xfrm>
          <a:prstGeom prst="rect">
            <a:avLst/>
          </a:prstGeom>
          <a:noFill/>
        </p:spPr>
        <p:txBody>
          <a:bodyPr wrap="square" lIns="0" tIns="0" rIns="0" bIns="0" rtlCol="0" anchor="ctr"/>
          <a:lstStyle/>
          <a:p>
            <a:pPr marL="0" indent="0" algn="ctr">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Architecture NSA 3x, Massive MIMO et Indicateurs SS-RSRP/SINR.</a:t>
            </a:r>
            <a:endParaRPr lang="en-US" sz="1150" dirty="0"/>
          </a:p>
        </p:txBody>
      </p:sp>
      <p:sp>
        <p:nvSpPr>
          <p:cNvPr id="11" name="Shape 7"/>
          <p:cNvSpPr/>
          <p:nvPr/>
        </p:nvSpPr>
        <p:spPr>
          <a:xfrm>
            <a:off x="8158277" y="1554480"/>
            <a:ext cx="3484778" cy="2377440"/>
          </a:xfrm>
          <a:prstGeom prst="roundRect">
            <a:avLst>
              <a:gd name="adj" fmla="val 2692"/>
            </a:avLst>
          </a:prstGeom>
          <a:solidFill>
            <a:srgbClr val="F0F4F8"/>
          </a:solidFill>
          <a:ln w="12700">
            <a:solidFill>
              <a:srgbClr val="DBEAFE"/>
            </a:solidFill>
            <a:prstDash val="solid"/>
          </a:ln>
        </p:spPr>
      </p:sp>
      <p:pic>
        <p:nvPicPr>
          <p:cNvPr id="12" name="Image 2" descr="preencoded.png"/>
          <p:cNvPicPr>
            <a:picLocks noChangeAspect="1"/>
          </p:cNvPicPr>
          <p:nvPr/>
        </p:nvPicPr>
        <p:blipFill>
          <a:blip r:embed="rId3"/>
          <a:stretch>
            <a:fillRect/>
          </a:stretch>
        </p:blipFill>
        <p:spPr>
          <a:xfrm>
            <a:off x="9644634" y="1828800"/>
            <a:ext cx="512064" cy="512064"/>
          </a:xfrm>
          <a:prstGeom prst="rect">
            <a:avLst/>
          </a:prstGeom>
        </p:spPr>
      </p:pic>
      <p:sp>
        <p:nvSpPr>
          <p:cNvPr id="13" name="Text 8"/>
          <p:cNvSpPr/>
          <p:nvPr/>
        </p:nvSpPr>
        <p:spPr>
          <a:xfrm>
            <a:off x="8386877" y="2468880"/>
            <a:ext cx="3027578" cy="411480"/>
          </a:xfrm>
          <a:prstGeom prst="rect">
            <a:avLst/>
          </a:prstGeom>
          <a:noFill/>
        </p:spPr>
        <p:txBody>
          <a:bodyPr wrap="square" lIns="0" tIns="0" rIns="0" bIns="0" rtlCol="0" anchor="ctr"/>
          <a:lstStyle/>
          <a:p>
            <a:pPr marL="0" indent="0" algn="ctr">
              <a:buNone/>
            </a:pPr>
            <a:r>
              <a:rPr lang="en-US" sz="1500" b="1" dirty="0">
                <a:solidFill>
                  <a:srgbClr val="005BAC"/>
                </a:solidFill>
                <a:latin typeface="Calibri" panose="020F0502020204030204" pitchFamily="34" charset="0"/>
                <a:ea typeface="Calibri" panose="020F0502020204030204" pitchFamily="34" charset="-122"/>
                <a:cs typeface="Calibri" panose="020F0502020204030204" pitchFamily="34" charset="-120"/>
              </a:rPr>
              <a:t>III. Données &amp; Environnement</a:t>
            </a:r>
            <a:endParaRPr lang="en-US" sz="1500" dirty="0"/>
          </a:p>
        </p:txBody>
      </p:sp>
      <p:sp>
        <p:nvSpPr>
          <p:cNvPr id="14" name="Text 9"/>
          <p:cNvSpPr/>
          <p:nvPr/>
        </p:nvSpPr>
        <p:spPr>
          <a:xfrm>
            <a:off x="8432597" y="2880360"/>
            <a:ext cx="2936138" cy="914400"/>
          </a:xfrm>
          <a:prstGeom prst="rect">
            <a:avLst/>
          </a:prstGeom>
          <a:noFill/>
        </p:spPr>
        <p:txBody>
          <a:bodyPr wrap="square" lIns="0" tIns="0" rIns="0" bIns="0" rtlCol="0" anchor="ctr"/>
          <a:lstStyle/>
          <a:p>
            <a:pPr marL="0" indent="0" algn="ctr">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Réseau d'Oran (21 sites) et méthodologie de Drive Test.</a:t>
            </a:r>
            <a:endParaRPr lang="en-US" sz="1150" dirty="0"/>
          </a:p>
        </p:txBody>
      </p:sp>
      <p:sp>
        <p:nvSpPr>
          <p:cNvPr id="15" name="Shape 10"/>
          <p:cNvSpPr/>
          <p:nvPr/>
        </p:nvSpPr>
        <p:spPr>
          <a:xfrm>
            <a:off x="548640" y="4251960"/>
            <a:ext cx="3484778" cy="2377440"/>
          </a:xfrm>
          <a:prstGeom prst="roundRect">
            <a:avLst>
              <a:gd name="adj" fmla="val 2692"/>
            </a:avLst>
          </a:prstGeom>
          <a:solidFill>
            <a:srgbClr val="F0F4F8"/>
          </a:solidFill>
          <a:ln w="12700">
            <a:solidFill>
              <a:srgbClr val="DBEAFE"/>
            </a:solidFill>
            <a:prstDash val="solid"/>
          </a:ln>
        </p:spPr>
      </p:sp>
      <p:pic>
        <p:nvPicPr>
          <p:cNvPr id="16" name="Image 3" descr="preencoded.png"/>
          <p:cNvPicPr>
            <a:picLocks noChangeAspect="1"/>
          </p:cNvPicPr>
          <p:nvPr/>
        </p:nvPicPr>
        <p:blipFill>
          <a:blip r:embed="rId4"/>
          <a:stretch>
            <a:fillRect/>
          </a:stretch>
        </p:blipFill>
        <p:spPr>
          <a:xfrm>
            <a:off x="2034997" y="4526280"/>
            <a:ext cx="512064" cy="512064"/>
          </a:xfrm>
          <a:prstGeom prst="rect">
            <a:avLst/>
          </a:prstGeom>
        </p:spPr>
      </p:pic>
      <p:sp>
        <p:nvSpPr>
          <p:cNvPr id="17" name="Text 11"/>
          <p:cNvSpPr/>
          <p:nvPr/>
        </p:nvSpPr>
        <p:spPr>
          <a:xfrm>
            <a:off x="777240" y="5166360"/>
            <a:ext cx="3027578" cy="411480"/>
          </a:xfrm>
          <a:prstGeom prst="rect">
            <a:avLst/>
          </a:prstGeom>
          <a:noFill/>
        </p:spPr>
        <p:txBody>
          <a:bodyPr wrap="square" lIns="0" tIns="0" rIns="0" bIns="0" rtlCol="0" anchor="ctr"/>
          <a:lstStyle/>
          <a:p>
            <a:pPr marL="0" indent="0" algn="ctr">
              <a:buNone/>
            </a:pPr>
            <a:r>
              <a:rPr lang="en-US" sz="1500" b="1" dirty="0">
                <a:solidFill>
                  <a:srgbClr val="005BAC"/>
                </a:solidFill>
                <a:latin typeface="Calibri" panose="020F0502020204030204" pitchFamily="34" charset="0"/>
                <a:ea typeface="Calibri" panose="020F0502020204030204" pitchFamily="34" charset="-122"/>
                <a:cs typeface="Calibri" panose="020F0502020204030204" pitchFamily="34" charset="-120"/>
              </a:rPr>
              <a:t>IV. Modélisation</a:t>
            </a:r>
            <a:endParaRPr lang="en-US" sz="1500" dirty="0"/>
          </a:p>
        </p:txBody>
      </p:sp>
      <p:sp>
        <p:nvSpPr>
          <p:cNvPr id="18" name="Text 12"/>
          <p:cNvSpPr/>
          <p:nvPr/>
        </p:nvSpPr>
        <p:spPr>
          <a:xfrm>
            <a:off x="822960" y="5577840"/>
            <a:ext cx="2936138" cy="914400"/>
          </a:xfrm>
          <a:prstGeom prst="rect">
            <a:avLst/>
          </a:prstGeom>
          <a:noFill/>
        </p:spPr>
        <p:txBody>
          <a:bodyPr wrap="square" lIns="0" tIns="0" rIns="0" bIns="0" rtlCol="0" anchor="ctr"/>
          <a:lstStyle/>
          <a:p>
            <a:pPr marL="0" indent="0" algn="ctr">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Comparaison des modèles 3GPP vs SPM et des antennes.</a:t>
            </a:r>
            <a:endParaRPr lang="en-US" sz="1150" dirty="0"/>
          </a:p>
        </p:txBody>
      </p:sp>
      <p:sp>
        <p:nvSpPr>
          <p:cNvPr id="19" name="Shape 13"/>
          <p:cNvSpPr/>
          <p:nvPr/>
        </p:nvSpPr>
        <p:spPr>
          <a:xfrm>
            <a:off x="4353458" y="4251960"/>
            <a:ext cx="3484778" cy="2377440"/>
          </a:xfrm>
          <a:prstGeom prst="roundRect">
            <a:avLst>
              <a:gd name="adj" fmla="val 2692"/>
            </a:avLst>
          </a:prstGeom>
          <a:solidFill>
            <a:srgbClr val="F0F4F8"/>
          </a:solidFill>
          <a:ln w="12700">
            <a:solidFill>
              <a:srgbClr val="DBEAFE"/>
            </a:solidFill>
            <a:prstDash val="solid"/>
          </a:ln>
        </p:spPr>
      </p:sp>
      <p:pic>
        <p:nvPicPr>
          <p:cNvPr id="20" name="Image 4" descr="preencoded.png"/>
          <p:cNvPicPr>
            <a:picLocks noChangeAspect="1"/>
          </p:cNvPicPr>
          <p:nvPr/>
        </p:nvPicPr>
        <p:blipFill>
          <a:blip r:embed="rId5"/>
          <a:stretch>
            <a:fillRect/>
          </a:stretch>
        </p:blipFill>
        <p:spPr>
          <a:xfrm>
            <a:off x="5839816" y="4526280"/>
            <a:ext cx="512064" cy="512064"/>
          </a:xfrm>
          <a:prstGeom prst="rect">
            <a:avLst/>
          </a:prstGeom>
        </p:spPr>
      </p:pic>
      <p:sp>
        <p:nvSpPr>
          <p:cNvPr id="21" name="Text 14"/>
          <p:cNvSpPr/>
          <p:nvPr/>
        </p:nvSpPr>
        <p:spPr>
          <a:xfrm>
            <a:off x="4582058" y="5166360"/>
            <a:ext cx="3027578" cy="411480"/>
          </a:xfrm>
          <a:prstGeom prst="rect">
            <a:avLst/>
          </a:prstGeom>
          <a:noFill/>
        </p:spPr>
        <p:txBody>
          <a:bodyPr wrap="square" lIns="0" tIns="0" rIns="0" bIns="0" rtlCol="0" anchor="ctr"/>
          <a:lstStyle/>
          <a:p>
            <a:pPr marL="0" indent="0" algn="ctr">
              <a:buNone/>
            </a:pPr>
            <a:r>
              <a:rPr lang="en-US" sz="1500" b="1" dirty="0">
                <a:solidFill>
                  <a:srgbClr val="005BAC"/>
                </a:solidFill>
                <a:latin typeface="Calibri" panose="020F0502020204030204" pitchFamily="34" charset="0"/>
                <a:ea typeface="Calibri" panose="020F0502020204030204" pitchFamily="34" charset="-122"/>
                <a:cs typeface="Calibri" panose="020F0502020204030204" pitchFamily="34" charset="-120"/>
              </a:rPr>
              <a:t>V. Calibration SPM</a:t>
            </a:r>
            <a:endParaRPr lang="en-US" sz="1500" dirty="0"/>
          </a:p>
        </p:txBody>
      </p:sp>
      <p:sp>
        <p:nvSpPr>
          <p:cNvPr id="22" name="Text 15"/>
          <p:cNvSpPr/>
          <p:nvPr/>
        </p:nvSpPr>
        <p:spPr>
          <a:xfrm>
            <a:off x="4627778" y="5577840"/>
            <a:ext cx="2936138" cy="914400"/>
          </a:xfrm>
          <a:prstGeom prst="rect">
            <a:avLst/>
          </a:prstGeom>
          <a:noFill/>
        </p:spPr>
        <p:txBody>
          <a:bodyPr wrap="square" lIns="0" tIns="0" rIns="0" bIns="0" rtlCol="0" anchor="ctr"/>
          <a:lstStyle/>
          <a:p>
            <a:pPr marL="0" indent="0" algn="ctr">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Ajustement des modèles de propagation aux mesures réelles.</a:t>
            </a:r>
            <a:endParaRPr lang="en-US" sz="1150" dirty="0"/>
          </a:p>
        </p:txBody>
      </p:sp>
      <p:sp>
        <p:nvSpPr>
          <p:cNvPr id="23" name="Shape 16"/>
          <p:cNvSpPr/>
          <p:nvPr/>
        </p:nvSpPr>
        <p:spPr>
          <a:xfrm>
            <a:off x="8158277" y="4251960"/>
            <a:ext cx="3484778" cy="2377440"/>
          </a:xfrm>
          <a:prstGeom prst="roundRect">
            <a:avLst>
              <a:gd name="adj" fmla="val 2692"/>
            </a:avLst>
          </a:prstGeom>
          <a:solidFill>
            <a:srgbClr val="F0F4F8"/>
          </a:solidFill>
          <a:ln w="12700">
            <a:solidFill>
              <a:srgbClr val="DBEAFE"/>
            </a:solidFill>
            <a:prstDash val="solid"/>
          </a:ln>
        </p:spPr>
      </p:sp>
      <p:pic>
        <p:nvPicPr>
          <p:cNvPr id="24" name="Image 5" descr="preencoded.png"/>
          <p:cNvPicPr>
            <a:picLocks noChangeAspect="1"/>
          </p:cNvPicPr>
          <p:nvPr/>
        </p:nvPicPr>
        <p:blipFill>
          <a:blip r:embed="rId6"/>
          <a:stretch>
            <a:fillRect/>
          </a:stretch>
        </p:blipFill>
        <p:spPr>
          <a:xfrm>
            <a:off x="9644634" y="4526280"/>
            <a:ext cx="512064" cy="512064"/>
          </a:xfrm>
          <a:prstGeom prst="rect">
            <a:avLst/>
          </a:prstGeom>
        </p:spPr>
      </p:pic>
      <p:sp>
        <p:nvSpPr>
          <p:cNvPr id="25" name="Text 17"/>
          <p:cNvSpPr/>
          <p:nvPr/>
        </p:nvSpPr>
        <p:spPr>
          <a:xfrm>
            <a:off x="8386877" y="5166360"/>
            <a:ext cx="3027578" cy="411480"/>
          </a:xfrm>
          <a:prstGeom prst="rect">
            <a:avLst/>
          </a:prstGeom>
          <a:noFill/>
        </p:spPr>
        <p:txBody>
          <a:bodyPr wrap="square" lIns="0" tIns="0" rIns="0" bIns="0" rtlCol="0" anchor="ctr"/>
          <a:lstStyle/>
          <a:p>
            <a:pPr marL="0" indent="0" algn="ctr">
              <a:buNone/>
            </a:pPr>
            <a:r>
              <a:rPr lang="en-US" sz="1500" b="1" dirty="0">
                <a:solidFill>
                  <a:srgbClr val="005BAC"/>
                </a:solidFill>
                <a:latin typeface="Calibri" panose="020F0502020204030204" pitchFamily="34" charset="0"/>
                <a:ea typeface="Calibri" panose="020F0502020204030204" pitchFamily="34" charset="-122"/>
                <a:cs typeface="Calibri" panose="020F0502020204030204" pitchFamily="34" charset="-120"/>
              </a:rPr>
              <a:t>VI. Optimisation &amp; QoE</a:t>
            </a:r>
            <a:endParaRPr lang="en-US" sz="1500" dirty="0"/>
          </a:p>
        </p:txBody>
      </p:sp>
      <p:sp>
        <p:nvSpPr>
          <p:cNvPr id="26" name="Text 18"/>
          <p:cNvSpPr/>
          <p:nvPr/>
        </p:nvSpPr>
        <p:spPr>
          <a:xfrm>
            <a:off x="8432597" y="5577840"/>
            <a:ext cx="2936138" cy="914400"/>
          </a:xfrm>
          <a:prstGeom prst="rect">
            <a:avLst/>
          </a:prstGeom>
          <a:noFill/>
        </p:spPr>
        <p:txBody>
          <a:bodyPr wrap="square" lIns="0" tIns="0" rIns="0" bIns="0" rtlCol="0" anchor="ctr"/>
          <a:lstStyle/>
          <a:p>
            <a:pPr marL="0" indent="0" algn="ctr">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Scénarios ACP (Paramétrique &amp; Densification), Gains finaux.</a:t>
            </a:r>
            <a:endParaRPr lang="en-US" sz="1150" dirty="0"/>
          </a:p>
        </p:txBody>
      </p:sp>
      <p:sp>
        <p:nvSpPr>
          <p:cNvPr id="27" name="Text 19"/>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2</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Contexte &amp; Problématique</a:t>
            </a:r>
            <a:endParaRPr lang="en-US" sz="2800" dirty="0"/>
          </a:p>
        </p:txBody>
      </p:sp>
      <p:sp>
        <p:nvSpPr>
          <p:cNvPr id="3" name="Shape 1"/>
          <p:cNvSpPr/>
          <p:nvPr/>
        </p:nvSpPr>
        <p:spPr>
          <a:xfrm>
            <a:off x="548640" y="1554480"/>
            <a:ext cx="5364328" cy="4663440"/>
          </a:xfrm>
          <a:prstGeom prst="roundRect">
            <a:avLst>
              <a:gd name="adj" fmla="val 1373"/>
            </a:avLst>
          </a:prstGeom>
          <a:solidFill>
            <a:srgbClr val="F0F4F8"/>
          </a:solidFill>
          <a:ln w="12700">
            <a:solidFill>
              <a:srgbClr val="DBEAFE"/>
            </a:solidFill>
            <a:prstDash val="solid"/>
          </a:ln>
        </p:spPr>
      </p:sp>
      <p:sp>
        <p:nvSpPr>
          <p:cNvPr id="5" name="Text 2"/>
          <p:cNvSpPr/>
          <p:nvPr/>
        </p:nvSpPr>
        <p:spPr>
          <a:xfrm>
            <a:off x="1280160" y="1783080"/>
            <a:ext cx="4449928" cy="411480"/>
          </a:xfrm>
          <a:prstGeom prst="rect">
            <a:avLst/>
          </a:prstGeom>
          <a:noFill/>
        </p:spPr>
        <p:txBody>
          <a:bodyPr wrap="square" lIns="0" tIns="0" rIns="0" bIns="0" rtlCol="0" anchor="ctr"/>
          <a:lstStyle/>
          <a:p>
            <a:pPr marL="0" indent="0">
              <a:buNone/>
            </a:pPr>
            <a:r>
              <a:rPr lang="fr-FR" altLang="en-US" sz="1700" b="1" dirty="0">
                <a:solidFill>
                  <a:schemeClr val="accent5"/>
                </a:solidFill>
                <a:latin typeface="Calibri" panose="020F0502020204030204" pitchFamily="34" charset="0"/>
                <a:ea typeface="Calibri" panose="020F0502020204030204" pitchFamily="34" charset="-122"/>
                <a:cs typeface="Calibri" panose="020F0502020204030204" pitchFamily="34" charset="-120"/>
              </a:rPr>
              <a:t>Contexte</a:t>
            </a:r>
            <a:endParaRPr lang="fr-FR" altLang="en-US" sz="1700" b="1" dirty="0">
              <a:solidFill>
                <a:schemeClr val="accent5"/>
              </a:solidFill>
              <a:latin typeface="Calibri" panose="020F0502020204030204" pitchFamily="34" charset="0"/>
              <a:ea typeface="Calibri" panose="020F0502020204030204" pitchFamily="34" charset="-122"/>
              <a:cs typeface="Calibri" panose="020F0502020204030204" pitchFamily="34" charset="-120"/>
            </a:endParaRPr>
          </a:p>
        </p:txBody>
      </p:sp>
      <p:sp>
        <p:nvSpPr>
          <p:cNvPr id="6" name="Text 3"/>
          <p:cNvSpPr/>
          <p:nvPr/>
        </p:nvSpPr>
        <p:spPr>
          <a:xfrm>
            <a:off x="868680" y="2331720"/>
            <a:ext cx="4815688" cy="320040"/>
          </a:xfrm>
          <a:prstGeom prst="rect">
            <a:avLst/>
          </a:prstGeom>
          <a:noFill/>
        </p:spPr>
        <p:txBody>
          <a:bodyPr wrap="square" lIns="0" tIns="0" rIns="0" bIns="0" rtlCol="0" anchor="ctr"/>
          <a:lstStyle/>
          <a:p>
            <a:pPr marL="0" indent="0">
              <a:buNone/>
            </a:pPr>
            <a:r>
              <a:rPr lang="en-US" sz="1250" i="1" dirty="0">
                <a:solidFill>
                  <a:srgbClr val="1E293B"/>
                </a:solidFill>
                <a:latin typeface="Calibri" panose="020F0502020204030204" pitchFamily="34" charset="0"/>
                <a:ea typeface="Calibri" panose="020F0502020204030204" pitchFamily="34" charset="-122"/>
                <a:cs typeface="Calibri" panose="020F0502020204030204" pitchFamily="34" charset="-120"/>
              </a:rPr>
              <a:t>En environnement urbain dense :</a:t>
            </a:r>
            <a:endParaRPr lang="en-US" sz="1250" dirty="0"/>
          </a:p>
        </p:txBody>
      </p:sp>
      <p:sp>
        <p:nvSpPr>
          <p:cNvPr id="7" name="Text 4"/>
          <p:cNvSpPr/>
          <p:nvPr/>
        </p:nvSpPr>
        <p:spPr>
          <a:xfrm>
            <a:off x="914400" y="2697480"/>
            <a:ext cx="4724248" cy="3291840"/>
          </a:xfrm>
          <a:prstGeom prst="rect">
            <a:avLst/>
          </a:prstGeom>
          <a:noFill/>
        </p:spPr>
        <p:txBody>
          <a:bodyPr wrap="square" lIns="0" tIns="0" rIns="0" bIns="0" rtlCol="0" anchor="ctr"/>
          <a:lstStyle/>
          <a:p>
            <a:pPr marL="0" indent="0">
              <a:spcAft>
                <a:spcPts val="1200"/>
              </a:spcAft>
              <a:buSzPct val="100000"/>
              <a:buNone/>
            </a:pPr>
            <a:r>
              <a:rPr lang="en-US" altLang="fr-CA" sz="1600" b="0" dirty="0">
                <a:solidFill>
                  <a:srgbClr val="1E293B"/>
                </a:solidFill>
                <a:latin typeface="Calibri" panose="020F0502020204030204" pitchFamily="34" charset="0"/>
                <a:ea typeface="Calibri" panose="020F0502020204030204" pitchFamily="34" charset="-122"/>
                <a:cs typeface="Calibri" panose="020F0502020204030204" pitchFamily="34" charset="-120"/>
              </a:rPr>
              <a:t>D</a:t>
            </a:r>
            <a:r>
              <a:rPr lang="en-US" altLang="en-US" sz="1600" dirty="0">
                <a:solidFill>
                  <a:srgbClr val="1E293B"/>
                </a:solidFill>
                <a:latin typeface="Calibri" panose="020F0502020204030204" pitchFamily="34" charset="0"/>
                <a:ea typeface="Calibri" panose="020F0502020204030204" pitchFamily="34" charset="-122"/>
                <a:cs typeface="Calibri" panose="020F0502020204030204" pitchFamily="34" charset="-120"/>
              </a:rPr>
              <a:t>é</a:t>
            </a:r>
            <a:r>
              <a:rPr lang="en-US" altLang="fr-CA" sz="1600" b="0" dirty="0">
                <a:solidFill>
                  <a:srgbClr val="1E293B"/>
                </a:solidFill>
                <a:latin typeface="Calibri" panose="020F0502020204030204" pitchFamily="34" charset="0"/>
                <a:ea typeface="Calibri" panose="020F0502020204030204" pitchFamily="34" charset="-122"/>
                <a:cs typeface="Calibri" panose="020F0502020204030204" pitchFamily="34" charset="-120"/>
              </a:rPr>
              <a:t>ploiement r</a:t>
            </a:r>
            <a:r>
              <a:rPr lang="en-US" altLang="en-US" sz="1600" dirty="0">
                <a:solidFill>
                  <a:srgbClr val="1E293B"/>
                </a:solidFill>
                <a:latin typeface="Calibri" panose="020F0502020204030204" pitchFamily="34" charset="0"/>
                <a:ea typeface="Calibri" panose="020F0502020204030204" pitchFamily="34" charset="-122"/>
                <a:cs typeface="Calibri" panose="020F0502020204030204" pitchFamily="34" charset="-120"/>
              </a:rPr>
              <a:t>é</a:t>
            </a:r>
            <a:r>
              <a:rPr lang="en-US" altLang="fr-CA" sz="1600" b="0" dirty="0">
                <a:solidFill>
                  <a:srgbClr val="1E293B"/>
                </a:solidFill>
                <a:latin typeface="Calibri" panose="020F0502020204030204" pitchFamily="34" charset="0"/>
                <a:ea typeface="Calibri" panose="020F0502020204030204" pitchFamily="34" charset="-122"/>
                <a:cs typeface="Calibri" panose="020F0502020204030204" pitchFamily="34" charset="-120"/>
              </a:rPr>
              <a:t>cent de la technologie 5G par Mobilis.</a:t>
            </a:r>
            <a:endParaRPr lang="en-US" altLang="fr-CA" sz="1600" dirty="0">
              <a:solidFill>
                <a:srgbClr val="1E293B"/>
              </a:solidFill>
            </a:endParaRPr>
          </a:p>
          <a:p>
            <a:pPr marL="0" indent="0">
              <a:spcAft>
                <a:spcPts val="1200"/>
              </a:spcAft>
              <a:buSzPct val="100000"/>
              <a:buNone/>
            </a:pPr>
            <a:endParaRPr lang="en-US" altLang="fr-CA" sz="1600" dirty="0">
              <a:solidFill>
                <a:srgbClr val="1E293B"/>
              </a:solidFill>
            </a:endParaRPr>
          </a:p>
          <a:p>
            <a:pPr marL="0" indent="0">
              <a:spcAft>
                <a:spcPts val="1200"/>
              </a:spcAft>
              <a:buSzPct val="100000"/>
              <a:buNone/>
            </a:pPr>
            <a:r>
              <a:rPr lang="en-US" altLang="fr-CA" sz="1600" b="0" dirty="0">
                <a:solidFill>
                  <a:srgbClr val="1E293B"/>
                </a:solidFill>
                <a:latin typeface="Calibri" panose="020F0502020204030204" pitchFamily="34" charset="0"/>
                <a:ea typeface="Calibri" panose="020F0502020204030204" pitchFamily="34" charset="-122"/>
                <a:cs typeface="Calibri" panose="020F0502020204030204" pitchFamily="34" charset="-120"/>
              </a:rPr>
              <a:t>N</a:t>
            </a:r>
            <a:r>
              <a:rPr lang="en-US" altLang="en-US" sz="1600" dirty="0">
                <a:solidFill>
                  <a:srgbClr val="1E293B"/>
                </a:solidFill>
                <a:latin typeface="Calibri" panose="020F0502020204030204" pitchFamily="34" charset="0"/>
                <a:ea typeface="Calibri" panose="020F0502020204030204" pitchFamily="34" charset="-122"/>
                <a:cs typeface="Calibri" panose="020F0502020204030204" pitchFamily="34" charset="-120"/>
              </a:rPr>
              <a:t>é</a:t>
            </a:r>
            <a:r>
              <a:rPr lang="en-US" altLang="fr-CA" sz="1600" b="0" dirty="0">
                <a:solidFill>
                  <a:srgbClr val="1E293B"/>
                </a:solidFill>
                <a:latin typeface="Calibri" panose="020F0502020204030204" pitchFamily="34" charset="0"/>
                <a:ea typeface="Calibri" panose="020F0502020204030204" pitchFamily="34" charset="-122"/>
                <a:cs typeface="Calibri" panose="020F0502020204030204" pitchFamily="34" charset="-120"/>
              </a:rPr>
              <a:t>cessit</a:t>
            </a:r>
            <a:r>
              <a:rPr lang="en-US" altLang="en-US" sz="1600" dirty="0">
                <a:solidFill>
                  <a:srgbClr val="1E293B"/>
                </a:solidFill>
                <a:latin typeface="Calibri" panose="020F0502020204030204" pitchFamily="34" charset="0"/>
                <a:ea typeface="Calibri" panose="020F0502020204030204" pitchFamily="34" charset="-122"/>
                <a:cs typeface="Calibri" panose="020F0502020204030204" pitchFamily="34" charset="-120"/>
              </a:rPr>
              <a:t>é</a:t>
            </a:r>
            <a:r>
              <a:rPr lang="en-US" altLang="fr-CA" sz="1600" b="0" dirty="0">
                <a:solidFill>
                  <a:srgbClr val="1E293B"/>
                </a:solidFill>
                <a:latin typeface="Calibri" panose="020F0502020204030204" pitchFamily="34" charset="0"/>
                <a:ea typeface="Calibri" panose="020F0502020204030204" pitchFamily="34" charset="-122"/>
                <a:cs typeface="Calibri" panose="020F0502020204030204" pitchFamily="34" charset="-120"/>
              </a:rPr>
              <a:t> absolue d'assurer une couverture et une </a:t>
            </a:r>
            <a:r>
              <a:rPr lang="en-US" altLang="fr-CA" sz="1600" b="0" dirty="0">
                <a:solidFill>
                  <a:schemeClr val="accent5"/>
                </a:solidFill>
                <a:latin typeface="Calibri" panose="020F0502020204030204" pitchFamily="34" charset="0"/>
                <a:ea typeface="Calibri" panose="020F0502020204030204" pitchFamily="34" charset="-122"/>
                <a:cs typeface="Calibri" panose="020F0502020204030204" pitchFamily="34" charset="-120"/>
              </a:rPr>
              <a:t>qualit</a:t>
            </a:r>
            <a:r>
              <a:rPr lang="en-US" altLang="en-US" sz="1600" dirty="0">
                <a:solidFill>
                  <a:schemeClr val="accent5"/>
                </a:solidFill>
                <a:latin typeface="Calibri" panose="020F0502020204030204" pitchFamily="34" charset="0"/>
                <a:ea typeface="Calibri" panose="020F0502020204030204" pitchFamily="34" charset="-122"/>
                <a:cs typeface="Calibri" panose="020F0502020204030204" pitchFamily="34" charset="-120"/>
              </a:rPr>
              <a:t>é</a:t>
            </a:r>
            <a:r>
              <a:rPr lang="en-US" altLang="fr-CA" sz="1600" b="0" dirty="0">
                <a:solidFill>
                  <a:schemeClr val="accent5"/>
                </a:solidFill>
                <a:latin typeface="Calibri" panose="020F0502020204030204" pitchFamily="34" charset="0"/>
                <a:ea typeface="Calibri" panose="020F0502020204030204" pitchFamily="34" charset="-122"/>
                <a:cs typeface="Calibri" panose="020F0502020204030204" pitchFamily="34" charset="-120"/>
              </a:rPr>
              <a:t> de service (QoS)</a:t>
            </a:r>
            <a:r>
              <a:rPr lang="en-US" altLang="fr-CA" sz="1600" b="0" dirty="0">
                <a:solidFill>
                  <a:srgbClr val="1E293B"/>
                </a:solidFill>
                <a:latin typeface="Calibri" panose="020F0502020204030204" pitchFamily="34" charset="0"/>
                <a:ea typeface="Calibri" panose="020F0502020204030204" pitchFamily="34" charset="-122"/>
                <a:cs typeface="Calibri" panose="020F0502020204030204" pitchFamily="34" charset="-120"/>
              </a:rPr>
              <a:t> optimales d</a:t>
            </a:r>
            <a:r>
              <a:rPr lang="en-US" altLang="en-US" sz="1600" dirty="0">
                <a:solidFill>
                  <a:srgbClr val="1E293B"/>
                </a:solidFill>
                <a:latin typeface="Calibri" panose="020F0502020204030204" pitchFamily="34" charset="0"/>
                <a:ea typeface="Calibri" panose="020F0502020204030204" pitchFamily="34" charset="-122"/>
                <a:cs typeface="Calibri" panose="020F0502020204030204" pitchFamily="34" charset="-120"/>
              </a:rPr>
              <a:t>è</a:t>
            </a:r>
            <a:r>
              <a:rPr lang="en-US" altLang="fr-CA" sz="1600" b="0" dirty="0">
                <a:solidFill>
                  <a:srgbClr val="1E293B"/>
                </a:solidFill>
                <a:latin typeface="Calibri" panose="020F0502020204030204" pitchFamily="34" charset="0"/>
                <a:ea typeface="Calibri" panose="020F0502020204030204" pitchFamily="34" charset="-122"/>
                <a:cs typeface="Calibri" panose="020F0502020204030204" pitchFamily="34" charset="-120"/>
              </a:rPr>
              <a:t>s le lancement.</a:t>
            </a:r>
            <a:endParaRPr lang="en-US" altLang="fr-CA" sz="1600" dirty="0">
              <a:solidFill>
                <a:srgbClr val="1E293B"/>
              </a:solidFill>
            </a:endParaRPr>
          </a:p>
          <a:p>
            <a:pPr marL="0" indent="0">
              <a:spcAft>
                <a:spcPts val="1200"/>
              </a:spcAft>
              <a:buSzPct val="100000"/>
              <a:buNone/>
            </a:pPr>
            <a:endParaRPr lang="en-US" altLang="fr-CA" sz="1600" dirty="0">
              <a:solidFill>
                <a:srgbClr val="1E293B"/>
              </a:solidFill>
            </a:endParaRPr>
          </a:p>
          <a:p>
            <a:pPr marL="0" indent="0">
              <a:spcAft>
                <a:spcPts val="1200"/>
              </a:spcAft>
              <a:buNone/>
            </a:pPr>
            <a:r>
              <a:rPr lang="en-US" altLang="fr-CA" sz="1600" b="0" dirty="0">
                <a:solidFill>
                  <a:srgbClr val="1E293B"/>
                </a:solidFill>
                <a:latin typeface="Calibri" panose="020F0502020204030204" pitchFamily="34" charset="0"/>
                <a:ea typeface="Calibri" panose="020F0502020204030204" pitchFamily="34" charset="-122"/>
                <a:cs typeface="Calibri" panose="020F0502020204030204" pitchFamily="34" charset="-120"/>
              </a:rPr>
              <a:t>Importance strat</a:t>
            </a:r>
            <a:r>
              <a:rPr lang="en-US" altLang="en-US" sz="1600" dirty="0">
                <a:solidFill>
                  <a:srgbClr val="1E293B"/>
                </a:solidFill>
                <a:latin typeface="Calibri" panose="020F0502020204030204" pitchFamily="34" charset="0"/>
                <a:ea typeface="Calibri" panose="020F0502020204030204" pitchFamily="34" charset="-122"/>
                <a:cs typeface="Calibri" panose="020F0502020204030204" pitchFamily="34" charset="-120"/>
              </a:rPr>
              <a:t>é</a:t>
            </a:r>
            <a:r>
              <a:rPr lang="en-US" altLang="fr-CA" sz="1600" b="0" dirty="0">
                <a:solidFill>
                  <a:srgbClr val="1E293B"/>
                </a:solidFill>
                <a:latin typeface="Calibri" panose="020F0502020204030204" pitchFamily="34" charset="0"/>
                <a:ea typeface="Calibri" panose="020F0502020204030204" pitchFamily="34" charset="-122"/>
                <a:cs typeface="Calibri" panose="020F0502020204030204" pitchFamily="34" charset="-120"/>
              </a:rPr>
              <a:t>gique de disposer de pr</a:t>
            </a:r>
            <a:r>
              <a:rPr lang="en-US" altLang="en-US" sz="1600" dirty="0">
                <a:solidFill>
                  <a:srgbClr val="1E293B"/>
                </a:solidFill>
                <a:latin typeface="Calibri" panose="020F0502020204030204" pitchFamily="34" charset="0"/>
                <a:ea typeface="Calibri" panose="020F0502020204030204" pitchFamily="34" charset="-122"/>
                <a:cs typeface="Calibri" panose="020F0502020204030204" pitchFamily="34" charset="-120"/>
              </a:rPr>
              <a:t>é</a:t>
            </a:r>
            <a:r>
              <a:rPr lang="en-US" altLang="fr-CA" sz="1600" b="0" dirty="0">
                <a:solidFill>
                  <a:srgbClr val="1E293B"/>
                </a:solidFill>
                <a:latin typeface="Calibri" panose="020F0502020204030204" pitchFamily="34" charset="0"/>
                <a:ea typeface="Calibri" panose="020F0502020204030204" pitchFamily="34" charset="-122"/>
                <a:cs typeface="Calibri" panose="020F0502020204030204" pitchFamily="34" charset="-120"/>
              </a:rPr>
              <a:t>dictions radio fiables pour dimensionner le r</a:t>
            </a:r>
            <a:r>
              <a:rPr lang="en-US" altLang="en-US" sz="1600" dirty="0">
                <a:solidFill>
                  <a:srgbClr val="1E293B"/>
                </a:solidFill>
                <a:latin typeface="Calibri" panose="020F0502020204030204" pitchFamily="34" charset="0"/>
                <a:ea typeface="Calibri" panose="020F0502020204030204" pitchFamily="34" charset="-122"/>
                <a:cs typeface="Calibri" panose="020F0502020204030204" pitchFamily="34" charset="-120"/>
              </a:rPr>
              <a:t>é</a:t>
            </a:r>
            <a:r>
              <a:rPr lang="en-US" altLang="fr-CA" sz="1600" b="0" dirty="0">
                <a:solidFill>
                  <a:srgbClr val="1E293B"/>
                </a:solidFill>
                <a:latin typeface="Calibri" panose="020F0502020204030204" pitchFamily="34" charset="0"/>
                <a:ea typeface="Calibri" panose="020F0502020204030204" pitchFamily="34" charset="-122"/>
                <a:cs typeface="Calibri" panose="020F0502020204030204" pitchFamily="34" charset="-120"/>
              </a:rPr>
              <a:t>seau.</a:t>
            </a:r>
            <a:endParaRPr lang="en-US" altLang="fr-CA" sz="1600" dirty="0">
              <a:solidFill>
                <a:srgbClr val="1E293B"/>
              </a:solidFill>
            </a:endParaRPr>
          </a:p>
        </p:txBody>
      </p:sp>
      <p:sp>
        <p:nvSpPr>
          <p:cNvPr id="8" name="Shape 5"/>
          <p:cNvSpPr/>
          <p:nvPr/>
        </p:nvSpPr>
        <p:spPr>
          <a:xfrm>
            <a:off x="6278728" y="1554480"/>
            <a:ext cx="5364328" cy="4663440"/>
          </a:xfrm>
          <a:prstGeom prst="roundRect">
            <a:avLst>
              <a:gd name="adj" fmla="val 1373"/>
            </a:avLst>
          </a:prstGeom>
          <a:solidFill>
            <a:srgbClr val="F0F4F8"/>
          </a:solidFill>
          <a:ln w="12700">
            <a:solidFill>
              <a:srgbClr val="DBEAFE"/>
            </a:solidFill>
            <a:prstDash val="solid"/>
          </a:ln>
        </p:spPr>
      </p:sp>
      <p:sp>
        <p:nvSpPr>
          <p:cNvPr id="10" name="Text 6"/>
          <p:cNvSpPr/>
          <p:nvPr/>
        </p:nvSpPr>
        <p:spPr>
          <a:xfrm>
            <a:off x="7010248" y="1783080"/>
            <a:ext cx="4449928" cy="411480"/>
          </a:xfrm>
          <a:prstGeom prst="rect">
            <a:avLst/>
          </a:prstGeom>
          <a:noFill/>
        </p:spPr>
        <p:txBody>
          <a:bodyPr wrap="square" lIns="0" tIns="0" rIns="0" bIns="0" rtlCol="0" anchor="ctr"/>
          <a:lstStyle/>
          <a:p>
            <a:pPr marL="0" indent="0">
              <a:buNone/>
            </a:pPr>
            <a:r>
              <a:rPr lang="fr-FR" altLang="en-US" sz="1700" dirty="0">
                <a:solidFill>
                  <a:srgbClr val="FF0000"/>
                </a:solidFill>
                <a:latin typeface="Calibri" panose="020F0502020204030204" pitchFamily="34" charset="0"/>
                <a:ea typeface="Calibri" panose="020F0502020204030204" pitchFamily="34" charset="-122"/>
                <a:cs typeface="Calibri" panose="020F0502020204030204" pitchFamily="34" charset="-120"/>
              </a:rPr>
              <a:t>P</a:t>
            </a:r>
            <a:r>
              <a:rPr lang="en-US" altLang="fr-CA" sz="1700" dirty="0">
                <a:solidFill>
                  <a:srgbClr val="FF0000"/>
                </a:solidFill>
                <a:latin typeface="Calibri" panose="020F0502020204030204" pitchFamily="34" charset="0"/>
                <a:ea typeface="Calibri" panose="020F0502020204030204" pitchFamily="34" charset="-122"/>
                <a:cs typeface="Calibri" panose="020F0502020204030204" pitchFamily="34" charset="-120"/>
              </a:rPr>
              <a:t>robl</a:t>
            </a:r>
            <a:r>
              <a:rPr lang="en-US" altLang="en-US" sz="1700" dirty="0">
                <a:solidFill>
                  <a:srgbClr val="FF0000"/>
                </a:solidFill>
                <a:latin typeface="Calibri" panose="020F0502020204030204" pitchFamily="34" charset="0"/>
                <a:ea typeface="Calibri" panose="020F0502020204030204" pitchFamily="34" charset="-122"/>
                <a:cs typeface="Calibri" panose="020F0502020204030204" pitchFamily="34" charset="-120"/>
              </a:rPr>
              <a:t>é</a:t>
            </a:r>
            <a:r>
              <a:rPr lang="en-US" altLang="fr-CA" sz="1700" dirty="0">
                <a:solidFill>
                  <a:srgbClr val="FF0000"/>
                </a:solidFill>
                <a:latin typeface="Calibri" panose="020F0502020204030204" pitchFamily="34" charset="0"/>
                <a:ea typeface="Calibri" panose="020F0502020204030204" pitchFamily="34" charset="-122"/>
                <a:cs typeface="Calibri" panose="020F0502020204030204" pitchFamily="34" charset="-120"/>
              </a:rPr>
              <a:t>matique</a:t>
            </a:r>
            <a:endParaRPr lang="en-US" altLang="fr-CA" sz="1700" dirty="0">
              <a:solidFill>
                <a:srgbClr val="FF0000"/>
              </a:solidFill>
            </a:endParaRPr>
          </a:p>
        </p:txBody>
      </p:sp>
      <p:sp>
        <p:nvSpPr>
          <p:cNvPr id="11" name="Text 7"/>
          <p:cNvSpPr/>
          <p:nvPr/>
        </p:nvSpPr>
        <p:spPr>
          <a:xfrm>
            <a:off x="6644488" y="2331720"/>
            <a:ext cx="4724248" cy="3657600"/>
          </a:xfrm>
          <a:prstGeom prst="rect">
            <a:avLst/>
          </a:prstGeom>
          <a:noFill/>
        </p:spPr>
        <p:txBody>
          <a:bodyPr wrap="square" lIns="0" tIns="0" rIns="0" bIns="0" rtlCol="0" anchor="ctr"/>
          <a:lstStyle/>
          <a:p>
            <a:pPr marL="0" indent="0" algn="ctr">
              <a:spcAft>
                <a:spcPts val="1200"/>
              </a:spcAft>
              <a:buSzPct val="100000"/>
              <a:buNone/>
            </a:pPr>
            <a:r>
              <a:rPr lang="en-US" altLang="fr-CA" sz="2000" dirty="0">
                <a:solidFill>
                  <a:srgbClr val="1E293B"/>
                </a:solidFill>
                <a:latin typeface="Calibri" panose="020F0502020204030204" pitchFamily="34" charset="0"/>
                <a:ea typeface="Calibri" panose="020F0502020204030204" pitchFamily="34" charset="-122"/>
                <a:cs typeface="Calibri" panose="020F0502020204030204" pitchFamily="34" charset="-120"/>
              </a:rPr>
              <a:t>Comment </a:t>
            </a:r>
            <a:r>
              <a:rPr lang="en-US" altLang="en-US" sz="2000" dirty="0">
                <a:solidFill>
                  <a:srgbClr val="1E293B"/>
                </a:solidFill>
                <a:latin typeface="Calibri" panose="020F0502020204030204" pitchFamily="34" charset="0"/>
                <a:ea typeface="Calibri" panose="020F0502020204030204" pitchFamily="34" charset="-122"/>
                <a:cs typeface="Calibri" panose="020F0502020204030204" pitchFamily="34" charset="-120"/>
              </a:rPr>
              <a:t>é</a:t>
            </a:r>
            <a:r>
              <a:rPr lang="en-US" altLang="fr-CA" sz="2000" dirty="0">
                <a:solidFill>
                  <a:srgbClr val="1E293B"/>
                </a:solidFill>
                <a:latin typeface="Calibri" panose="020F0502020204030204" pitchFamily="34" charset="0"/>
                <a:ea typeface="Calibri" panose="020F0502020204030204" pitchFamily="34" charset="-122"/>
                <a:cs typeface="Calibri" panose="020F0502020204030204" pitchFamily="34" charset="-120"/>
              </a:rPr>
              <a:t>valuer et optimiser efficacement les performances du r</a:t>
            </a:r>
            <a:r>
              <a:rPr lang="en-US" altLang="en-US" sz="2000" dirty="0">
                <a:solidFill>
                  <a:srgbClr val="1E293B"/>
                </a:solidFill>
                <a:latin typeface="Calibri" panose="020F0502020204030204" pitchFamily="34" charset="0"/>
                <a:ea typeface="Calibri" panose="020F0502020204030204" pitchFamily="34" charset="-122"/>
                <a:cs typeface="Calibri" panose="020F0502020204030204" pitchFamily="34" charset="-120"/>
              </a:rPr>
              <a:t>é</a:t>
            </a:r>
            <a:r>
              <a:rPr lang="en-US" altLang="fr-CA" sz="2000" dirty="0">
                <a:solidFill>
                  <a:srgbClr val="1E293B"/>
                </a:solidFill>
                <a:latin typeface="Calibri" panose="020F0502020204030204" pitchFamily="34" charset="0"/>
                <a:ea typeface="Calibri" panose="020F0502020204030204" pitchFamily="34" charset="-122"/>
                <a:cs typeface="Calibri" panose="020F0502020204030204" pitchFamily="34" charset="-120"/>
              </a:rPr>
              <a:t>seau 5G Mobilis afin d'obtenir une couverture r</a:t>
            </a:r>
            <a:r>
              <a:rPr lang="en-US" altLang="en-US" sz="2000" dirty="0">
                <a:solidFill>
                  <a:srgbClr val="1E293B"/>
                </a:solidFill>
                <a:latin typeface="Calibri" panose="020F0502020204030204" pitchFamily="34" charset="0"/>
                <a:ea typeface="Calibri" panose="020F0502020204030204" pitchFamily="34" charset="-122"/>
                <a:cs typeface="Calibri" panose="020F0502020204030204" pitchFamily="34" charset="-120"/>
              </a:rPr>
              <a:t>é</a:t>
            </a:r>
            <a:r>
              <a:rPr lang="en-US" altLang="fr-CA" sz="2000" dirty="0">
                <a:solidFill>
                  <a:srgbClr val="1E293B"/>
                </a:solidFill>
                <a:latin typeface="Calibri" panose="020F0502020204030204" pitchFamily="34" charset="0"/>
                <a:ea typeface="Calibri" panose="020F0502020204030204" pitchFamily="34" charset="-122"/>
                <a:cs typeface="Calibri" panose="020F0502020204030204" pitchFamily="34" charset="-120"/>
              </a:rPr>
              <a:t>aliste et une meilleure qualit</a:t>
            </a:r>
            <a:r>
              <a:rPr lang="en-US" altLang="en-US" sz="2000" dirty="0">
                <a:solidFill>
                  <a:srgbClr val="1E293B"/>
                </a:solidFill>
                <a:latin typeface="Calibri" panose="020F0502020204030204" pitchFamily="34" charset="0"/>
                <a:ea typeface="Calibri" panose="020F0502020204030204" pitchFamily="34" charset="-122"/>
                <a:cs typeface="Calibri" panose="020F0502020204030204" pitchFamily="34" charset="-120"/>
              </a:rPr>
              <a:t>é</a:t>
            </a:r>
            <a:r>
              <a:rPr lang="en-US" altLang="fr-CA" sz="2000" dirty="0">
                <a:solidFill>
                  <a:srgbClr val="1E293B"/>
                </a:solidFill>
                <a:latin typeface="Calibri" panose="020F0502020204030204" pitchFamily="34" charset="0"/>
                <a:ea typeface="Calibri" panose="020F0502020204030204" pitchFamily="34" charset="-122"/>
                <a:cs typeface="Calibri" panose="020F0502020204030204" pitchFamily="34" charset="-120"/>
              </a:rPr>
              <a:t> d'exp</a:t>
            </a:r>
            <a:r>
              <a:rPr lang="en-US" altLang="en-US" sz="2000" dirty="0">
                <a:solidFill>
                  <a:srgbClr val="1E293B"/>
                </a:solidFill>
                <a:latin typeface="Calibri" panose="020F0502020204030204" pitchFamily="34" charset="0"/>
                <a:ea typeface="Calibri" panose="020F0502020204030204" pitchFamily="34" charset="-122"/>
                <a:cs typeface="Calibri" panose="020F0502020204030204" pitchFamily="34" charset="-120"/>
              </a:rPr>
              <a:t>é</a:t>
            </a:r>
            <a:r>
              <a:rPr lang="en-US" altLang="fr-CA" sz="2000" dirty="0">
                <a:solidFill>
                  <a:srgbClr val="1E293B"/>
                </a:solidFill>
                <a:latin typeface="Calibri" panose="020F0502020204030204" pitchFamily="34" charset="0"/>
                <a:ea typeface="Calibri" panose="020F0502020204030204" pitchFamily="34" charset="-122"/>
                <a:cs typeface="Calibri" panose="020F0502020204030204" pitchFamily="34" charset="-120"/>
              </a:rPr>
              <a:t>rience utilisateur (QoE) à travers la mod</a:t>
            </a:r>
            <a:r>
              <a:rPr lang="en-US" altLang="en-US" sz="2000" dirty="0">
                <a:solidFill>
                  <a:srgbClr val="1E293B"/>
                </a:solidFill>
                <a:latin typeface="Calibri" panose="020F0502020204030204" pitchFamily="34" charset="0"/>
                <a:ea typeface="Calibri" panose="020F0502020204030204" pitchFamily="34" charset="-122"/>
                <a:cs typeface="Calibri" panose="020F0502020204030204" pitchFamily="34" charset="-120"/>
              </a:rPr>
              <a:t>é</a:t>
            </a:r>
            <a:r>
              <a:rPr lang="en-US" altLang="fr-CA" sz="2000" dirty="0">
                <a:solidFill>
                  <a:srgbClr val="1E293B"/>
                </a:solidFill>
                <a:latin typeface="Calibri" panose="020F0502020204030204" pitchFamily="34" charset="0"/>
                <a:ea typeface="Calibri" panose="020F0502020204030204" pitchFamily="34" charset="-122"/>
                <a:cs typeface="Calibri" panose="020F0502020204030204" pitchFamily="34" charset="-120"/>
              </a:rPr>
              <a:t>lisation, la calibration et l'optimisation radio sous Atoll ?</a:t>
            </a:r>
            <a:endParaRPr lang="en-US" altLang="fr-CA" sz="2000" dirty="0">
              <a:solidFill>
                <a:srgbClr val="1E293B"/>
              </a:solidFill>
            </a:endParaRPr>
          </a:p>
        </p:txBody>
      </p:sp>
      <p:sp>
        <p:nvSpPr>
          <p:cNvPr id="12" name="Text 8"/>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475569"/>
                </a:solidFill>
                <a:latin typeface="Calibri" panose="020F0502020204030204" pitchFamily="34" charset="0"/>
                <a:ea typeface="Calibri" panose="020F0502020204030204" pitchFamily="34" charset="-122"/>
                <a:cs typeface="Calibri" panose="020F0502020204030204" pitchFamily="34" charset="-120"/>
              </a:rPr>
              <a:t>3</a:t>
            </a:r>
            <a:endParaRPr lang="en-US" sz="1000" dirty="0"/>
          </a:p>
        </p:txBody>
      </p:sp>
      <p:pic>
        <p:nvPicPr>
          <p:cNvPr id="13" name="Image 12"/>
          <p:cNvPicPr/>
          <p:nvPr/>
        </p:nvPicPr>
        <p:blipFill>
          <a:blip r:embed="rId1"/>
          <a:stretch>
            <a:fillRect/>
          </a:stretch>
        </p:blipFill>
        <p:spPr>
          <a:xfrm>
            <a:off x="868680" y="1828800"/>
            <a:ext cx="315595" cy="303530"/>
          </a:xfrm>
          <a:prstGeom prst="rect">
            <a:avLst/>
          </a:prstGeom>
        </p:spPr>
      </p:pic>
      <p:pic>
        <p:nvPicPr>
          <p:cNvPr id="14" name="Image 13"/>
          <p:cNvPicPr/>
          <p:nvPr/>
        </p:nvPicPr>
        <p:blipFill>
          <a:blip r:embed="rId2"/>
          <a:stretch>
            <a:fillRect/>
          </a:stretch>
        </p:blipFill>
        <p:spPr>
          <a:xfrm>
            <a:off x="6535420" y="1828800"/>
            <a:ext cx="270510" cy="295910"/>
          </a:xfrm>
          <a:prstGeom prst="rect">
            <a:avLst/>
          </a:prstGeom>
        </p:spPr>
      </p:pic>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284C7"/>
                </a:solidFill>
                <a:latin typeface="Calibri" panose="020F0502020204030204" pitchFamily="34" charset="0"/>
                <a:ea typeface="Calibri" panose="020F0502020204030204" pitchFamily="34" charset="-122"/>
                <a:cs typeface="Calibri" panose="020F0502020204030204" pitchFamily="34" charset="-120"/>
              </a:rPr>
              <a:t>Architecture déployée : NSA Option 3x</a:t>
            </a:r>
            <a:endParaRPr lang="en-US" sz="2800" dirty="0"/>
          </a:p>
        </p:txBody>
      </p:sp>
      <p:graphicFrame>
        <p:nvGraphicFramePr>
          <p:cNvPr id="5" name="Table 0"/>
          <p:cNvGraphicFramePr>
            <a:graphicFrameLocks noGrp="1"/>
          </p:cNvGraphicFramePr>
          <p:nvPr/>
        </p:nvGraphicFramePr>
        <p:xfrm>
          <a:off x="1841500" y="1485900"/>
          <a:ext cx="11094415" cy="2468880"/>
        </p:xfrm>
        <a:graphic>
          <a:graphicData uri="http://schemas.openxmlformats.org/drawingml/2006/table">
            <a:tbl>
              <a:tblPr/>
              <a:tblGrid>
                <a:gridCol w="2834640"/>
                <a:gridCol w="2753258"/>
                <a:gridCol w="2753258"/>
              </a:tblGrid>
              <a:tr h="493776">
                <a:tc>
                  <a:txBody>
                    <a:bodyPr/>
                    <a:lstStyle/>
                    <a:p>
                      <a:pPr marL="0" indent="0" algn="l">
                        <a:buNone/>
                      </a:pPr>
                      <a:r>
                        <a:rPr lang="en-US" sz="1250" b="1" dirty="0">
                          <a:solidFill>
                            <a:srgbClr val="0284C7"/>
                          </a:solidFill>
                          <a:latin typeface="Calibri" panose="020F0502020204030204" pitchFamily="34" charset="0"/>
                          <a:ea typeface="Calibri" panose="020F0502020204030204" pitchFamily="34" charset="-122"/>
                          <a:cs typeface="Calibri" panose="020F0502020204030204" pitchFamily="34" charset="-120"/>
                        </a:rPr>
                        <a:t>Caractéristique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lgn="l">
                        <a:buNone/>
                      </a:pPr>
                      <a:r>
                        <a:rPr lang="en-US" sz="1250" b="1" dirty="0">
                          <a:solidFill>
                            <a:srgbClr val="0284C7"/>
                          </a:solidFill>
                          <a:latin typeface="Calibri" panose="020F0502020204030204" pitchFamily="34" charset="0"/>
                          <a:ea typeface="Calibri" panose="020F0502020204030204" pitchFamily="34" charset="-122"/>
                          <a:cs typeface="Calibri" panose="020F0502020204030204" pitchFamily="34" charset="-120"/>
                        </a:rPr>
                        <a:t>NSA (Option 3)</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lgn="l">
                        <a:buNone/>
                      </a:pPr>
                      <a:r>
                        <a:rPr lang="en-US" sz="1250" b="1" dirty="0">
                          <a:solidFill>
                            <a:srgbClr val="0284C7"/>
                          </a:solidFill>
                          <a:latin typeface="Calibri" panose="020F0502020204030204" pitchFamily="34" charset="0"/>
                          <a:ea typeface="Calibri" panose="020F0502020204030204" pitchFamily="34" charset="-122"/>
                          <a:cs typeface="Calibri" panose="020F0502020204030204" pitchFamily="34" charset="-120"/>
                        </a:rPr>
                        <a:t>NSA (Option 3x) - Mobilis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chemeClr val="accent1">
                        <a:lumMod val="40000"/>
                        <a:lumOff val="60000"/>
                      </a:schemeClr>
                    </a:solidFill>
                  </a:tcPr>
                </a:tc>
              </a:tr>
              <a:tr h="493776">
                <a:tc>
                  <a:txBody>
                    <a:bodyPr/>
                    <a:lstStyle/>
                    <a:p>
                      <a:pPr marL="0" indent="0" algn="l">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Cœur de réseau</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lgn="l">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EPC (4G)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lgn="l">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EPC (4G)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chemeClr val="accent1">
                        <a:lumMod val="40000"/>
                        <a:lumOff val="60000"/>
                      </a:schemeClr>
                    </a:solidFill>
                  </a:tcPr>
                </a:tc>
              </a:tr>
              <a:tr h="493776">
                <a:tc>
                  <a:txBody>
                    <a:bodyPr/>
                    <a:lstStyle/>
                    <a:p>
                      <a:pPr marL="0" indent="0" algn="l">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Nœud Maître (Contrôle)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lgn="l">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eNB (LTE)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lgn="l">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eNB (LTE)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chemeClr val="accent1">
                        <a:lumMod val="40000"/>
                        <a:lumOff val="60000"/>
                      </a:schemeClr>
                    </a:solidFill>
                  </a:tcPr>
                </a:tc>
              </a:tr>
              <a:tr h="493776">
                <a:tc>
                  <a:txBody>
                    <a:bodyPr/>
                    <a:lstStyle/>
                    <a:p>
                      <a:pPr marL="0" indent="0" algn="l">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Routage Données (User Plane)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lgn="l">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Via eNB vers EPC</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lgn="l">
                        <a:buNone/>
                      </a:pPr>
                      <a:r>
                        <a:rPr lang="en-US" sz="1250" b="1" dirty="0">
                          <a:solidFill>
                            <a:srgbClr val="0284C7"/>
                          </a:solidFill>
                          <a:latin typeface="Calibri" panose="020F0502020204030204" pitchFamily="34" charset="0"/>
                          <a:ea typeface="Calibri" panose="020F0502020204030204" pitchFamily="34" charset="-122"/>
                          <a:cs typeface="Calibri" panose="020F0502020204030204" pitchFamily="34" charset="-120"/>
                        </a:rPr>
                        <a:t>Via gNB vers EPC (Split Bearer)</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chemeClr val="accent1">
                        <a:lumMod val="40000"/>
                        <a:lumOff val="60000"/>
                      </a:schemeClr>
                    </a:solidFill>
                  </a:tcPr>
                </a:tc>
              </a:tr>
              <a:tr h="493776">
                <a:tc>
                  <a:txBody>
                    <a:bodyPr/>
                    <a:lstStyle/>
                    <a:p>
                      <a:pPr marL="0" indent="0" algn="l">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Network Slicing</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lgn="l">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Non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lgn="l">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Non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chemeClr val="accent1">
                        <a:lumMod val="40000"/>
                        <a:lumOff val="60000"/>
                      </a:schemeClr>
                    </a:solidFill>
                  </a:tcPr>
                </a:tc>
              </a:tr>
            </a:tbl>
          </a:graphicData>
        </a:graphic>
      </p:graphicFrame>
      <p:sp>
        <p:nvSpPr>
          <p:cNvPr id="4" name="Shape 1"/>
          <p:cNvSpPr/>
          <p:nvPr/>
        </p:nvSpPr>
        <p:spPr>
          <a:xfrm>
            <a:off x="548640" y="4251960"/>
            <a:ext cx="11094415" cy="1371600"/>
          </a:xfrm>
          <a:prstGeom prst="roundRect">
            <a:avLst>
              <a:gd name="adj" fmla="val 4667"/>
            </a:avLst>
          </a:prstGeom>
          <a:solidFill>
            <a:srgbClr val="F0F4F8"/>
          </a:solidFill>
          <a:ln w="12700">
            <a:solidFill>
              <a:srgbClr val="DBEAFE"/>
            </a:solidFill>
            <a:prstDash val="solid"/>
          </a:ln>
        </p:spPr>
      </p:sp>
      <p:sp>
        <p:nvSpPr>
          <p:cNvPr id="3" name="Text 2"/>
          <p:cNvSpPr/>
          <p:nvPr/>
        </p:nvSpPr>
        <p:spPr>
          <a:xfrm>
            <a:off x="868680" y="4434840"/>
            <a:ext cx="10454335" cy="1051560"/>
          </a:xfrm>
          <a:prstGeom prst="rect">
            <a:avLst/>
          </a:prstGeom>
          <a:noFill/>
        </p:spPr>
        <p:txBody>
          <a:bodyPr wrap="square" lIns="0" tIns="0" rIns="0" bIns="0" rtlCol="0" anchor="ctr"/>
          <a:lstStyle/>
          <a:p>
            <a:pPr marL="0" indent="0">
              <a:buNone/>
            </a:pPr>
            <a:r>
              <a:rPr lang="en-US" sz="1300" b="1" dirty="0">
                <a:solidFill>
                  <a:srgbClr val="0284C7"/>
                </a:solidFill>
                <a:latin typeface="Calibri" panose="020F0502020204030204" pitchFamily="34" charset="0"/>
                <a:ea typeface="Calibri" panose="020F0502020204030204" pitchFamily="34" charset="-122"/>
                <a:cs typeface="Calibri" panose="020F0502020204030204" pitchFamily="34" charset="-120"/>
              </a:rPr>
              <a:t>L'avantage du Split Bearer : </a:t>
            </a:r>
            <a:r>
              <a:rPr lang="en-US" sz="1300" dirty="0">
                <a:solidFill>
                  <a:srgbClr val="0F172A"/>
                </a:solidFill>
                <a:latin typeface="Calibri" panose="020F0502020204030204" pitchFamily="34" charset="0"/>
                <a:ea typeface="Calibri" panose="020F0502020204030204" pitchFamily="34" charset="-122"/>
                <a:cs typeface="Calibri" panose="020F0502020204030204" pitchFamily="34" charset="-120"/>
              </a:rPr>
              <a:t>Contrairement à l'Option 3 où l'eNB sature sous le flux, l'Option 3x permet au gNB 5G d'acheminer les données utilisateur directement au cœur EPC. Cela évite le goulot d'étranglement de l'interface X2 tout en conservant l'infrastructure 4G pour la signalisation.</a:t>
            </a:r>
            <a:endParaRPr lang="en-US" sz="1300" dirty="0"/>
          </a:p>
        </p:txBody>
      </p:sp>
      <p:sp>
        <p:nvSpPr>
          <p:cNvPr id="6" name="Text 3"/>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4</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Massive MIMO &amp; Beamforming</a:t>
            </a:r>
            <a:endParaRPr lang="en-US" sz="2800" dirty="0"/>
          </a:p>
        </p:txBody>
      </p:sp>
      <p:graphicFrame>
        <p:nvGraphicFramePr>
          <p:cNvPr id="6" name="Table 0"/>
          <p:cNvGraphicFramePr>
            <a:graphicFrameLocks noGrp="1"/>
          </p:cNvGraphicFramePr>
          <p:nvPr/>
        </p:nvGraphicFramePr>
        <p:xfrm>
          <a:off x="548640" y="1554480"/>
          <a:ext cx="6035040" cy="3749040"/>
        </p:xfrm>
        <a:graphic>
          <a:graphicData uri="http://schemas.openxmlformats.org/drawingml/2006/table">
            <a:tbl>
              <a:tblPr/>
              <a:tblGrid>
                <a:gridCol w="1554480"/>
                <a:gridCol w="4480560"/>
              </a:tblGrid>
              <a:tr h="548640">
                <a:tc>
                  <a:txBody>
                    <a:bodyPr/>
                    <a:lstStyle/>
                    <a:p>
                      <a:pPr marL="0" indent="0">
                        <a:buNone/>
                      </a:pPr>
                      <a:r>
                        <a:rPr lang="en-US" sz="1200" b="1" dirty="0">
                          <a:solidFill>
                            <a:srgbClr val="0284C7"/>
                          </a:solidFill>
                          <a:latin typeface="Calibri" panose="020F0502020204030204" pitchFamily="34" charset="0"/>
                          <a:ea typeface="Calibri" panose="020F0502020204030204" pitchFamily="34" charset="-122"/>
                          <a:cs typeface="Calibri" panose="020F0502020204030204" pitchFamily="34" charset="-120"/>
                        </a:rPr>
                        <a:t>Type de Beamforming</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200" b="1" dirty="0">
                          <a:solidFill>
                            <a:srgbClr val="0284C7"/>
                          </a:solidFill>
                          <a:latin typeface="Calibri" panose="020F0502020204030204" pitchFamily="34" charset="0"/>
                          <a:ea typeface="Calibri" panose="020F0502020204030204" pitchFamily="34" charset="-122"/>
                          <a:cs typeface="Calibri" panose="020F0502020204030204" pitchFamily="34" charset="-120"/>
                        </a:rPr>
                        <a:t>Caractéristiques Techniques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r>
              <a:tr h="1005840">
                <a:tc>
                  <a:txBody>
                    <a:bodyPr/>
                    <a:lstStyle/>
                    <a:p>
                      <a:pPr marL="0" indent="0">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Analogique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Déphasage matériel. Un seul faisceau à la fois. Essentiel pour les bandes mmWave (FR2).</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1005840">
                <a:tc>
                  <a:txBody>
                    <a:bodyPr/>
                    <a:lstStyle/>
                    <a:p>
                      <a:pPr marL="0" indent="0">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Numérique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Traitement par DSP. Multi-faisceaux simultanés. Très coûteux en chaînes RF et énergie.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1188720">
                <a:tc>
                  <a:txBody>
                    <a:bodyPr/>
                    <a:lstStyle/>
                    <a:p>
                      <a:pPr marL="0" indent="0">
                        <a:buNone/>
                      </a:pPr>
                      <a:r>
                        <a:rPr lang="en-US" sz="1200" b="1" dirty="0">
                          <a:solidFill>
                            <a:srgbClr val="0284C7"/>
                          </a:solidFill>
                          <a:latin typeface="Calibri" panose="020F0502020204030204" pitchFamily="34" charset="0"/>
                          <a:ea typeface="Calibri" panose="020F0502020204030204" pitchFamily="34" charset="-122"/>
                          <a:cs typeface="Calibri" panose="020F0502020204030204" pitchFamily="34" charset="-120"/>
                        </a:rPr>
                        <a:t>Hybride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200" dirty="0">
                          <a:solidFill>
                            <a:srgbClr val="0F172A"/>
                          </a:solidFill>
                          <a:latin typeface="Calibri" panose="020F0502020204030204" pitchFamily="34" charset="0"/>
                          <a:ea typeface="Calibri" panose="020F0502020204030204" pitchFamily="34" charset="-122"/>
                          <a:cs typeface="Calibri" panose="020F0502020204030204" pitchFamily="34" charset="-120"/>
                        </a:rPr>
                        <a:t>Standard actuel (Sub-6GHz). Regroupement en sous-réseaux pour réduire le coût matériel tout en formant de multiples faisceaux.</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r>
            </a:tbl>
          </a:graphicData>
        </a:graphic>
      </p:graphicFrame>
      <p:sp>
        <p:nvSpPr>
          <p:cNvPr id="4" name="Text 1"/>
          <p:cNvSpPr/>
          <p:nvPr/>
        </p:nvSpPr>
        <p:spPr>
          <a:xfrm>
            <a:off x="6949440" y="1554480"/>
            <a:ext cx="4693615" cy="365760"/>
          </a:xfrm>
          <a:prstGeom prst="rect">
            <a:avLst/>
          </a:prstGeom>
          <a:noFill/>
        </p:spPr>
        <p:txBody>
          <a:bodyPr wrap="square" lIns="0" tIns="0" rIns="0" bIns="0" rtlCol="0" anchor="ctr"/>
          <a:lstStyle/>
          <a:p>
            <a:pPr marL="0" indent="0" algn="ctr">
              <a:buNone/>
            </a:pPr>
            <a:r>
              <a:rPr lang="en-US" sz="1700" b="1" dirty="0">
                <a:solidFill>
                  <a:srgbClr val="0F172A"/>
                </a:solidFill>
                <a:latin typeface="Calibri" panose="020F0502020204030204" pitchFamily="34" charset="0"/>
                <a:ea typeface="Calibri" panose="020F0502020204030204" pitchFamily="34" charset="-122"/>
                <a:cs typeface="Calibri" panose="020F0502020204030204" pitchFamily="34" charset="-120"/>
              </a:rPr>
              <a:t>Capacité de Shannon</a:t>
            </a:r>
            <a:endParaRPr lang="en-US" sz="1700" dirty="0"/>
          </a:p>
        </p:txBody>
      </p:sp>
      <p:sp>
        <p:nvSpPr>
          <p:cNvPr id="5" name="Text 2"/>
          <p:cNvSpPr/>
          <p:nvPr/>
        </p:nvSpPr>
        <p:spPr>
          <a:xfrm>
            <a:off x="6949440" y="1965960"/>
            <a:ext cx="4693615" cy="822960"/>
          </a:xfrm>
          <a:prstGeom prst="rect">
            <a:avLst/>
          </a:prstGeom>
          <a:noFill/>
        </p:spPr>
        <p:txBody>
          <a:bodyPr wrap="square" lIns="0" tIns="0" rIns="0" bIns="0" rtlCol="0" anchor="ctr"/>
          <a:lstStyle/>
          <a:p>
            <a:pPr marL="0" indent="0" algn="ctr">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Le Beamforming focalise l'énergie rayonnée directement vers l'utilisateur, réduisant la dispersion. Cela augmente radicalement le SINR.</a:t>
            </a:r>
            <a:endParaRPr lang="en-US" sz="1250" dirty="0"/>
          </a:p>
        </p:txBody>
      </p:sp>
      <p:sp>
        <p:nvSpPr>
          <p:cNvPr id="3" name="Shape 3"/>
          <p:cNvSpPr/>
          <p:nvPr/>
        </p:nvSpPr>
        <p:spPr>
          <a:xfrm>
            <a:off x="6949440" y="2880360"/>
            <a:ext cx="4693615" cy="822960"/>
          </a:xfrm>
          <a:prstGeom prst="roundRect">
            <a:avLst>
              <a:gd name="adj" fmla="val 7778"/>
            </a:avLst>
          </a:prstGeom>
          <a:solidFill>
            <a:srgbClr val="EFF6FF"/>
          </a:solidFill>
          <a:ln w="12700">
            <a:solidFill>
              <a:srgbClr val="DBEAFE"/>
            </a:solidFill>
            <a:prstDash val="solid"/>
          </a:ln>
        </p:spPr>
      </p:sp>
      <p:sp>
        <p:nvSpPr>
          <p:cNvPr id="7" name="Text 4"/>
          <p:cNvSpPr/>
          <p:nvPr/>
        </p:nvSpPr>
        <p:spPr>
          <a:xfrm>
            <a:off x="6949440" y="2880360"/>
            <a:ext cx="4693615" cy="822960"/>
          </a:xfrm>
          <a:prstGeom prst="rect">
            <a:avLst/>
          </a:prstGeom>
          <a:noFill/>
        </p:spPr>
        <p:txBody>
          <a:bodyPr wrap="square" lIns="0" tIns="0" rIns="0" bIns="0" rtlCol="0" anchor="ctr"/>
          <a:lstStyle/>
          <a:p>
            <a:pPr marL="0" indent="0" algn="ctr">
              <a:buNone/>
            </a:pPr>
            <a:r>
              <a:rPr lang="en-US" sz="2400" b="1" dirty="0">
                <a:solidFill>
                  <a:srgbClr val="0284C7"/>
                </a:solidFill>
                <a:latin typeface="Cambria" panose="02040503050406030204" pitchFamily="34" charset="0"/>
                <a:ea typeface="Cambria" panose="02040503050406030204" pitchFamily="34" charset="-122"/>
                <a:cs typeface="Cambria" panose="02040503050406030204" pitchFamily="34" charset="-120"/>
              </a:rPr>
              <a:t>C = B · log₂(1 + SINR)</a:t>
            </a:r>
            <a:endParaRPr lang="en-US" sz="2400" dirty="0"/>
          </a:p>
        </p:txBody>
      </p:sp>
      <p:sp>
        <p:nvSpPr>
          <p:cNvPr id="8" name="Shape 5"/>
          <p:cNvSpPr/>
          <p:nvPr/>
        </p:nvSpPr>
        <p:spPr>
          <a:xfrm>
            <a:off x="6949440" y="3886200"/>
            <a:ext cx="4693615" cy="1691640"/>
          </a:xfrm>
          <a:prstGeom prst="roundRect">
            <a:avLst>
              <a:gd name="adj" fmla="val 3784"/>
            </a:avLst>
          </a:prstGeom>
          <a:solidFill>
            <a:srgbClr val="F0F4F8"/>
          </a:solidFill>
          <a:ln w="12700">
            <a:solidFill>
              <a:srgbClr val="DBEAFE"/>
            </a:solidFill>
            <a:prstDash val="solid"/>
          </a:ln>
        </p:spPr>
      </p:sp>
      <p:sp>
        <p:nvSpPr>
          <p:cNvPr id="9" name="Text 6"/>
          <p:cNvSpPr/>
          <p:nvPr/>
        </p:nvSpPr>
        <p:spPr>
          <a:xfrm>
            <a:off x="7223760" y="4069080"/>
            <a:ext cx="4144975" cy="1371600"/>
          </a:xfrm>
          <a:prstGeom prst="rect">
            <a:avLst/>
          </a:prstGeom>
          <a:noFill/>
        </p:spPr>
        <p:txBody>
          <a:bodyPr wrap="square" lIns="0" tIns="0" rIns="0" bIns="0" rtlCol="0" anchor="ctr"/>
          <a:lstStyle/>
          <a:p>
            <a:pPr marL="0" indent="0">
              <a:buNone/>
            </a:pPr>
            <a:r>
              <a:rPr lang="en-US" sz="1250" b="1" dirty="0">
                <a:solidFill>
                  <a:srgbClr val="0284C7"/>
                </a:solidFill>
                <a:latin typeface="Calibri" panose="020F0502020204030204" pitchFamily="34" charset="0"/>
                <a:ea typeface="Calibri" panose="020F0502020204030204" pitchFamily="34" charset="-122"/>
                <a:cs typeface="Calibri" panose="020F0502020204030204" pitchFamily="34" charset="-120"/>
              </a:rPr>
              <a:t>Impact Direct : </a:t>
            </a:r>
            <a:r>
              <a:rPr lang="en-US" sz="1250" dirty="0">
                <a:solidFill>
                  <a:srgbClr val="0F172A"/>
                </a:solidFill>
                <a:latin typeface="Calibri" panose="020F0502020204030204" pitchFamily="34" charset="0"/>
                <a:ea typeface="Calibri" panose="020F0502020204030204" pitchFamily="34" charset="-122"/>
                <a:cs typeface="Calibri" panose="020F0502020204030204" pitchFamily="34" charset="-120"/>
              </a:rPr>
              <a:t>D'après la formule, la capacité totale du système (C) augmente de façon logarithmique, mais très significative, grâce à la maximisation du SINR permise par la directivité.</a:t>
            </a:r>
            <a:endParaRPr lang="en-US" sz="1250" dirty="0"/>
          </a:p>
        </p:txBody>
      </p:sp>
      <p:sp>
        <p:nvSpPr>
          <p:cNvPr id="10" name="Text 7"/>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5</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Indicateurs Radio : SS-RSRP &amp; SS-SINR</a:t>
            </a:r>
            <a:endParaRPr lang="en-US" sz="2800" dirty="0"/>
          </a:p>
        </p:txBody>
      </p:sp>
      <p:sp>
        <p:nvSpPr>
          <p:cNvPr id="3" name="Text 1"/>
          <p:cNvSpPr/>
          <p:nvPr/>
        </p:nvSpPr>
        <p:spPr>
          <a:xfrm>
            <a:off x="548640" y="1508760"/>
            <a:ext cx="5364328" cy="365760"/>
          </a:xfrm>
          <a:prstGeom prst="rect">
            <a:avLst/>
          </a:prstGeom>
          <a:noFill/>
        </p:spPr>
        <p:txBody>
          <a:bodyPr wrap="square" lIns="0" tIns="0" rIns="0" bIns="0" rtlCol="0" anchor="ctr"/>
          <a:lstStyle/>
          <a:p>
            <a:pPr marL="0" indent="0">
              <a:buNone/>
            </a:pPr>
            <a:r>
              <a:rPr lang="en-US" sz="1600" b="1" dirty="0">
                <a:solidFill>
                  <a:srgbClr val="0F172A"/>
                </a:solidFill>
                <a:latin typeface="Calibri" panose="020F0502020204030204" pitchFamily="34" charset="0"/>
                <a:ea typeface="Calibri" panose="020F0502020204030204" pitchFamily="34" charset="-122"/>
                <a:cs typeface="Calibri" panose="020F0502020204030204" pitchFamily="34" charset="-120"/>
              </a:rPr>
              <a:t>Seuils de Couverture (SS-RSRP)</a:t>
            </a:r>
            <a:endParaRPr lang="en-US" sz="1600" dirty="0"/>
          </a:p>
        </p:txBody>
      </p:sp>
      <p:graphicFrame>
        <p:nvGraphicFramePr>
          <p:cNvPr id="7" name="Table 0"/>
          <p:cNvGraphicFramePr>
            <a:graphicFrameLocks noGrp="1"/>
          </p:cNvGraphicFramePr>
          <p:nvPr/>
        </p:nvGraphicFramePr>
        <p:xfrm>
          <a:off x="548640" y="1920240"/>
          <a:ext cx="5364328" cy="1783080"/>
        </p:xfrm>
        <a:graphic>
          <a:graphicData uri="http://schemas.openxmlformats.org/drawingml/2006/table">
            <a:tbl>
              <a:tblPr/>
              <a:tblGrid>
                <a:gridCol w="1280160"/>
                <a:gridCol w="1371600"/>
                <a:gridCol w="2712568"/>
              </a:tblGrid>
              <a:tr h="594360">
                <a:tc>
                  <a:txBody>
                    <a:bodyPr/>
                    <a:lstStyle/>
                    <a:p>
                      <a:pPr marL="0" indent="0">
                        <a:buNone/>
                      </a:pPr>
                      <a:r>
                        <a:rPr lang="en-US" sz="1200" b="1" dirty="0">
                          <a:solidFill>
                            <a:srgbClr val="10B981"/>
                          </a:solidFill>
                          <a:latin typeface="Calibri" panose="020F0502020204030204" pitchFamily="34" charset="0"/>
                          <a:ea typeface="Calibri" panose="020F0502020204030204" pitchFamily="34" charset="-122"/>
                          <a:cs typeface="Calibri" panose="020F0502020204030204" pitchFamily="34" charset="-120"/>
                        </a:rPr>
                        <a:t>Excellent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&gt; -80 dBm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Débit max, Beams stables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594360">
                <a:tc>
                  <a:txBody>
                    <a:bodyPr/>
                    <a:lstStyle/>
                    <a:p>
                      <a:pPr marL="0" indent="0">
                        <a:buNone/>
                      </a:pPr>
                      <a:r>
                        <a:rPr lang="en-US" sz="1200" b="1" dirty="0">
                          <a:solidFill>
                            <a:srgbClr val="F59E0B"/>
                          </a:solidFill>
                          <a:latin typeface="Calibri" panose="020F0502020204030204" pitchFamily="34" charset="0"/>
                          <a:ea typeface="Calibri" panose="020F0502020204030204" pitchFamily="34" charset="-122"/>
                          <a:cs typeface="Calibri" panose="020F0502020204030204" pitchFamily="34" charset="-120"/>
                        </a:rPr>
                        <a:t>Moyen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-95 à -110 dBm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Couverture limite, dégradation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594360">
                <a:tc>
                  <a:txBody>
                    <a:bodyPr/>
                    <a:lstStyle/>
                    <a:p>
                      <a:pPr marL="0" indent="0">
                        <a:buNone/>
                      </a:pPr>
                      <a:r>
                        <a:rPr lang="en-US" sz="1200" b="1" dirty="0">
                          <a:solidFill>
                            <a:srgbClr val="EF4444"/>
                          </a:solidFill>
                          <a:latin typeface="Calibri" panose="020F0502020204030204" pitchFamily="34" charset="0"/>
                          <a:ea typeface="Calibri" panose="020F0502020204030204" pitchFamily="34" charset="-122"/>
                          <a:cs typeface="Calibri" panose="020F0502020204030204" pitchFamily="34" charset="-120"/>
                        </a:rPr>
                        <a:t>Faible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&lt; -110 dBm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Coupures, débit très réduit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bl>
          </a:graphicData>
        </a:graphic>
      </p:graphicFrame>
      <p:sp>
        <p:nvSpPr>
          <p:cNvPr id="5" name="Shape 2"/>
          <p:cNvSpPr/>
          <p:nvPr/>
        </p:nvSpPr>
        <p:spPr>
          <a:xfrm>
            <a:off x="548640" y="3840480"/>
            <a:ext cx="5364328" cy="1051560"/>
          </a:xfrm>
          <a:prstGeom prst="roundRect">
            <a:avLst>
              <a:gd name="adj" fmla="val 6087"/>
            </a:avLst>
          </a:prstGeom>
          <a:solidFill>
            <a:srgbClr val="F0F4F8"/>
          </a:solidFill>
          <a:ln w="12700">
            <a:solidFill>
              <a:srgbClr val="DBEAFE"/>
            </a:solidFill>
            <a:prstDash val="solid"/>
          </a:ln>
        </p:spPr>
      </p:sp>
      <p:sp>
        <p:nvSpPr>
          <p:cNvPr id="6" name="Text 3"/>
          <p:cNvSpPr/>
          <p:nvPr/>
        </p:nvSpPr>
        <p:spPr>
          <a:xfrm>
            <a:off x="777240" y="3977640"/>
            <a:ext cx="4907128" cy="822960"/>
          </a:xfrm>
          <a:prstGeom prst="rect">
            <a:avLst/>
          </a:prstGeom>
          <a:noFill/>
        </p:spPr>
        <p:txBody>
          <a:bodyPr wrap="square" lIns="0" tIns="0" rIns="0" bIns="0" rtlCol="0" anchor="ctr"/>
          <a:lstStyle/>
          <a:p>
            <a:pPr marL="0" indent="0">
              <a:buNone/>
            </a:pPr>
            <a:r>
              <a:rPr lang="en-US" sz="1200" b="1" dirty="0">
                <a:solidFill>
                  <a:srgbClr val="0284C7"/>
                </a:solidFill>
                <a:latin typeface="Calibri" panose="020F0502020204030204" pitchFamily="34" charset="0"/>
                <a:ea typeface="Calibri" panose="020F0502020204030204" pitchFamily="34" charset="-122"/>
                <a:cs typeface="Calibri" panose="020F0502020204030204" pitchFamily="34" charset="-120"/>
              </a:rPr>
              <a:t>Impact Direct sur la QoE : </a:t>
            </a:r>
            <a:r>
              <a:rPr lang="en-US" sz="1200" dirty="0">
                <a:solidFill>
                  <a:srgbClr val="0F172A"/>
                </a:solidFill>
                <a:latin typeface="Calibri" panose="020F0502020204030204" pitchFamily="34" charset="0"/>
                <a:ea typeface="Calibri" panose="020F0502020204030204" pitchFamily="34" charset="-122"/>
                <a:cs typeface="Calibri" panose="020F0502020204030204" pitchFamily="34" charset="-120"/>
              </a:rPr>
              <a:t>La qualité radio détermine dynamiquement l'Efficacité Spectrale via l'adaptation de lien (Link Adaptation).</a:t>
            </a:r>
            <a:endParaRPr lang="en-US" sz="1200" dirty="0"/>
          </a:p>
        </p:txBody>
      </p:sp>
      <p:sp>
        <p:nvSpPr>
          <p:cNvPr id="4" name="Text 4"/>
          <p:cNvSpPr/>
          <p:nvPr/>
        </p:nvSpPr>
        <p:spPr>
          <a:xfrm>
            <a:off x="6278728" y="1508760"/>
            <a:ext cx="5364328" cy="365760"/>
          </a:xfrm>
          <a:prstGeom prst="rect">
            <a:avLst/>
          </a:prstGeom>
          <a:noFill/>
        </p:spPr>
        <p:txBody>
          <a:bodyPr wrap="square" lIns="0" tIns="0" rIns="0" bIns="0" rtlCol="0" anchor="ctr"/>
          <a:lstStyle/>
          <a:p>
            <a:pPr marL="0" indent="0">
              <a:buNone/>
            </a:pPr>
            <a:r>
              <a:rPr lang="en-US" sz="1600" b="1" dirty="0">
                <a:solidFill>
                  <a:srgbClr val="0F172A"/>
                </a:solidFill>
                <a:latin typeface="Calibri" panose="020F0502020204030204" pitchFamily="34" charset="0"/>
                <a:ea typeface="Calibri" panose="020F0502020204030204" pitchFamily="34" charset="-122"/>
                <a:cs typeface="Calibri" panose="020F0502020204030204" pitchFamily="34" charset="-120"/>
              </a:rPr>
              <a:t>Seuils de Qualité (SS-SINR)</a:t>
            </a:r>
            <a:endParaRPr lang="en-US" sz="1600" dirty="0"/>
          </a:p>
        </p:txBody>
      </p:sp>
      <p:graphicFrame>
        <p:nvGraphicFramePr>
          <p:cNvPr id="13" name="Table 1"/>
          <p:cNvGraphicFramePr>
            <a:graphicFrameLocks noGrp="1"/>
          </p:cNvGraphicFramePr>
          <p:nvPr/>
        </p:nvGraphicFramePr>
        <p:xfrm>
          <a:off x="6278728" y="1920240"/>
          <a:ext cx="5364328" cy="1783080"/>
        </p:xfrm>
        <a:graphic>
          <a:graphicData uri="http://schemas.openxmlformats.org/drawingml/2006/table">
            <a:tbl>
              <a:tblPr/>
              <a:tblGrid>
                <a:gridCol w="1280160"/>
                <a:gridCol w="1188720"/>
                <a:gridCol w="2895448"/>
              </a:tblGrid>
              <a:tr h="594360">
                <a:tc>
                  <a:txBody>
                    <a:bodyPr/>
                    <a:lstStyle/>
                    <a:p>
                      <a:pPr marL="0" indent="0">
                        <a:buNone/>
                      </a:pPr>
                      <a:r>
                        <a:rPr lang="en-US" sz="1200" b="1" dirty="0">
                          <a:solidFill>
                            <a:srgbClr val="10B981"/>
                          </a:solidFill>
                          <a:latin typeface="Calibri" panose="020F0502020204030204" pitchFamily="34" charset="0"/>
                          <a:ea typeface="Calibri" panose="020F0502020204030204" pitchFamily="34" charset="-122"/>
                          <a:cs typeface="Calibri" panose="020F0502020204030204" pitchFamily="34" charset="-120"/>
                        </a:rPr>
                        <a:t>Haut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&gt; 20 dB</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Utilisation 256-QAM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594360">
                <a:tc>
                  <a:txBody>
                    <a:bodyPr/>
                    <a:lstStyle/>
                    <a:p>
                      <a:pPr marL="0" indent="0">
                        <a:buNone/>
                      </a:pPr>
                      <a:r>
                        <a:rPr lang="en-US" sz="1200" b="1" dirty="0">
                          <a:solidFill>
                            <a:srgbClr val="F59E0B"/>
                          </a:solidFill>
                          <a:latin typeface="Calibri" panose="020F0502020204030204" pitchFamily="34" charset="0"/>
                          <a:ea typeface="Calibri" panose="020F0502020204030204" pitchFamily="34" charset="-122"/>
                          <a:cs typeface="Calibri" panose="020F0502020204030204" pitchFamily="34" charset="-120"/>
                        </a:rPr>
                        <a:t>Standard</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5 à 20 dB</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QPSK/16-QAM/64-QAM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594360">
                <a:tc>
                  <a:txBody>
                    <a:bodyPr/>
                    <a:lstStyle/>
                    <a:p>
                      <a:pPr marL="0" indent="0">
                        <a:buNone/>
                      </a:pPr>
                      <a:r>
                        <a:rPr lang="en-US" sz="1200" b="1" dirty="0">
                          <a:solidFill>
                            <a:srgbClr val="EF4444"/>
                          </a:solidFill>
                          <a:latin typeface="Calibri" panose="020F0502020204030204" pitchFamily="34" charset="0"/>
                          <a:ea typeface="Calibri" panose="020F0502020204030204" pitchFamily="34" charset="-122"/>
                          <a:cs typeface="Calibri" panose="020F0502020204030204" pitchFamily="34" charset="-120"/>
                        </a:rPr>
                        <a:t>Mauvais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&lt; 0 dB</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Interférences majeures, pertes</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bl>
          </a:graphicData>
        </a:graphic>
      </p:graphicFrame>
      <p:sp>
        <p:nvSpPr>
          <p:cNvPr id="9" name="Shape 5"/>
          <p:cNvSpPr/>
          <p:nvPr/>
        </p:nvSpPr>
        <p:spPr>
          <a:xfrm>
            <a:off x="6278728" y="3840480"/>
            <a:ext cx="5364328" cy="868680"/>
          </a:xfrm>
          <a:prstGeom prst="roundRect">
            <a:avLst>
              <a:gd name="adj" fmla="val 7368"/>
            </a:avLst>
          </a:prstGeom>
          <a:solidFill>
            <a:srgbClr val="FEF2F2"/>
          </a:solidFill>
          <a:ln w="12700">
            <a:solidFill>
              <a:srgbClr val="DBEAFE"/>
            </a:solidFill>
            <a:prstDash val="solid"/>
          </a:ln>
        </p:spPr>
      </p:sp>
      <p:sp>
        <p:nvSpPr>
          <p:cNvPr id="10" name="Text 6"/>
          <p:cNvSpPr/>
          <p:nvPr/>
        </p:nvSpPr>
        <p:spPr>
          <a:xfrm>
            <a:off x="6507328" y="3931920"/>
            <a:ext cx="4907128" cy="685800"/>
          </a:xfrm>
          <a:prstGeom prst="rect">
            <a:avLst/>
          </a:prstGeom>
          <a:noFill/>
        </p:spPr>
        <p:txBody>
          <a:bodyPr wrap="square" lIns="0" tIns="0" rIns="0" bIns="0" rtlCol="0" anchor="ctr"/>
          <a:lstStyle/>
          <a:p>
            <a:pPr marL="0" indent="0">
              <a:buNone/>
            </a:pPr>
            <a:r>
              <a:rPr lang="en-US" sz="1150" dirty="0">
                <a:solidFill>
                  <a:srgbClr val="EF4444"/>
                </a:solidFill>
                <a:latin typeface="Calibri" panose="020F0502020204030204" pitchFamily="34" charset="0"/>
                <a:ea typeface="Calibri" panose="020F0502020204030204" pitchFamily="34" charset="-122"/>
                <a:cs typeface="Calibri" panose="020F0502020204030204" pitchFamily="34" charset="-120"/>
              </a:rPr>
              <a:t>Un SINR faible (&lt; 0 dB) force le réseau en QPSK, générant des retransmissions HARQ et de la latence, détruisant la QoE (VoNR, Vidéo).</a:t>
            </a:r>
            <a:endParaRPr lang="en-US" sz="1150" dirty="0"/>
          </a:p>
        </p:txBody>
      </p:sp>
      <p:sp>
        <p:nvSpPr>
          <p:cNvPr id="11" name="Shape 7"/>
          <p:cNvSpPr/>
          <p:nvPr/>
        </p:nvSpPr>
        <p:spPr>
          <a:xfrm>
            <a:off x="3261208" y="4937760"/>
            <a:ext cx="1554480" cy="777240"/>
          </a:xfrm>
          <a:prstGeom prst="roundRect">
            <a:avLst>
              <a:gd name="adj" fmla="val 8235"/>
            </a:avLst>
          </a:prstGeom>
          <a:solidFill>
            <a:srgbClr val="EFF6FF"/>
          </a:solidFill>
          <a:ln w="12700">
            <a:solidFill>
              <a:srgbClr val="DBEAFE"/>
            </a:solidFill>
            <a:prstDash val="solid"/>
          </a:ln>
        </p:spPr>
      </p:sp>
      <p:sp>
        <p:nvSpPr>
          <p:cNvPr id="12" name="Text 8"/>
          <p:cNvSpPr/>
          <p:nvPr/>
        </p:nvSpPr>
        <p:spPr>
          <a:xfrm>
            <a:off x="3261208" y="5029200"/>
            <a:ext cx="1554480" cy="320040"/>
          </a:xfrm>
          <a:prstGeom prst="rect">
            <a:avLst/>
          </a:prstGeom>
          <a:noFill/>
        </p:spPr>
        <p:txBody>
          <a:bodyPr wrap="square" lIns="0" tIns="0" rIns="0" bIns="0" rtlCol="0" anchor="ctr"/>
          <a:lstStyle/>
          <a:p>
            <a:pPr marL="0" indent="0" algn="ctr">
              <a:buNone/>
            </a:pPr>
            <a:r>
              <a:rPr lang="en-US" sz="1300" b="1" dirty="0">
                <a:solidFill>
                  <a:srgbClr val="0284C7"/>
                </a:solidFill>
                <a:latin typeface="Calibri" panose="020F0502020204030204" pitchFamily="34" charset="0"/>
                <a:ea typeface="Calibri" panose="020F0502020204030204" pitchFamily="34" charset="-122"/>
                <a:cs typeface="Calibri" panose="020F0502020204030204" pitchFamily="34" charset="-120"/>
              </a:rPr>
              <a:t>SINR Élevé</a:t>
            </a:r>
            <a:endParaRPr lang="en-US" sz="1300" dirty="0"/>
          </a:p>
        </p:txBody>
      </p:sp>
      <p:sp>
        <p:nvSpPr>
          <p:cNvPr id="8" name="Text 9"/>
          <p:cNvSpPr/>
          <p:nvPr/>
        </p:nvSpPr>
        <p:spPr>
          <a:xfrm>
            <a:off x="3261208" y="5349240"/>
            <a:ext cx="1554480" cy="274320"/>
          </a:xfrm>
          <a:prstGeom prst="rect">
            <a:avLst/>
          </a:prstGeom>
          <a:noFill/>
        </p:spPr>
        <p:txBody>
          <a:bodyPr wrap="square" lIns="0" tIns="0" rIns="0" bIns="0" rtlCol="0" anchor="ct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&gt; 20 dB</a:t>
            </a:r>
            <a:endParaRPr lang="en-US" sz="1100" dirty="0"/>
          </a:p>
        </p:txBody>
      </p:sp>
      <p:sp>
        <p:nvSpPr>
          <p:cNvPr id="14" name="Text 10"/>
          <p:cNvSpPr/>
          <p:nvPr/>
        </p:nvSpPr>
        <p:spPr>
          <a:xfrm>
            <a:off x="4815688" y="5074920"/>
            <a:ext cx="502920" cy="457200"/>
          </a:xfrm>
          <a:prstGeom prst="rect">
            <a:avLst/>
          </a:prstGeom>
          <a:noFill/>
        </p:spPr>
        <p:txBody>
          <a:bodyPr wrap="square" lIns="0" tIns="0" rIns="0" bIns="0" rtlCol="0" anchor="ctr"/>
          <a:lstStyle/>
          <a:p>
            <a:pPr marL="0" indent="0" algn="ctr">
              <a:buNone/>
            </a:pPr>
            <a:r>
              <a:rPr lang="en-US" sz="2000" dirty="0">
                <a:solidFill>
                  <a:srgbClr val="0284C7"/>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5" name="Shape 11"/>
          <p:cNvSpPr/>
          <p:nvPr/>
        </p:nvSpPr>
        <p:spPr>
          <a:xfrm>
            <a:off x="5318608" y="4937760"/>
            <a:ext cx="1554480" cy="777240"/>
          </a:xfrm>
          <a:prstGeom prst="roundRect">
            <a:avLst>
              <a:gd name="adj" fmla="val 8235"/>
            </a:avLst>
          </a:prstGeom>
          <a:solidFill>
            <a:srgbClr val="EFF6FF"/>
          </a:solidFill>
          <a:ln w="12700">
            <a:solidFill>
              <a:srgbClr val="DBEAFE"/>
            </a:solidFill>
            <a:prstDash val="solid"/>
          </a:ln>
        </p:spPr>
      </p:sp>
      <p:sp>
        <p:nvSpPr>
          <p:cNvPr id="16" name="Text 12"/>
          <p:cNvSpPr/>
          <p:nvPr/>
        </p:nvSpPr>
        <p:spPr>
          <a:xfrm>
            <a:off x="5318608" y="5029200"/>
            <a:ext cx="1554480" cy="320040"/>
          </a:xfrm>
          <a:prstGeom prst="rect">
            <a:avLst/>
          </a:prstGeom>
          <a:noFill/>
        </p:spPr>
        <p:txBody>
          <a:bodyPr wrap="square" lIns="0" tIns="0" rIns="0" bIns="0" rtlCol="0" anchor="ctr"/>
          <a:lstStyle/>
          <a:p>
            <a:pPr marL="0" indent="0" algn="ctr">
              <a:buNone/>
            </a:pPr>
            <a:r>
              <a:rPr lang="en-US" sz="1300" b="1" dirty="0">
                <a:solidFill>
                  <a:srgbClr val="0284C7"/>
                </a:solidFill>
                <a:latin typeface="Calibri" panose="020F0502020204030204" pitchFamily="34" charset="0"/>
                <a:ea typeface="Calibri" panose="020F0502020204030204" pitchFamily="34" charset="-122"/>
                <a:cs typeface="Calibri" panose="020F0502020204030204" pitchFamily="34" charset="-120"/>
              </a:rPr>
              <a:t>MCS Optimal</a:t>
            </a:r>
            <a:endParaRPr lang="en-US" sz="1300" dirty="0"/>
          </a:p>
        </p:txBody>
      </p:sp>
      <p:sp>
        <p:nvSpPr>
          <p:cNvPr id="17" name="Text 13"/>
          <p:cNvSpPr/>
          <p:nvPr/>
        </p:nvSpPr>
        <p:spPr>
          <a:xfrm>
            <a:off x="5318608" y="5349240"/>
            <a:ext cx="1554480" cy="274320"/>
          </a:xfrm>
          <a:prstGeom prst="rect">
            <a:avLst/>
          </a:prstGeom>
          <a:noFill/>
        </p:spPr>
        <p:txBody>
          <a:bodyPr wrap="square" lIns="0" tIns="0" rIns="0" bIns="0" rtlCol="0" anchor="ct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256-QAM</a:t>
            </a:r>
            <a:endParaRPr lang="en-US" sz="1100" dirty="0"/>
          </a:p>
        </p:txBody>
      </p:sp>
      <p:sp>
        <p:nvSpPr>
          <p:cNvPr id="18" name="Text 14"/>
          <p:cNvSpPr/>
          <p:nvPr/>
        </p:nvSpPr>
        <p:spPr>
          <a:xfrm>
            <a:off x="6873088" y="5074920"/>
            <a:ext cx="502920" cy="457200"/>
          </a:xfrm>
          <a:prstGeom prst="rect">
            <a:avLst/>
          </a:prstGeom>
          <a:noFill/>
        </p:spPr>
        <p:txBody>
          <a:bodyPr wrap="square" lIns="0" tIns="0" rIns="0" bIns="0" rtlCol="0" anchor="ctr"/>
          <a:lstStyle/>
          <a:p>
            <a:pPr marL="0" indent="0" algn="ctr">
              <a:buNone/>
            </a:pPr>
            <a:r>
              <a:rPr lang="en-US" sz="2000" dirty="0">
                <a:solidFill>
                  <a:srgbClr val="0284C7"/>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9" name="Shape 15"/>
          <p:cNvSpPr/>
          <p:nvPr/>
        </p:nvSpPr>
        <p:spPr>
          <a:xfrm>
            <a:off x="7376008" y="4937760"/>
            <a:ext cx="1554480" cy="777240"/>
          </a:xfrm>
          <a:prstGeom prst="roundRect">
            <a:avLst>
              <a:gd name="adj" fmla="val 8235"/>
            </a:avLst>
          </a:prstGeom>
          <a:solidFill>
            <a:srgbClr val="EFF6FF"/>
          </a:solidFill>
          <a:ln w="12700">
            <a:solidFill>
              <a:srgbClr val="DBEAFE"/>
            </a:solidFill>
            <a:prstDash val="solid"/>
          </a:ln>
        </p:spPr>
      </p:sp>
      <p:sp>
        <p:nvSpPr>
          <p:cNvPr id="20" name="Text 16"/>
          <p:cNvSpPr/>
          <p:nvPr/>
        </p:nvSpPr>
        <p:spPr>
          <a:xfrm>
            <a:off x="7376008" y="5029200"/>
            <a:ext cx="1554480" cy="320040"/>
          </a:xfrm>
          <a:prstGeom prst="rect">
            <a:avLst/>
          </a:prstGeom>
          <a:noFill/>
        </p:spPr>
        <p:txBody>
          <a:bodyPr wrap="square" lIns="0" tIns="0" rIns="0" bIns="0" rtlCol="0" anchor="ctr"/>
          <a:lstStyle/>
          <a:p>
            <a:pPr marL="0" indent="0" algn="ctr">
              <a:buNone/>
            </a:pPr>
            <a:r>
              <a:rPr lang="en-US" sz="1300" b="1" dirty="0">
                <a:solidFill>
                  <a:srgbClr val="0284C7"/>
                </a:solidFill>
                <a:latin typeface="Calibri" panose="020F0502020204030204" pitchFamily="34" charset="0"/>
                <a:ea typeface="Calibri" panose="020F0502020204030204" pitchFamily="34" charset="-122"/>
                <a:cs typeface="Calibri" panose="020F0502020204030204" pitchFamily="34" charset="-120"/>
              </a:rPr>
              <a:t>Débit Max</a:t>
            </a:r>
            <a:endParaRPr lang="en-US" sz="1300" dirty="0"/>
          </a:p>
        </p:txBody>
      </p:sp>
      <p:sp>
        <p:nvSpPr>
          <p:cNvPr id="21" name="Text 17"/>
          <p:cNvSpPr/>
          <p:nvPr/>
        </p:nvSpPr>
        <p:spPr>
          <a:xfrm>
            <a:off x="7376008" y="5349240"/>
            <a:ext cx="1554480" cy="274320"/>
          </a:xfrm>
          <a:prstGeom prst="rect">
            <a:avLst/>
          </a:prstGeom>
          <a:noFill/>
        </p:spPr>
        <p:txBody>
          <a:bodyPr wrap="square" lIns="0" tIns="0" rIns="0" bIns="0" rtlCol="0" anchor="ct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~9 bit/s/Hz</a:t>
            </a:r>
            <a:endParaRPr lang="en-US" sz="1100" dirty="0"/>
          </a:p>
        </p:txBody>
      </p:sp>
      <p:sp>
        <p:nvSpPr>
          <p:cNvPr id="22" name="Text 18"/>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6</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endParaRPr lang="en-US" sz="2800" dirty="0"/>
          </a:p>
        </p:txBody>
      </p:sp>
      <p:sp>
        <p:nvSpPr>
          <p:cNvPr id="21" name="Text 19"/>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8</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Environnement d'étude : Mobilis Oran</a:t>
            </a:r>
            <a:endParaRPr lang="en-US" sz="2800" dirty="0"/>
          </a:p>
        </p:txBody>
      </p:sp>
      <p:sp>
        <p:nvSpPr>
          <p:cNvPr id="3" name="Shape 1"/>
          <p:cNvSpPr/>
          <p:nvPr/>
        </p:nvSpPr>
        <p:spPr>
          <a:xfrm>
            <a:off x="548640" y="1508760"/>
            <a:ext cx="2834640" cy="1371600"/>
          </a:xfrm>
          <a:prstGeom prst="roundRect">
            <a:avLst>
              <a:gd name="adj" fmla="val 4667"/>
            </a:avLst>
          </a:prstGeom>
          <a:solidFill>
            <a:srgbClr val="F0F4F8"/>
          </a:solidFill>
          <a:ln w="12700">
            <a:solidFill>
              <a:srgbClr val="DBEAFE"/>
            </a:solidFill>
            <a:prstDash val="solid"/>
          </a:ln>
        </p:spPr>
      </p:sp>
      <p:sp>
        <p:nvSpPr>
          <p:cNvPr id="4" name="Text 2"/>
          <p:cNvSpPr/>
          <p:nvPr/>
        </p:nvSpPr>
        <p:spPr>
          <a:xfrm>
            <a:off x="548640" y="1673352"/>
            <a:ext cx="2834640" cy="685800"/>
          </a:xfrm>
          <a:prstGeom prst="rect">
            <a:avLst/>
          </a:prstGeom>
          <a:noFill/>
        </p:spPr>
        <p:txBody>
          <a:bodyPr wrap="square" lIns="0" tIns="0" rIns="0" bIns="0" rtlCol="0" anchor="b"/>
          <a:lstStyle/>
          <a:p>
            <a:pPr marL="0" indent="0" algn="ctr">
              <a:buNone/>
            </a:pPr>
            <a:r>
              <a:rPr lang="en-US" sz="3400" b="1" dirty="0">
                <a:solidFill>
                  <a:srgbClr val="0284C7"/>
                </a:solidFill>
                <a:latin typeface="Calibri" panose="020F0502020204030204" pitchFamily="34" charset="0"/>
                <a:ea typeface="Calibri" panose="020F0502020204030204" pitchFamily="34" charset="-122"/>
                <a:cs typeface="Calibri" panose="020F0502020204030204" pitchFamily="34" charset="-120"/>
              </a:rPr>
              <a:t>21</a:t>
            </a:r>
            <a:endParaRPr lang="en-US" sz="3400" dirty="0"/>
          </a:p>
        </p:txBody>
      </p:sp>
      <p:sp>
        <p:nvSpPr>
          <p:cNvPr id="5" name="Text 3"/>
          <p:cNvSpPr/>
          <p:nvPr/>
        </p:nvSpPr>
        <p:spPr>
          <a:xfrm>
            <a:off x="685800" y="2377440"/>
            <a:ext cx="2560320" cy="411480"/>
          </a:xfrm>
          <a:prstGeom prst="rect">
            <a:avLst/>
          </a:prstGeom>
          <a:noFill/>
        </p:spPr>
        <p:txBody>
          <a:bodyPr wrap="square" lIns="0" tIns="0" rIns="0" bIns="0" rtlCol="0" anchor="ctr"/>
          <a:lstStyle/>
          <a:p>
            <a:pPr marL="0" indent="0" algn="ctr">
              <a:buNone/>
            </a:pPr>
            <a:r>
              <a:rPr lang="en-US" sz="1100" b="1" kern="0" spc="100" dirty="0">
                <a:solidFill>
                  <a:srgbClr val="334155"/>
                </a:solidFill>
                <a:latin typeface="Calibri" panose="020F0502020204030204" pitchFamily="34" charset="0"/>
                <a:ea typeface="Calibri" panose="020F0502020204030204" pitchFamily="34" charset="-122"/>
                <a:cs typeface="Calibri" panose="020F0502020204030204" pitchFamily="34" charset="-120"/>
              </a:rPr>
              <a:t>SITES 5G NR DÉPLOYÉS</a:t>
            </a:r>
            <a:endParaRPr lang="en-US" sz="1100" dirty="0"/>
          </a:p>
        </p:txBody>
      </p:sp>
      <p:sp>
        <p:nvSpPr>
          <p:cNvPr id="6" name="Shape 4"/>
          <p:cNvSpPr/>
          <p:nvPr/>
        </p:nvSpPr>
        <p:spPr>
          <a:xfrm>
            <a:off x="3657600" y="1508760"/>
            <a:ext cx="2926080" cy="1371600"/>
          </a:xfrm>
          <a:prstGeom prst="roundRect">
            <a:avLst>
              <a:gd name="adj" fmla="val 4667"/>
            </a:avLst>
          </a:prstGeom>
          <a:solidFill>
            <a:srgbClr val="F0F4F8"/>
          </a:solidFill>
          <a:ln w="12700">
            <a:solidFill>
              <a:srgbClr val="DBEAFE"/>
            </a:solidFill>
            <a:prstDash val="solid"/>
          </a:ln>
        </p:spPr>
      </p:sp>
      <p:sp>
        <p:nvSpPr>
          <p:cNvPr id="7" name="Text 5"/>
          <p:cNvSpPr/>
          <p:nvPr/>
        </p:nvSpPr>
        <p:spPr>
          <a:xfrm>
            <a:off x="3657600" y="1673352"/>
            <a:ext cx="2926080" cy="685800"/>
          </a:xfrm>
          <a:prstGeom prst="rect">
            <a:avLst/>
          </a:prstGeom>
          <a:noFill/>
        </p:spPr>
        <p:txBody>
          <a:bodyPr wrap="square" lIns="0" tIns="0" rIns="0" bIns="0" rtlCol="0" anchor="b"/>
          <a:lstStyle/>
          <a:p>
            <a:pPr marL="0" indent="0" algn="ctr">
              <a:buNone/>
            </a:pPr>
            <a:r>
              <a:rPr lang="en-US" sz="3400" b="1" dirty="0">
                <a:solidFill>
                  <a:srgbClr val="005BAC"/>
                </a:solidFill>
                <a:latin typeface="Calibri" panose="020F0502020204030204" pitchFamily="34" charset="0"/>
                <a:ea typeface="Calibri" panose="020F0502020204030204" pitchFamily="34" charset="-122"/>
                <a:cs typeface="Calibri" panose="020F0502020204030204" pitchFamily="34" charset="-120"/>
              </a:rPr>
              <a:t>64T64R</a:t>
            </a:r>
            <a:endParaRPr lang="en-US" sz="3400" dirty="0"/>
          </a:p>
        </p:txBody>
      </p:sp>
      <p:sp>
        <p:nvSpPr>
          <p:cNvPr id="8" name="Text 6"/>
          <p:cNvSpPr/>
          <p:nvPr/>
        </p:nvSpPr>
        <p:spPr>
          <a:xfrm>
            <a:off x="3794760" y="2377440"/>
            <a:ext cx="2651760" cy="411480"/>
          </a:xfrm>
          <a:prstGeom prst="rect">
            <a:avLst/>
          </a:prstGeom>
          <a:noFill/>
        </p:spPr>
        <p:txBody>
          <a:bodyPr wrap="square" lIns="0" tIns="0" rIns="0" bIns="0" rtlCol="0" anchor="ctr"/>
          <a:lstStyle/>
          <a:p>
            <a:pPr marL="0" indent="0" algn="ctr">
              <a:buNone/>
            </a:pPr>
            <a:r>
              <a:rPr lang="en-US" sz="1100" b="1" kern="0" spc="100" dirty="0">
                <a:solidFill>
                  <a:srgbClr val="334155"/>
                </a:solidFill>
                <a:latin typeface="Calibri" panose="020F0502020204030204" pitchFamily="34" charset="0"/>
                <a:ea typeface="Calibri" panose="020F0502020204030204" pitchFamily="34" charset="-122"/>
                <a:cs typeface="Calibri" panose="020F0502020204030204" pitchFamily="34" charset="-120"/>
              </a:rPr>
              <a:t>ANTENNES MASSIVE MIMO</a:t>
            </a:r>
            <a:endParaRPr lang="en-US" sz="1100" dirty="0"/>
          </a:p>
        </p:txBody>
      </p:sp>
      <p:sp>
        <p:nvSpPr>
          <p:cNvPr id="9" name="Text 7"/>
          <p:cNvSpPr/>
          <p:nvPr/>
        </p:nvSpPr>
        <p:spPr>
          <a:xfrm>
            <a:off x="548640" y="3108960"/>
            <a:ext cx="6035040" cy="365760"/>
          </a:xfrm>
          <a:prstGeom prst="rect">
            <a:avLst/>
          </a:prstGeom>
          <a:noFill/>
        </p:spPr>
        <p:txBody>
          <a:bodyPr wrap="square" lIns="0" tIns="0" rIns="0" bIns="0" rtlCol="0" anchor="ctr"/>
          <a:lstStyle/>
          <a:p>
            <a:pPr marL="0" indent="0">
              <a:buNone/>
            </a:pPr>
            <a:r>
              <a:rPr lang="en-US" sz="1600" b="1" dirty="0">
                <a:solidFill>
                  <a:srgbClr val="0F172A"/>
                </a:solidFill>
                <a:latin typeface="Calibri" panose="020F0502020204030204" pitchFamily="34" charset="0"/>
                <a:ea typeface="Calibri" panose="020F0502020204030204" pitchFamily="34" charset="-122"/>
                <a:cs typeface="Calibri" panose="020F0502020204030204" pitchFamily="34" charset="-120"/>
              </a:rPr>
              <a:t>Paramètres Techniques du Réseau</a:t>
            </a:r>
            <a:endParaRPr lang="en-US" sz="1600" dirty="0"/>
          </a:p>
        </p:txBody>
      </p:sp>
      <p:sp>
        <p:nvSpPr>
          <p:cNvPr id="10" name="Text 8"/>
          <p:cNvSpPr/>
          <p:nvPr/>
        </p:nvSpPr>
        <p:spPr>
          <a:xfrm>
            <a:off x="548640" y="3502152"/>
            <a:ext cx="6035040" cy="502920"/>
          </a:xfrm>
          <a:prstGeom prst="rect">
            <a:avLst/>
          </a:prstGeom>
          <a:noFill/>
        </p:spPr>
        <p:txBody>
          <a:bodyPr wrap="square" lIns="0" tIns="0" rIns="0" bIns="0" rtlCol="0" anchor="ctr"/>
          <a:lstStyle/>
          <a:p>
            <a:pPr marL="0" indent="0">
              <a:buNone/>
            </a:pPr>
            <a:r>
              <a:rPr lang="en-US" sz="1150" i="1" dirty="0">
                <a:solidFill>
                  <a:srgbClr val="334155"/>
                </a:solidFill>
                <a:latin typeface="Calibri" panose="020F0502020204030204" pitchFamily="34" charset="0"/>
                <a:ea typeface="Calibri" panose="020F0502020204030204" pitchFamily="34" charset="-122"/>
                <a:cs typeface="Calibri" panose="020F0502020204030204" pitchFamily="34" charset="-120"/>
              </a:rPr>
              <a:t>Zone d'étude : Centre urbain dense d'Oran. Réseau initial avant optimisation globale.</a:t>
            </a:r>
            <a:endParaRPr lang="en-US" sz="1150" dirty="0"/>
          </a:p>
        </p:txBody>
      </p:sp>
      <p:graphicFrame>
        <p:nvGraphicFramePr>
          <p:cNvPr id="11" name="Table 0"/>
          <p:cNvGraphicFramePr>
            <a:graphicFrameLocks noGrp="1"/>
          </p:cNvGraphicFramePr>
          <p:nvPr/>
        </p:nvGraphicFramePr>
        <p:xfrm>
          <a:off x="548640" y="4069080"/>
          <a:ext cx="6035040" cy="1920240"/>
        </p:xfrm>
        <a:graphic>
          <a:graphicData uri="http://schemas.openxmlformats.org/drawingml/2006/table">
            <a:tbl>
              <a:tblPr/>
              <a:tblGrid>
                <a:gridCol w="2926080"/>
                <a:gridCol w="3108960"/>
              </a:tblGrid>
              <a:tr h="384048">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Bande de fréquence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n78 (Bande C/FR1)</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384048">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Fréquence centrale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3 500 MHz</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384048">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Largeur de bande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100 MHz (TDD DDDSU)</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384048">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Puissance TX par port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43 dBm (20 W)</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384048">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Hauteur moyenne antenne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30 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bl>
          </a:graphicData>
        </a:graphic>
      </p:graphicFrame>
      <p:sp>
        <p:nvSpPr>
          <p:cNvPr id="12" name="Shape 9"/>
          <p:cNvSpPr/>
          <p:nvPr/>
        </p:nvSpPr>
        <p:spPr>
          <a:xfrm>
            <a:off x="6949440" y="1508760"/>
            <a:ext cx="4693615" cy="4434840"/>
          </a:xfrm>
          <a:prstGeom prst="roundRect">
            <a:avLst>
              <a:gd name="adj" fmla="val 1443"/>
            </a:avLst>
          </a:prstGeom>
          <a:solidFill>
            <a:srgbClr val="F1F5F9"/>
          </a:solidFill>
          <a:ln w="12700">
            <a:solidFill>
              <a:srgbClr val="DBEAFE"/>
            </a:solidFill>
            <a:prstDash val="solid"/>
          </a:ln>
        </p:spPr>
      </p:sp>
      <p:pic>
        <p:nvPicPr>
          <p:cNvPr id="13" name="Image 0" descr="preencoded.png"/>
          <p:cNvPicPr>
            <a:picLocks noChangeAspect="1"/>
          </p:cNvPicPr>
          <p:nvPr/>
        </p:nvPicPr>
        <p:blipFill>
          <a:blip r:embed="rId1"/>
          <a:stretch>
            <a:fillRect/>
          </a:stretch>
        </p:blipFill>
        <p:spPr>
          <a:xfrm>
            <a:off x="8976208" y="3246120"/>
            <a:ext cx="640080" cy="640080"/>
          </a:xfrm>
          <a:prstGeom prst="rect">
            <a:avLst/>
          </a:prstGeom>
        </p:spPr>
      </p:pic>
      <p:sp>
        <p:nvSpPr>
          <p:cNvPr id="14" name="Text 10"/>
          <p:cNvSpPr/>
          <p:nvPr/>
        </p:nvSpPr>
        <p:spPr>
          <a:xfrm>
            <a:off x="7223760" y="4023360"/>
            <a:ext cx="4144975" cy="365760"/>
          </a:xfrm>
          <a:prstGeom prst="rect">
            <a:avLst/>
          </a:prstGeom>
          <a:noFill/>
        </p:spPr>
        <p:txBody>
          <a:bodyPr wrap="square" lIns="0" tIns="0" rIns="0" bIns="0" rtlCol="0" anchor="ctr"/>
          <a:lstStyle/>
          <a:p>
            <a:pPr marL="0" indent="0" algn="ctr">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Centre urbain dense d'Oran, Algérie</a:t>
            </a:r>
            <a:endParaRPr lang="en-US" sz="1200" dirty="0"/>
          </a:p>
        </p:txBody>
      </p:sp>
      <p:sp>
        <p:nvSpPr>
          <p:cNvPr id="15" name="Text 11"/>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7</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Méthodologie : Campagne Drive Test</a:t>
            </a:r>
            <a:endParaRPr lang="en-US" sz="2800" dirty="0"/>
          </a:p>
        </p:txBody>
      </p:sp>
      <p:sp>
        <p:nvSpPr>
          <p:cNvPr id="3" name="Shape 1"/>
          <p:cNvSpPr/>
          <p:nvPr/>
        </p:nvSpPr>
        <p:spPr>
          <a:xfrm>
            <a:off x="548640" y="1554480"/>
            <a:ext cx="6400800" cy="4434840"/>
          </a:xfrm>
          <a:prstGeom prst="roundRect">
            <a:avLst>
              <a:gd name="adj" fmla="val 1443"/>
            </a:avLst>
          </a:prstGeom>
          <a:solidFill>
            <a:srgbClr val="F0F4F8"/>
          </a:solidFill>
          <a:ln w="12700">
            <a:solidFill>
              <a:srgbClr val="DBEAFE"/>
            </a:solidFill>
            <a:prstDash val="solid"/>
          </a:ln>
        </p:spPr>
      </p:sp>
      <p:sp>
        <p:nvSpPr>
          <p:cNvPr id="4" name="Text 2"/>
          <p:cNvSpPr/>
          <p:nvPr/>
        </p:nvSpPr>
        <p:spPr>
          <a:xfrm>
            <a:off x="868680" y="1828800"/>
            <a:ext cx="5760720" cy="365760"/>
          </a:xfrm>
          <a:prstGeom prst="rect">
            <a:avLst/>
          </a:prstGeom>
          <a:noFill/>
        </p:spPr>
        <p:txBody>
          <a:bodyPr wrap="square" lIns="0" tIns="0" rIns="0" bIns="0" rtlCol="0" anchor="ctr"/>
          <a:lstStyle/>
          <a:p>
            <a:pPr marL="0" indent="0">
              <a:buNone/>
            </a:pPr>
            <a:r>
              <a:rPr lang="en-US" sz="1600" b="1" dirty="0">
                <a:solidFill>
                  <a:srgbClr val="0284C7"/>
                </a:solidFill>
                <a:latin typeface="Calibri" panose="020F0502020204030204" pitchFamily="34" charset="0"/>
                <a:ea typeface="Calibri" panose="020F0502020204030204" pitchFamily="34" charset="-122"/>
                <a:cs typeface="Calibri" panose="020F0502020204030204" pitchFamily="34" charset="-120"/>
              </a:rPr>
              <a:t>Outils et Collecte</a:t>
            </a:r>
            <a:endParaRPr lang="en-US" sz="1600" dirty="0"/>
          </a:p>
        </p:txBody>
      </p:sp>
      <p:sp>
        <p:nvSpPr>
          <p:cNvPr id="5" name="Shape 3"/>
          <p:cNvSpPr/>
          <p:nvPr/>
        </p:nvSpPr>
        <p:spPr>
          <a:xfrm>
            <a:off x="868680" y="2267712"/>
            <a:ext cx="5760720" cy="0"/>
          </a:xfrm>
          <a:prstGeom prst="line">
            <a:avLst/>
          </a:prstGeom>
          <a:noFill/>
          <a:ln w="12700">
            <a:solidFill>
              <a:srgbClr val="DBEAFE"/>
            </a:solidFill>
            <a:prstDash val="solid"/>
          </a:ln>
        </p:spPr>
      </p:sp>
      <p:sp>
        <p:nvSpPr>
          <p:cNvPr id="6" name="Text 4"/>
          <p:cNvSpPr/>
          <p:nvPr/>
        </p:nvSpPr>
        <p:spPr>
          <a:xfrm>
            <a:off x="868680" y="2514600"/>
            <a:ext cx="5760720" cy="3200400"/>
          </a:xfrm>
          <a:prstGeom prst="rect">
            <a:avLst/>
          </a:prstGeom>
          <a:noFill/>
        </p:spPr>
        <p:txBody>
          <a:bodyPr wrap="square" lIns="0" tIns="0" rIns="0" bIns="0" rtlCol="0" anchor="ctr"/>
          <a:lstStyle/>
          <a:p>
            <a:pPr marL="0" indent="0">
              <a:spcAft>
                <a:spcPts val="1600"/>
              </a:spcAft>
              <a:buSzPct val="10000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Terminal UE : </a:t>
            </a: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OnePlus 13 (Snapdragon 8 Elite) bloqué en 5G NSA.</a:t>
            </a:r>
            <a:endParaRPr lang="en-US" sz="1300" dirty="0"/>
          </a:p>
          <a:p>
            <a:pPr marL="0" indent="0">
              <a:spcAft>
                <a:spcPts val="1600"/>
              </a:spcAft>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Logiciel DT : </a:t>
            </a: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TEMS Investigation (pilotage et horodatage GPS).</a:t>
            </a:r>
            <a:endParaRPr lang="en-US" sz="1300" dirty="0"/>
          </a:p>
          <a:p>
            <a:pPr marL="0" indent="0">
              <a:spcAft>
                <a:spcPts val="1600"/>
              </a:spcAft>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Post-traitement : </a:t>
            </a: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TEMS Discovery &amp; Forsk Atoll.</a:t>
            </a:r>
            <a:endParaRPr lang="en-US" sz="1300" dirty="0"/>
          </a:p>
          <a:p>
            <a:pPr marL="0" indent="0">
              <a:spcAft>
                <a:spcPts val="1600"/>
              </a:spcAft>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KPIs Collectés : </a:t>
            </a: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SS-RSRP, SS-SINR, PCI, Beam Index.</a:t>
            </a:r>
            <a:endParaRPr lang="en-US" sz="1300" dirty="0"/>
          </a:p>
        </p:txBody>
      </p:sp>
      <p:sp>
        <p:nvSpPr>
          <p:cNvPr id="7" name="Shape 5"/>
          <p:cNvSpPr/>
          <p:nvPr/>
        </p:nvSpPr>
        <p:spPr>
          <a:xfrm>
            <a:off x="8290408" y="1554480"/>
            <a:ext cx="2377440" cy="2377440"/>
          </a:xfrm>
          <a:prstGeom prst="ellipse">
            <a:avLst/>
          </a:prstGeom>
          <a:solidFill>
            <a:srgbClr val="F0F4F8"/>
          </a:solidFill>
          <a:ln w="19050">
            <a:solidFill>
              <a:srgbClr val="005BAC"/>
            </a:solidFill>
            <a:prstDash val="dash"/>
          </a:ln>
        </p:spPr>
      </p:sp>
      <p:sp>
        <p:nvSpPr>
          <p:cNvPr id="8" name="Text 6"/>
          <p:cNvSpPr/>
          <p:nvPr/>
        </p:nvSpPr>
        <p:spPr>
          <a:xfrm>
            <a:off x="8290408" y="2057400"/>
            <a:ext cx="2377440" cy="777240"/>
          </a:xfrm>
          <a:prstGeom prst="rect">
            <a:avLst/>
          </a:prstGeom>
          <a:noFill/>
        </p:spPr>
        <p:txBody>
          <a:bodyPr wrap="square" lIns="0" tIns="0" rIns="0" bIns="0" rtlCol="0" anchor="ctr"/>
          <a:lstStyle/>
          <a:p>
            <a:pPr marL="0" indent="0" algn="ctr">
              <a:buNone/>
            </a:pPr>
            <a:r>
              <a:rPr lang="en-US" sz="3600" b="1" dirty="0">
                <a:solidFill>
                  <a:srgbClr val="0F172A"/>
                </a:solidFill>
                <a:latin typeface="Calibri" panose="020F0502020204030204" pitchFamily="34" charset="0"/>
                <a:ea typeface="Calibri" panose="020F0502020204030204" pitchFamily="34" charset="-122"/>
                <a:cs typeface="Calibri" panose="020F0502020204030204" pitchFamily="34" charset="-120"/>
              </a:rPr>
              <a:t>3 228</a:t>
            </a:r>
            <a:endParaRPr lang="en-US" sz="3600" dirty="0"/>
          </a:p>
        </p:txBody>
      </p:sp>
      <p:sp>
        <p:nvSpPr>
          <p:cNvPr id="9" name="Text 7"/>
          <p:cNvSpPr/>
          <p:nvPr/>
        </p:nvSpPr>
        <p:spPr>
          <a:xfrm>
            <a:off x="8473288" y="2834640"/>
            <a:ext cx="2011680" cy="548640"/>
          </a:xfrm>
          <a:prstGeom prst="rect">
            <a:avLst/>
          </a:prstGeom>
          <a:noFill/>
        </p:spPr>
        <p:txBody>
          <a:bodyPr wrap="square" lIns="0" tIns="0" rIns="0" bIns="0" rtlCol="0" anchor="ctr"/>
          <a:lstStyle/>
          <a:p>
            <a:pPr marL="0" indent="0" algn="ctr">
              <a:buNone/>
            </a:pPr>
            <a:r>
              <a:rPr lang="en-US" sz="1200" dirty="0">
                <a:solidFill>
                  <a:srgbClr val="005BAC"/>
                </a:solidFill>
                <a:latin typeface="Calibri" panose="020F0502020204030204" pitchFamily="34" charset="0"/>
                <a:ea typeface="Calibri" panose="020F0502020204030204" pitchFamily="34" charset="-122"/>
                <a:cs typeface="Calibri" panose="020F0502020204030204" pitchFamily="34" charset="-120"/>
              </a:rPr>
              <a:t>Points de mesure collectés</a:t>
            </a:r>
            <a:endParaRPr lang="en-US" sz="1200" dirty="0"/>
          </a:p>
        </p:txBody>
      </p:sp>
      <p:sp>
        <p:nvSpPr>
          <p:cNvPr id="10" name="Shape 8"/>
          <p:cNvSpPr/>
          <p:nvPr/>
        </p:nvSpPr>
        <p:spPr>
          <a:xfrm>
            <a:off x="7315200" y="4389120"/>
            <a:ext cx="1320698" cy="868680"/>
          </a:xfrm>
          <a:prstGeom prst="roundRect">
            <a:avLst>
              <a:gd name="adj" fmla="val 7368"/>
            </a:avLst>
          </a:prstGeom>
          <a:solidFill>
            <a:srgbClr val="EFF6FF"/>
          </a:solidFill>
          <a:ln w="12700">
            <a:solidFill>
              <a:srgbClr val="DBEAFE"/>
            </a:solidFill>
            <a:prstDash val="solid"/>
          </a:ln>
        </p:spPr>
      </p:sp>
      <p:sp>
        <p:nvSpPr>
          <p:cNvPr id="11" name="Text 9"/>
          <p:cNvSpPr/>
          <p:nvPr/>
        </p:nvSpPr>
        <p:spPr>
          <a:xfrm>
            <a:off x="7315200" y="4498848"/>
            <a:ext cx="1320698" cy="320040"/>
          </a:xfrm>
          <a:prstGeom prst="rect">
            <a:avLst/>
          </a:prstGeom>
          <a:noFill/>
        </p:spPr>
        <p:txBody>
          <a:bodyPr wrap="square" lIns="0" tIns="0" rIns="0" bIns="0" rtlCol="0" anchor="ctr"/>
          <a:lstStyle/>
          <a:p>
            <a:pPr marL="0" indent="0" algn="ctr">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Collecte</a:t>
            </a:r>
            <a:endParaRPr lang="en-US" sz="1250" dirty="0"/>
          </a:p>
        </p:txBody>
      </p:sp>
      <p:sp>
        <p:nvSpPr>
          <p:cNvPr id="12" name="Text 10"/>
          <p:cNvSpPr/>
          <p:nvPr/>
        </p:nvSpPr>
        <p:spPr>
          <a:xfrm>
            <a:off x="7315200" y="4828032"/>
            <a:ext cx="1320698" cy="320040"/>
          </a:xfrm>
          <a:prstGeom prst="rect">
            <a:avLst/>
          </a:prstGeom>
          <a:noFill/>
        </p:spPr>
        <p:txBody>
          <a:bodyPr wrap="square" lIns="0" tIns="0" rIns="0" bIns="0" rtlCol="0" anchor="ctr"/>
          <a:lstStyle/>
          <a:p>
            <a:pPr marL="0" indent="0" algn="ctr">
              <a:buNone/>
            </a:pPr>
            <a:r>
              <a:rPr lang="en-US" sz="1050" dirty="0">
                <a:solidFill>
                  <a:srgbClr val="334155"/>
                </a:solidFill>
                <a:latin typeface="Calibri" panose="020F0502020204030204" pitchFamily="34" charset="0"/>
                <a:ea typeface="Calibri" panose="020F0502020204030204" pitchFamily="34" charset="-122"/>
                <a:cs typeface="Calibri" panose="020F0502020204030204" pitchFamily="34" charset="-120"/>
              </a:rPr>
              <a:t>30-50 km/h</a:t>
            </a:r>
            <a:endParaRPr lang="en-US" sz="1050" dirty="0"/>
          </a:p>
        </p:txBody>
      </p:sp>
      <p:sp>
        <p:nvSpPr>
          <p:cNvPr id="13" name="Text 11"/>
          <p:cNvSpPr/>
          <p:nvPr/>
        </p:nvSpPr>
        <p:spPr>
          <a:xfrm>
            <a:off x="8635898" y="4526280"/>
            <a:ext cx="182880" cy="548640"/>
          </a:xfrm>
          <a:prstGeom prst="rect">
            <a:avLst/>
          </a:prstGeom>
          <a:noFill/>
        </p:spPr>
        <p:txBody>
          <a:bodyPr wrap="square" lIns="0" tIns="0" rIns="0" bIns="0" rtlCol="0" anchor="ctr"/>
          <a:lstStyle/>
          <a:p>
            <a:pPr marL="0" indent="0" algn="ctr">
              <a:buNone/>
            </a:pPr>
            <a:r>
              <a:rPr lang="en-US" sz="1800" b="1" dirty="0">
                <a:solidFill>
                  <a:srgbClr val="0284C7"/>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4" name="Shape 12"/>
          <p:cNvSpPr/>
          <p:nvPr/>
        </p:nvSpPr>
        <p:spPr>
          <a:xfrm>
            <a:off x="8818778" y="4389120"/>
            <a:ext cx="1320698" cy="868680"/>
          </a:xfrm>
          <a:prstGeom prst="roundRect">
            <a:avLst>
              <a:gd name="adj" fmla="val 7368"/>
            </a:avLst>
          </a:prstGeom>
          <a:solidFill>
            <a:srgbClr val="EFF6FF"/>
          </a:solidFill>
          <a:ln w="12700">
            <a:solidFill>
              <a:srgbClr val="DBEAFE"/>
            </a:solidFill>
            <a:prstDash val="solid"/>
          </a:ln>
        </p:spPr>
      </p:sp>
      <p:sp>
        <p:nvSpPr>
          <p:cNvPr id="15" name="Text 13"/>
          <p:cNvSpPr/>
          <p:nvPr/>
        </p:nvSpPr>
        <p:spPr>
          <a:xfrm>
            <a:off x="8818778" y="4498848"/>
            <a:ext cx="1320698" cy="320040"/>
          </a:xfrm>
          <a:prstGeom prst="rect">
            <a:avLst/>
          </a:prstGeom>
          <a:noFill/>
        </p:spPr>
        <p:txBody>
          <a:bodyPr wrap="square" lIns="0" tIns="0" rIns="0" bIns="0" rtlCol="0" anchor="ctr"/>
          <a:lstStyle/>
          <a:p>
            <a:pPr marL="0" indent="0" algn="ctr">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Filtrage</a:t>
            </a:r>
            <a:endParaRPr lang="en-US" sz="1250" dirty="0"/>
          </a:p>
        </p:txBody>
      </p:sp>
      <p:sp>
        <p:nvSpPr>
          <p:cNvPr id="16" name="Text 14"/>
          <p:cNvSpPr/>
          <p:nvPr/>
        </p:nvSpPr>
        <p:spPr>
          <a:xfrm>
            <a:off x="8818778" y="4828032"/>
            <a:ext cx="1320698" cy="320040"/>
          </a:xfrm>
          <a:prstGeom prst="rect">
            <a:avLst/>
          </a:prstGeom>
          <a:noFill/>
        </p:spPr>
        <p:txBody>
          <a:bodyPr wrap="square" lIns="0" tIns="0" rIns="0" bIns="0" rtlCol="0" anchor="ctr"/>
          <a:lstStyle/>
          <a:p>
            <a:pPr marL="0" indent="0" algn="ctr">
              <a:buNone/>
            </a:pPr>
            <a:r>
              <a:rPr lang="en-US" sz="1050" dirty="0">
                <a:solidFill>
                  <a:srgbClr val="334155"/>
                </a:solidFill>
                <a:latin typeface="Calibri" panose="020F0502020204030204" pitchFamily="34" charset="0"/>
                <a:ea typeface="Calibri" panose="020F0502020204030204" pitchFamily="34" charset="-122"/>
                <a:cs typeface="Calibri" panose="020F0502020204030204" pitchFamily="34" charset="-120"/>
              </a:rPr>
              <a:t>Anomalies GPS</a:t>
            </a:r>
            <a:endParaRPr lang="en-US" sz="1050" dirty="0"/>
          </a:p>
        </p:txBody>
      </p:sp>
      <p:sp>
        <p:nvSpPr>
          <p:cNvPr id="17" name="Text 15"/>
          <p:cNvSpPr/>
          <p:nvPr/>
        </p:nvSpPr>
        <p:spPr>
          <a:xfrm>
            <a:off x="10139477" y="4526280"/>
            <a:ext cx="182880" cy="548640"/>
          </a:xfrm>
          <a:prstGeom prst="rect">
            <a:avLst/>
          </a:prstGeom>
          <a:noFill/>
        </p:spPr>
        <p:txBody>
          <a:bodyPr wrap="square" lIns="0" tIns="0" rIns="0" bIns="0" rtlCol="0" anchor="ctr"/>
          <a:lstStyle/>
          <a:p>
            <a:pPr marL="0" indent="0" algn="ctr">
              <a:buNone/>
            </a:pPr>
            <a:r>
              <a:rPr lang="en-US" sz="1800" b="1" dirty="0">
                <a:solidFill>
                  <a:srgbClr val="0284C7"/>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8" name="Shape 16"/>
          <p:cNvSpPr/>
          <p:nvPr/>
        </p:nvSpPr>
        <p:spPr>
          <a:xfrm>
            <a:off x="10322357" y="4389120"/>
            <a:ext cx="1320698" cy="868680"/>
          </a:xfrm>
          <a:prstGeom prst="roundRect">
            <a:avLst>
              <a:gd name="adj" fmla="val 7368"/>
            </a:avLst>
          </a:prstGeom>
          <a:solidFill>
            <a:srgbClr val="0369A1"/>
          </a:solidFill>
          <a:ln w="12700">
            <a:solidFill>
              <a:srgbClr val="DBEAFE"/>
            </a:solidFill>
            <a:prstDash val="solid"/>
          </a:ln>
        </p:spPr>
      </p:sp>
      <p:sp>
        <p:nvSpPr>
          <p:cNvPr id="19" name="Text 17"/>
          <p:cNvSpPr/>
          <p:nvPr/>
        </p:nvSpPr>
        <p:spPr>
          <a:xfrm>
            <a:off x="10322357" y="4498848"/>
            <a:ext cx="1320698" cy="320040"/>
          </a:xfrm>
          <a:prstGeom prst="rect">
            <a:avLst/>
          </a:prstGeom>
          <a:noFill/>
        </p:spPr>
        <p:txBody>
          <a:bodyPr wrap="square" lIns="0" tIns="0" rIns="0" bIns="0" rtlCol="0" anchor="ctr"/>
          <a:lstStyle/>
          <a:p>
            <a:pPr marL="0" indent="0" algn="ctr">
              <a:buNone/>
            </a:pPr>
            <a:r>
              <a:rPr lang="en-US" sz="1250" b="1" dirty="0">
                <a:solidFill>
                  <a:srgbClr val="F8FAFC"/>
                </a:solidFill>
                <a:latin typeface="Calibri" panose="020F0502020204030204" pitchFamily="34" charset="0"/>
                <a:ea typeface="Calibri" panose="020F0502020204030204" pitchFamily="34" charset="-122"/>
                <a:cs typeface="Calibri" panose="020F0502020204030204" pitchFamily="34" charset="-120"/>
              </a:rPr>
              <a:t>Import Atoll</a:t>
            </a:r>
            <a:endParaRPr lang="en-US" sz="1250" dirty="0"/>
          </a:p>
        </p:txBody>
      </p:sp>
      <p:sp>
        <p:nvSpPr>
          <p:cNvPr id="20" name="Text 18"/>
          <p:cNvSpPr/>
          <p:nvPr/>
        </p:nvSpPr>
        <p:spPr>
          <a:xfrm>
            <a:off x="10322357" y="4828032"/>
            <a:ext cx="1320698" cy="320040"/>
          </a:xfrm>
          <a:prstGeom prst="rect">
            <a:avLst/>
          </a:prstGeom>
          <a:noFill/>
        </p:spPr>
        <p:txBody>
          <a:bodyPr wrap="square" lIns="0" tIns="0" rIns="0" bIns="0" rtlCol="0" anchor="ctr"/>
          <a:lstStyle/>
          <a:p>
            <a:pPr marL="0" indent="0" algn="ctr">
              <a:buNone/>
            </a:pPr>
            <a:r>
              <a:rPr lang="en-US" sz="1050" dirty="0">
                <a:solidFill>
                  <a:srgbClr val="F8FAFC"/>
                </a:solidFill>
                <a:latin typeface="Calibri" panose="020F0502020204030204" pitchFamily="34" charset="0"/>
                <a:ea typeface="Calibri" panose="020F0502020204030204" pitchFamily="34" charset="-122"/>
                <a:cs typeface="Calibri" panose="020F0502020204030204" pitchFamily="34" charset="-120"/>
              </a:rPr>
              <a:t>Format CSV</a:t>
            </a:r>
            <a:endParaRPr lang="en-US" sz="1050" dirty="0"/>
          </a:p>
        </p:txBody>
      </p:sp>
      <p:sp>
        <p:nvSpPr>
          <p:cNvPr id="21" name="Text 19"/>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8</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Modèles de propagation : 3GPP vs SPM</a:t>
            </a:r>
            <a:endParaRPr lang="en-US" sz="2800" dirty="0"/>
          </a:p>
        </p:txBody>
      </p:sp>
      <p:sp>
        <p:nvSpPr>
          <p:cNvPr id="3" name="Text 1"/>
          <p:cNvSpPr/>
          <p:nvPr/>
        </p:nvSpPr>
        <p:spPr>
          <a:xfrm>
            <a:off x="548640" y="1234440"/>
            <a:ext cx="11094415" cy="365760"/>
          </a:xfrm>
          <a:prstGeom prst="rect">
            <a:avLst/>
          </a:prstGeom>
          <a:noFill/>
        </p:spPr>
        <p:txBody>
          <a:bodyPr wrap="square" lIns="0" tIns="0" rIns="0" bIns="0" rtlCol="0" anchor="ctr"/>
          <a:lstStyle/>
          <a:p>
            <a:pPr marL="0" indent="0">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Évaluation des modèles par défaut avant calibration par rapport aux mesures de terrain (Oran).</a:t>
            </a:r>
            <a:endParaRPr lang="en-US" sz="1300" dirty="0"/>
          </a:p>
        </p:txBody>
      </p:sp>
      <p:graphicFrame>
        <p:nvGraphicFramePr>
          <p:cNvPr id="10" name="Table 0"/>
          <p:cNvGraphicFramePr>
            <a:graphicFrameLocks noGrp="1"/>
          </p:cNvGraphicFramePr>
          <p:nvPr/>
        </p:nvGraphicFramePr>
        <p:xfrm>
          <a:off x="548640" y="1737360"/>
          <a:ext cx="11094416" cy="2651760"/>
        </p:xfrm>
        <a:graphic>
          <a:graphicData uri="http://schemas.openxmlformats.org/drawingml/2006/table">
            <a:tbl>
              <a:tblPr/>
              <a:tblGrid>
                <a:gridCol w="3291840"/>
                <a:gridCol w="3901288"/>
                <a:gridCol w="3901288"/>
              </a:tblGrid>
              <a:tr h="530352">
                <a:tc>
                  <a:txBody>
                    <a:bodyPr/>
                    <a:lstStyle/>
                    <a:p>
                      <a:pPr marL="0" indent="0">
                        <a:buNone/>
                      </a:pPr>
                      <a:r>
                        <a:rPr lang="en-US" sz="1300" b="1" dirty="0">
                          <a:solidFill>
                            <a:srgbClr val="0284C7"/>
                          </a:solidFill>
                          <a:latin typeface="Calibri" panose="020F0502020204030204" pitchFamily="34" charset="0"/>
                          <a:ea typeface="Calibri" panose="020F0502020204030204" pitchFamily="34" charset="-122"/>
                          <a:cs typeface="Calibri" panose="020F0502020204030204" pitchFamily="34" charset="-120"/>
                        </a:rPr>
                        <a:t>Indicateur Statistique (SS-RSRP)</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300" b="1" dirty="0">
                          <a:solidFill>
                            <a:srgbClr val="0284C7"/>
                          </a:solidFill>
                          <a:latin typeface="Calibri" panose="020F0502020204030204" pitchFamily="34" charset="0"/>
                          <a:ea typeface="Calibri" panose="020F0502020204030204" pitchFamily="34" charset="-122"/>
                          <a:cs typeface="Calibri" panose="020F0502020204030204" pitchFamily="34" charset="-120"/>
                        </a:rPr>
                        <a:t>Modèle 3GPP TR 38.901 (UMa)</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300" b="1" dirty="0">
                          <a:solidFill>
                            <a:srgbClr val="0284C7"/>
                          </a:solidFill>
                          <a:latin typeface="Calibri" panose="020F0502020204030204" pitchFamily="34" charset="0"/>
                          <a:ea typeface="Calibri" panose="020F0502020204030204" pitchFamily="34" charset="-122"/>
                          <a:cs typeface="Calibri" panose="020F0502020204030204" pitchFamily="34" charset="-120"/>
                        </a:rPr>
                        <a:t>Modèle SPM (Initial)</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r>
              <a:tr h="530352">
                <a:tc>
                  <a:txBody>
                    <a:bodyP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Erreur Moyenne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11.48 dB</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300" b="1" dirty="0">
                          <a:solidFill>
                            <a:srgbClr val="0284C7"/>
                          </a:solidFill>
                          <a:latin typeface="Calibri" panose="020F0502020204030204" pitchFamily="34" charset="0"/>
                          <a:ea typeface="Calibri" panose="020F0502020204030204" pitchFamily="34" charset="-122"/>
                          <a:cs typeface="Calibri" panose="020F0502020204030204" pitchFamily="34" charset="-120"/>
                        </a:rPr>
                        <a:t>5.70 dB</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530352">
                <a:tc>
                  <a:txBody>
                    <a:bodyP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RMSE (Erreur Quadratique)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300" dirty="0">
                          <a:solidFill>
                            <a:srgbClr val="EF4444"/>
                          </a:solidFill>
                          <a:latin typeface="Calibri" panose="020F0502020204030204" pitchFamily="34" charset="0"/>
                          <a:ea typeface="Calibri" panose="020F0502020204030204" pitchFamily="34" charset="-122"/>
                          <a:cs typeface="Calibri" panose="020F0502020204030204" pitchFamily="34" charset="-120"/>
                        </a:rPr>
                        <a:t>17.22 dB</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300" b="1" dirty="0">
                          <a:solidFill>
                            <a:srgbClr val="0284C7"/>
                          </a:solidFill>
                          <a:latin typeface="Calibri" panose="020F0502020204030204" pitchFamily="34" charset="0"/>
                          <a:ea typeface="Calibri" panose="020F0502020204030204" pitchFamily="34" charset="-122"/>
                          <a:cs typeface="Calibri" panose="020F0502020204030204" pitchFamily="34" charset="-120"/>
                        </a:rPr>
                        <a:t>14.78 dB</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530352">
                <a:tc>
                  <a:txBody>
                    <a:bodyP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Corrélation avec mesures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300" dirty="0">
                          <a:solidFill>
                            <a:srgbClr val="0284C7"/>
                          </a:solidFill>
                          <a:latin typeface="Calibri" panose="020F0502020204030204" pitchFamily="34" charset="0"/>
                          <a:ea typeface="Calibri" panose="020F0502020204030204" pitchFamily="34" charset="-122"/>
                          <a:cs typeface="Calibri" panose="020F0502020204030204" pitchFamily="34" charset="-120"/>
                        </a:rPr>
                        <a:t>0.38</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0.17</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530352">
                <a:tc>
                  <a:txBody>
                    <a:bodyP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Comportement du modèle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Optimiste (Sous-estime les pertes)</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Conservateur (Sature plus vite)</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bl>
          </a:graphicData>
        </a:graphic>
      </p:graphicFrame>
      <p:sp>
        <p:nvSpPr>
          <p:cNvPr id="5" name="Shape 2"/>
          <p:cNvSpPr/>
          <p:nvPr/>
        </p:nvSpPr>
        <p:spPr>
          <a:xfrm>
            <a:off x="548640" y="4434840"/>
            <a:ext cx="11094415" cy="1371600"/>
          </a:xfrm>
          <a:prstGeom prst="roundRect">
            <a:avLst>
              <a:gd name="adj" fmla="val 4667"/>
            </a:avLst>
          </a:prstGeom>
          <a:solidFill>
            <a:srgbClr val="F0F4F8"/>
          </a:solidFill>
          <a:ln w="12700">
            <a:solidFill>
              <a:srgbClr val="DBEAFE"/>
            </a:solidFill>
            <a:prstDash val="solid"/>
          </a:ln>
        </p:spPr>
      </p:sp>
      <p:sp>
        <p:nvSpPr>
          <p:cNvPr id="6" name="Text 3"/>
          <p:cNvSpPr/>
          <p:nvPr/>
        </p:nvSpPr>
        <p:spPr>
          <a:xfrm>
            <a:off x="868680" y="4572000"/>
            <a:ext cx="10454335" cy="1097280"/>
          </a:xfrm>
          <a:prstGeom prst="rect">
            <a:avLst/>
          </a:prstGeom>
          <a:noFill/>
        </p:spPr>
        <p:txBody>
          <a:bodyPr wrap="square" lIns="0" tIns="0" rIns="0" bIns="0" rtlCol="0" anchor="ctr"/>
          <a:lstStyle/>
          <a:p>
            <a:pPr marL="0" indent="0">
              <a:buNone/>
            </a:pPr>
            <a:r>
              <a:rPr lang="en-US" sz="1300" b="1" dirty="0">
                <a:solidFill>
                  <a:srgbClr val="0284C7"/>
                </a:solidFill>
                <a:latin typeface="Calibri" panose="020F0502020204030204" pitchFamily="34" charset="0"/>
                <a:ea typeface="Calibri" panose="020F0502020204030204" pitchFamily="34" charset="-122"/>
                <a:cs typeface="Calibri" panose="020F0502020204030204" pitchFamily="34" charset="-120"/>
              </a:rPr>
              <a:t>Conclusion : </a:t>
            </a:r>
            <a:r>
              <a:rPr lang="en-US" sz="1300" dirty="0">
                <a:solidFill>
                  <a:srgbClr val="0F172A"/>
                </a:solidFill>
                <a:latin typeface="Calibri" panose="020F0502020204030204" pitchFamily="34" charset="0"/>
                <a:ea typeface="Calibri" panose="020F0502020204030204" pitchFamily="34" charset="-122"/>
                <a:cs typeface="Calibri" panose="020F0502020204030204" pitchFamily="34" charset="-120"/>
              </a:rPr>
              <a:t>Bien que la corrélation brute du 3GPP soit légèrement meilleure, le modèle SPM natif d'Atoll présente une erreur globale (RMSE) significativement plus faible (14.78 vs 17.22). Le SPM est donc logiquement retenu comme base de travail pour la phase de calibration fine.</a:t>
            </a:r>
            <a:endParaRPr lang="en-US" sz="1300" dirty="0"/>
          </a:p>
        </p:txBody>
      </p:sp>
      <p:sp>
        <p:nvSpPr>
          <p:cNvPr id="7" name="Text 4"/>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9</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Huawei (X) vs Ericsson (Y)</a:t>
            </a:r>
            <a:endParaRPr lang="en-US" sz="2800" dirty="0"/>
          </a:p>
        </p:txBody>
      </p:sp>
      <p:graphicFrame>
        <p:nvGraphicFramePr>
          <p:cNvPr id="11" name="Table 0"/>
          <p:cNvGraphicFramePr>
            <a:graphicFrameLocks noGrp="1"/>
          </p:cNvGraphicFramePr>
          <p:nvPr/>
        </p:nvGraphicFramePr>
        <p:xfrm>
          <a:off x="548640" y="1508760"/>
          <a:ext cx="5486400" cy="1508760"/>
        </p:xfrm>
        <a:graphic>
          <a:graphicData uri="http://schemas.openxmlformats.org/drawingml/2006/table">
            <a:tbl>
              <a:tblPr/>
              <a:tblGrid>
                <a:gridCol w="1463040"/>
                <a:gridCol w="2011680"/>
                <a:gridCol w="2011680"/>
              </a:tblGrid>
              <a:tr h="502920">
                <a:tc>
                  <a:txBody>
                    <a:bodyPr/>
                    <a:lstStyle/>
                    <a:p>
                      <a:pPr marL="0" indent="0">
                        <a:buNone/>
                      </a:pPr>
                      <a:r>
                        <a:rPr lang="en-US" sz="1250" b="1" dirty="0">
                          <a:solidFill>
                            <a:srgbClr val="0284C7"/>
                          </a:solidFill>
                          <a:latin typeface="Calibri" panose="020F0502020204030204" pitchFamily="34" charset="0"/>
                          <a:ea typeface="Calibri" panose="020F0502020204030204" pitchFamily="34" charset="-122"/>
                          <a:cs typeface="Calibri" panose="020F0502020204030204" pitchFamily="34" charset="-120"/>
                        </a:rPr>
                        <a:t>Paramètre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250" b="1" dirty="0">
                          <a:solidFill>
                            <a:srgbClr val="0284C7"/>
                          </a:solidFill>
                          <a:latin typeface="Calibri" panose="020F0502020204030204" pitchFamily="34" charset="0"/>
                          <a:ea typeface="Calibri" panose="020F0502020204030204" pitchFamily="34" charset="-122"/>
                          <a:cs typeface="Calibri" panose="020F0502020204030204" pitchFamily="34" charset="-120"/>
                        </a:rPr>
                        <a:t>Antenne X (Huawei)</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250" b="1" dirty="0">
                          <a:solidFill>
                            <a:srgbClr val="0284C7"/>
                          </a:solidFill>
                          <a:latin typeface="Calibri" panose="020F0502020204030204" pitchFamily="34" charset="0"/>
                          <a:ea typeface="Calibri" panose="020F0502020204030204" pitchFamily="34" charset="-122"/>
                          <a:cs typeface="Calibri" panose="020F0502020204030204" pitchFamily="34" charset="-120"/>
                        </a:rPr>
                        <a:t>Antenne Y (Ericsson)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r>
              <a:tr h="502920">
                <a:tc>
                  <a:txBody>
                    <a:bodyPr/>
                    <a:lstStyle/>
                    <a:p>
                      <a:pPr marL="0" indent="0">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Modèle</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tcPr>
                </a:tc>
                <a:tc>
                  <a:txBody>
                    <a:bodyPr/>
                    <a:lstStyle/>
                    <a:p>
                      <a:pPr marL="0" indent="0">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64x64</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tcPr>
                </a:tc>
                <a:tc>
                  <a:txBody>
                    <a:bodyPr/>
                    <a:lstStyle/>
                    <a:p>
                      <a:pPr marL="0" indent="0">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64Tx64R</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tcPr>
                </a:tc>
              </a:tr>
              <a:tr h="502920">
                <a:tc>
                  <a:txBody>
                    <a:bodyPr/>
                    <a:lstStyle/>
                    <a:p>
                      <a:pPr marL="0" indent="0">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Gain nominal</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tcPr>
                </a:tc>
                <a:tc>
                  <a:txBody>
                    <a:bodyPr/>
                    <a:lstStyle/>
                    <a:p>
                      <a:pPr marL="0" indent="0">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23.85 dBi</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tcPr>
                </a:tc>
                <a:tc>
                  <a:txBody>
                    <a:bodyPr/>
                    <a:lstStyle/>
                    <a:p>
                      <a:pPr marL="0" indent="0">
                        <a:buNone/>
                      </a:pPr>
                      <a:r>
                        <a:rPr lang="en-US" sz="1250" b="1" dirty="0">
                          <a:solidFill>
                            <a:srgbClr val="0284C7"/>
                          </a:solidFill>
                          <a:latin typeface="Calibri" panose="020F0502020204030204" pitchFamily="34" charset="0"/>
                          <a:ea typeface="Calibri" panose="020F0502020204030204" pitchFamily="34" charset="-122"/>
                          <a:cs typeface="Calibri" panose="020F0502020204030204" pitchFamily="34" charset="-120"/>
                        </a:rPr>
                        <a:t>25.0 dBi</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tcPr>
                </a:tc>
              </a:tr>
            </a:tbl>
          </a:graphicData>
        </a:graphic>
      </p:graphicFrame>
      <p:sp>
        <p:nvSpPr>
          <p:cNvPr id="4" name="Text 1"/>
          <p:cNvSpPr/>
          <p:nvPr/>
        </p:nvSpPr>
        <p:spPr>
          <a:xfrm>
            <a:off x="548640" y="3291840"/>
            <a:ext cx="5486400" cy="365760"/>
          </a:xfrm>
          <a:prstGeom prst="rect">
            <a:avLst/>
          </a:prstGeom>
          <a:noFill/>
        </p:spPr>
        <p:txBody>
          <a:bodyPr wrap="square" lIns="0" tIns="0" rIns="0" bIns="0" rtlCol="0" anchor="ctr"/>
          <a:lstStyle/>
          <a:p>
            <a:pPr marL="0" indent="0">
              <a:buNone/>
            </a:pPr>
            <a:r>
              <a:rPr lang="en-US" sz="1500" b="1" dirty="0">
                <a:solidFill>
                  <a:srgbClr val="0F172A"/>
                </a:solidFill>
                <a:latin typeface="Calibri" panose="020F0502020204030204" pitchFamily="34" charset="0"/>
                <a:ea typeface="Calibri" panose="020F0502020204030204" pitchFamily="34" charset="-122"/>
                <a:cs typeface="Calibri" panose="020F0502020204030204" pitchFamily="34" charset="-120"/>
              </a:rPr>
              <a:t>Performances de couverture &amp; Qualité</a:t>
            </a:r>
            <a:endParaRPr lang="en-US" sz="1500" dirty="0"/>
          </a:p>
        </p:txBody>
      </p:sp>
      <p:sp>
        <p:nvSpPr>
          <p:cNvPr id="5" name="Shape 2"/>
          <p:cNvSpPr/>
          <p:nvPr/>
        </p:nvSpPr>
        <p:spPr>
          <a:xfrm>
            <a:off x="548640" y="3703320"/>
            <a:ext cx="2606040" cy="1417320"/>
          </a:xfrm>
          <a:prstGeom prst="roundRect">
            <a:avLst>
              <a:gd name="adj" fmla="val 4516"/>
            </a:avLst>
          </a:prstGeom>
          <a:solidFill>
            <a:srgbClr val="F0F4F8"/>
          </a:solidFill>
          <a:ln w="12700">
            <a:solidFill>
              <a:srgbClr val="DBEAFE"/>
            </a:solidFill>
            <a:prstDash val="solid"/>
          </a:ln>
        </p:spPr>
      </p:sp>
      <p:sp>
        <p:nvSpPr>
          <p:cNvPr id="6" name="Text 3"/>
          <p:cNvSpPr/>
          <p:nvPr/>
        </p:nvSpPr>
        <p:spPr>
          <a:xfrm>
            <a:off x="685800" y="3840480"/>
            <a:ext cx="2331720" cy="320040"/>
          </a:xfrm>
          <a:prstGeom prst="rect">
            <a:avLst/>
          </a:prstGeom>
          <a:noFill/>
        </p:spPr>
        <p:txBody>
          <a:bodyPr wrap="square" lIns="0" tIns="0" rIns="0" bIns="0"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Surface Utile RSRP (km²)</a:t>
            </a:r>
            <a:endParaRPr lang="en-US" sz="1100" dirty="0"/>
          </a:p>
        </p:txBody>
      </p:sp>
      <p:sp>
        <p:nvSpPr>
          <p:cNvPr id="7" name="Text 4"/>
          <p:cNvSpPr/>
          <p:nvPr/>
        </p:nvSpPr>
        <p:spPr>
          <a:xfrm>
            <a:off x="685800" y="4206240"/>
            <a:ext cx="2331720" cy="640080"/>
          </a:xfrm>
          <a:prstGeom prst="rect">
            <a:avLst/>
          </a:prstGeom>
          <a:noFill/>
        </p:spPr>
        <p:txBody>
          <a:bodyPr wrap="square" lIns="0" tIns="0" rIns="0" bIns="0" rtlCol="0" anchor="ctr"/>
          <a:lstStyle/>
          <a:p>
            <a:pPr marL="0" indent="0">
              <a:buNone/>
            </a:pPr>
            <a:r>
              <a:rPr lang="en-US" sz="1700" b="1" dirty="0">
                <a:solidFill>
                  <a:srgbClr val="0284C7"/>
                </a:solidFill>
                <a:latin typeface="Calibri" panose="020F0502020204030204" pitchFamily="34" charset="0"/>
                <a:ea typeface="Calibri" panose="020F0502020204030204" pitchFamily="34" charset="-122"/>
                <a:cs typeface="Calibri" panose="020F0502020204030204" pitchFamily="34" charset="-120"/>
              </a:rPr>
              <a:t>Hu: 0.55</a:t>
            </a:r>
            <a:r>
              <a:rPr lang="en-US" sz="1700" dirty="0">
                <a:solidFill>
                  <a:srgbClr val="64748B"/>
                </a:solidFill>
                <a:latin typeface="Calibri" panose="020F0502020204030204" pitchFamily="34" charset="0"/>
                <a:ea typeface="Calibri" panose="020F0502020204030204" pitchFamily="34" charset="-122"/>
                <a:cs typeface="Calibri" panose="020F0502020204030204" pitchFamily="34" charset="-120"/>
              </a:rPr>
              <a:t>  |  </a:t>
            </a:r>
            <a:r>
              <a:rPr lang="en-US" sz="1700" b="1" dirty="0">
                <a:solidFill>
                  <a:srgbClr val="F59E0B"/>
                </a:solidFill>
                <a:latin typeface="Calibri" panose="020F0502020204030204" pitchFamily="34" charset="0"/>
                <a:ea typeface="Calibri" panose="020F0502020204030204" pitchFamily="34" charset="-122"/>
                <a:cs typeface="Calibri" panose="020F0502020204030204" pitchFamily="34" charset="-120"/>
              </a:rPr>
              <a:t>Er: 0.025</a:t>
            </a:r>
            <a:endParaRPr lang="en-US" sz="1700" dirty="0"/>
          </a:p>
        </p:txBody>
      </p:sp>
      <p:sp>
        <p:nvSpPr>
          <p:cNvPr id="8" name="Shape 5"/>
          <p:cNvSpPr/>
          <p:nvPr/>
        </p:nvSpPr>
        <p:spPr>
          <a:xfrm>
            <a:off x="3429000" y="3703320"/>
            <a:ext cx="2606040" cy="1417320"/>
          </a:xfrm>
          <a:prstGeom prst="roundRect">
            <a:avLst>
              <a:gd name="adj" fmla="val 4516"/>
            </a:avLst>
          </a:prstGeom>
          <a:solidFill>
            <a:srgbClr val="F0F4F8"/>
          </a:solidFill>
          <a:ln w="12700">
            <a:solidFill>
              <a:srgbClr val="DBEAFE"/>
            </a:solidFill>
            <a:prstDash val="solid"/>
          </a:ln>
        </p:spPr>
      </p:sp>
      <p:sp>
        <p:nvSpPr>
          <p:cNvPr id="9" name="Text 6"/>
          <p:cNvSpPr/>
          <p:nvPr/>
        </p:nvSpPr>
        <p:spPr>
          <a:xfrm>
            <a:off x="3566160" y="3840480"/>
            <a:ext cx="2331720" cy="320040"/>
          </a:xfrm>
          <a:prstGeom prst="rect">
            <a:avLst/>
          </a:prstGeom>
          <a:noFill/>
        </p:spPr>
        <p:txBody>
          <a:bodyPr wrap="square" lIns="0" tIns="0" rIns="0" bIns="0"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PDSCH C/(I+N) Moyen (dB)</a:t>
            </a:r>
            <a:endParaRPr lang="en-US" sz="1100" dirty="0"/>
          </a:p>
        </p:txBody>
      </p:sp>
      <p:sp>
        <p:nvSpPr>
          <p:cNvPr id="10" name="Text 7"/>
          <p:cNvSpPr/>
          <p:nvPr/>
        </p:nvSpPr>
        <p:spPr>
          <a:xfrm>
            <a:off x="3566160" y="4206240"/>
            <a:ext cx="2331720" cy="640080"/>
          </a:xfrm>
          <a:prstGeom prst="rect">
            <a:avLst/>
          </a:prstGeom>
          <a:noFill/>
        </p:spPr>
        <p:txBody>
          <a:bodyPr wrap="square" lIns="0" tIns="0" rIns="0" bIns="0" rtlCol="0" anchor="ctr"/>
          <a:lstStyle/>
          <a:p>
            <a:pPr marL="0" indent="0">
              <a:buNone/>
            </a:pPr>
            <a:r>
              <a:rPr lang="en-US" sz="1700" b="1" dirty="0">
                <a:solidFill>
                  <a:srgbClr val="0284C7"/>
                </a:solidFill>
                <a:latin typeface="Calibri" panose="020F0502020204030204" pitchFamily="34" charset="0"/>
                <a:ea typeface="Calibri" panose="020F0502020204030204" pitchFamily="34" charset="-122"/>
                <a:cs typeface="Calibri" panose="020F0502020204030204" pitchFamily="34" charset="-120"/>
              </a:rPr>
              <a:t>Hu: 39.6</a:t>
            </a:r>
            <a:r>
              <a:rPr lang="en-US" sz="1700" dirty="0">
                <a:solidFill>
                  <a:srgbClr val="64748B"/>
                </a:solidFill>
                <a:latin typeface="Calibri" panose="020F0502020204030204" pitchFamily="34" charset="0"/>
                <a:ea typeface="Calibri" panose="020F0502020204030204" pitchFamily="34" charset="-122"/>
                <a:cs typeface="Calibri" panose="020F0502020204030204" pitchFamily="34" charset="-120"/>
              </a:rPr>
              <a:t>  |  </a:t>
            </a:r>
            <a:r>
              <a:rPr lang="en-US" sz="1700" b="1" dirty="0">
                <a:solidFill>
                  <a:srgbClr val="F59E0B"/>
                </a:solidFill>
                <a:latin typeface="Calibri" panose="020F0502020204030204" pitchFamily="34" charset="0"/>
                <a:ea typeface="Calibri" panose="020F0502020204030204" pitchFamily="34" charset="-122"/>
                <a:cs typeface="Calibri" panose="020F0502020204030204" pitchFamily="34" charset="-120"/>
              </a:rPr>
              <a:t>Er: 32.68</a:t>
            </a:r>
            <a:endParaRPr lang="en-US" sz="1700" dirty="0"/>
          </a:p>
        </p:txBody>
      </p:sp>
      <p:sp>
        <p:nvSpPr>
          <p:cNvPr id="3" name="Text 8"/>
          <p:cNvSpPr/>
          <p:nvPr/>
        </p:nvSpPr>
        <p:spPr>
          <a:xfrm>
            <a:off x="6309360" y="4754880"/>
            <a:ext cx="5242255" cy="365760"/>
          </a:xfrm>
          <a:prstGeom prst="rect">
            <a:avLst/>
          </a:prstGeom>
          <a:noFill/>
        </p:spPr>
        <p:txBody>
          <a:bodyPr wrap="square" lIns="0" tIns="0" rIns="0" bIns="0" rtlCol="0" anchor="ctr"/>
          <a:lstStyle/>
          <a:p>
            <a:pPr marL="0" indent="0">
              <a:buNone/>
            </a:pPr>
            <a:r>
              <a:rPr lang="en-US" sz="1600" b="1" dirty="0">
                <a:solidFill>
                  <a:srgbClr val="0F172A"/>
                </a:solidFill>
                <a:latin typeface="Calibri" panose="020F0502020204030204" pitchFamily="34" charset="0"/>
                <a:ea typeface="Calibri" panose="020F0502020204030204" pitchFamily="34" charset="-122"/>
                <a:cs typeface="Calibri" panose="020F0502020204030204" pitchFamily="34" charset="-120"/>
              </a:rPr>
              <a:t>Synthèse Comparative</a:t>
            </a:r>
            <a:endParaRPr lang="en-US" sz="1600" dirty="0"/>
          </a:p>
        </p:txBody>
      </p:sp>
      <p:sp>
        <p:nvSpPr>
          <p:cNvPr id="12" name="Text 9"/>
          <p:cNvSpPr/>
          <p:nvPr/>
        </p:nvSpPr>
        <p:spPr>
          <a:xfrm>
            <a:off x="6309360" y="4892040"/>
            <a:ext cx="5242255" cy="1828800"/>
          </a:xfrm>
          <a:prstGeom prst="rect">
            <a:avLst/>
          </a:prstGeom>
          <a:noFill/>
        </p:spPr>
        <p:txBody>
          <a:bodyPr wrap="square" lIns="0" tIns="0" rIns="0" bIns="0" rtlCol="0" anchor="ctr"/>
          <a:lstStyle/>
          <a:p>
            <a:pPr marL="0" indent="0">
              <a:spcAft>
                <a:spcPts val="1400"/>
              </a:spcAft>
              <a:buSzPct val="10000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Huawei : </a:t>
            </a: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Diagramme de rayonnement très homogène. Couverture géographique large (0.55 km²) et excellente réjection d'interférence (CINR ~40 dB).</a:t>
            </a:r>
            <a:endParaRPr lang="en-US" sz="1300" dirty="0"/>
          </a:p>
          <a:p>
            <a:pPr marL="0" indent="0">
              <a:spcAft>
                <a:spcPts val="1400"/>
              </a:spcAft>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Ericsson : </a:t>
            </a: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Faisceau extrêmement focalisé. Signal nominalement plus fort (gain 25 dBi) mais sur une portée géographique restreinte (0.025 km²).</a:t>
            </a:r>
            <a:endParaRPr lang="en-US" sz="1300" dirty="0"/>
          </a:p>
        </p:txBody>
      </p:sp>
      <p:sp>
        <p:nvSpPr>
          <p:cNvPr id="13" name="Shape 10"/>
          <p:cNvSpPr/>
          <p:nvPr/>
        </p:nvSpPr>
        <p:spPr>
          <a:xfrm>
            <a:off x="548640" y="5166360"/>
            <a:ext cx="5242255" cy="1280160"/>
          </a:xfrm>
          <a:prstGeom prst="roundRect">
            <a:avLst>
              <a:gd name="adj" fmla="val 5000"/>
            </a:avLst>
          </a:prstGeom>
          <a:solidFill>
            <a:srgbClr val="F0F4F8"/>
          </a:solidFill>
          <a:ln w="12700">
            <a:solidFill>
              <a:srgbClr val="DBEAFE"/>
            </a:solidFill>
            <a:prstDash val="solid"/>
          </a:ln>
        </p:spPr>
      </p:sp>
      <p:sp>
        <p:nvSpPr>
          <p:cNvPr id="14" name="Text 11"/>
          <p:cNvSpPr/>
          <p:nvPr/>
        </p:nvSpPr>
        <p:spPr>
          <a:xfrm>
            <a:off x="685800" y="5372100"/>
            <a:ext cx="4693615" cy="1005840"/>
          </a:xfrm>
          <a:prstGeom prst="rect">
            <a:avLst/>
          </a:prstGeom>
          <a:noFill/>
        </p:spPr>
        <p:txBody>
          <a:bodyPr wrap="square" lIns="0" tIns="0" rIns="0" bIns="0" rtlCol="0" anchor="ctr"/>
          <a:lstStyle/>
          <a:p>
            <a:pPr marL="0" indent="0">
              <a:buNone/>
            </a:pPr>
            <a:r>
              <a:rPr lang="en-US" sz="1250" b="1" dirty="0">
                <a:solidFill>
                  <a:srgbClr val="0284C7"/>
                </a:solidFill>
                <a:latin typeface="Calibri" panose="020F0502020204030204" pitchFamily="34" charset="0"/>
                <a:ea typeface="Calibri" panose="020F0502020204030204" pitchFamily="34" charset="-122"/>
                <a:cs typeface="Calibri" panose="020F0502020204030204" pitchFamily="34" charset="-120"/>
              </a:rPr>
              <a:t>Déploiement mixte justifié : </a:t>
            </a:r>
            <a:r>
              <a:rPr lang="en-US" sz="1250" dirty="0">
                <a:solidFill>
                  <a:srgbClr val="0F172A"/>
                </a:solidFill>
                <a:latin typeface="Calibri" panose="020F0502020204030204" pitchFamily="34" charset="0"/>
                <a:ea typeface="Calibri" panose="020F0502020204030204" pitchFamily="34" charset="-122"/>
                <a:cs typeface="Calibri" panose="020F0502020204030204" pitchFamily="34" charset="-120"/>
              </a:rPr>
              <a:t>Huawei pour la macro-couverture urbaine, Ericsson pour les micro-hotspots capacitifs.</a:t>
            </a:r>
            <a:endParaRPr lang="en-US" sz="1250" dirty="0"/>
          </a:p>
        </p:txBody>
      </p:sp>
      <p:sp>
        <p:nvSpPr>
          <p:cNvPr id="15" name="Text 12"/>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10</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pic>
        <p:nvPicPr>
          <p:cNvPr id="16" name="Image 15"/>
          <p:cNvPicPr/>
          <p:nvPr/>
        </p:nvPicPr>
        <p:blipFill>
          <a:blip r:embed="rId1"/>
          <a:srcRect l="4070" t="12032"/>
          <a:stretch>
            <a:fillRect/>
          </a:stretch>
        </p:blipFill>
        <p:spPr>
          <a:xfrm>
            <a:off x="6309360" y="1508760"/>
            <a:ext cx="4429760" cy="32461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Calibration du modèle SPM</a:t>
            </a:r>
            <a:endParaRPr lang="en-US" sz="2800" dirty="0"/>
          </a:p>
        </p:txBody>
      </p:sp>
      <p:sp>
        <p:nvSpPr>
          <p:cNvPr id="3" name="Text 1"/>
          <p:cNvSpPr/>
          <p:nvPr/>
        </p:nvSpPr>
        <p:spPr>
          <a:xfrm>
            <a:off x="731520" y="1280160"/>
            <a:ext cx="10728655" cy="640080"/>
          </a:xfrm>
          <a:prstGeom prst="rect">
            <a:avLst/>
          </a:prstGeom>
          <a:noFill/>
        </p:spPr>
        <p:txBody>
          <a:bodyPr wrap="square" lIns="0" tIns="0" rIns="0" bIns="0" rtlCol="0" anchor="ctr"/>
          <a:lstStyle/>
          <a:p>
            <a:pPr marL="0" indent="0" algn="ctr">
              <a:buNone/>
            </a:pPr>
            <a:r>
              <a:rPr lang="en-US" sz="1350" dirty="0">
                <a:solidFill>
                  <a:srgbClr val="334155"/>
                </a:solidFill>
                <a:latin typeface="Calibri" panose="020F0502020204030204" pitchFamily="34" charset="0"/>
                <a:ea typeface="Calibri" panose="020F0502020204030204" pitchFamily="34" charset="-122"/>
                <a:cs typeface="Calibri" panose="020F0502020204030204" pitchFamily="34" charset="-120"/>
              </a:rPr>
              <a:t>Ajustement itératif des coefficients empiriques (K1 à K7) du modèle SPM pour correspondre aux 2987 points valides mesurés à Oran.</a:t>
            </a:r>
            <a:endParaRPr lang="en-US" sz="1350" dirty="0"/>
          </a:p>
        </p:txBody>
      </p:sp>
      <p:sp>
        <p:nvSpPr>
          <p:cNvPr id="4" name="Shape 2"/>
          <p:cNvSpPr/>
          <p:nvPr/>
        </p:nvSpPr>
        <p:spPr>
          <a:xfrm>
            <a:off x="1188720" y="3657600"/>
            <a:ext cx="9814255" cy="0"/>
          </a:xfrm>
          <a:prstGeom prst="line">
            <a:avLst/>
          </a:prstGeom>
          <a:noFill/>
          <a:ln w="25400">
            <a:solidFill>
              <a:srgbClr val="DBEAFE"/>
            </a:solidFill>
            <a:prstDash val="solid"/>
          </a:ln>
        </p:spPr>
      </p:sp>
      <p:sp>
        <p:nvSpPr>
          <p:cNvPr id="5" name="Shape 3"/>
          <p:cNvSpPr/>
          <p:nvPr/>
        </p:nvSpPr>
        <p:spPr>
          <a:xfrm>
            <a:off x="1069848" y="3538728"/>
            <a:ext cx="237744" cy="237744"/>
          </a:xfrm>
          <a:prstGeom prst="ellipse">
            <a:avLst/>
          </a:prstGeom>
          <a:solidFill>
            <a:srgbClr val="F8FAFC"/>
          </a:solidFill>
          <a:ln w="31750">
            <a:solidFill>
              <a:srgbClr val="0284C7"/>
            </a:solidFill>
            <a:prstDash val="solid"/>
          </a:ln>
        </p:spPr>
      </p:sp>
      <p:sp>
        <p:nvSpPr>
          <p:cNvPr id="6" name="Text 4"/>
          <p:cNvSpPr/>
          <p:nvPr/>
        </p:nvSpPr>
        <p:spPr>
          <a:xfrm>
            <a:off x="182880" y="3886200"/>
            <a:ext cx="2011680" cy="365760"/>
          </a:xfrm>
          <a:prstGeom prst="rect">
            <a:avLst/>
          </a:prstGeom>
          <a:noFill/>
        </p:spPr>
        <p:txBody>
          <a:bodyPr wrap="square" lIns="0" tIns="0" rIns="0" bIns="0" rtlCol="0" anchor="ctr"/>
          <a:lstStyle/>
          <a:p>
            <a:pPr marL="0" indent="0" algn="ctr">
              <a:buNone/>
            </a:pPr>
            <a:r>
              <a:rPr lang="en-US" sz="1400" b="1" dirty="0">
                <a:solidFill>
                  <a:srgbClr val="0F172A"/>
                </a:solidFill>
                <a:latin typeface="Calibri" panose="020F0502020204030204" pitchFamily="34" charset="0"/>
                <a:ea typeface="Calibri" panose="020F0502020204030204" pitchFamily="34" charset="-122"/>
                <a:cs typeface="Calibri" panose="020F0502020204030204" pitchFamily="34" charset="-120"/>
              </a:rPr>
              <a:t>1. Import</a:t>
            </a:r>
            <a:endParaRPr lang="en-US" sz="1400" dirty="0"/>
          </a:p>
        </p:txBody>
      </p:sp>
      <p:sp>
        <p:nvSpPr>
          <p:cNvPr id="7" name="Text 5"/>
          <p:cNvSpPr/>
          <p:nvPr/>
        </p:nvSpPr>
        <p:spPr>
          <a:xfrm>
            <a:off x="182880" y="4251960"/>
            <a:ext cx="2011680" cy="502920"/>
          </a:xfrm>
          <a:prstGeom prst="rect">
            <a:avLst/>
          </a:prstGeom>
          <a:noFill/>
        </p:spPr>
        <p:txBody>
          <a:bodyPr wrap="square" lIns="0" tIns="0" rIns="0" bIns="0" rtlCol="0" anchor="ct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Données DT CW dans Atoll.</a:t>
            </a:r>
            <a:endParaRPr lang="en-US" sz="1100" dirty="0"/>
          </a:p>
        </p:txBody>
      </p:sp>
      <p:sp>
        <p:nvSpPr>
          <p:cNvPr id="8" name="Shape 6"/>
          <p:cNvSpPr/>
          <p:nvPr/>
        </p:nvSpPr>
        <p:spPr>
          <a:xfrm>
            <a:off x="3523412" y="3538728"/>
            <a:ext cx="237744" cy="237744"/>
          </a:xfrm>
          <a:prstGeom prst="ellipse">
            <a:avLst/>
          </a:prstGeom>
          <a:solidFill>
            <a:srgbClr val="F8FAFC"/>
          </a:solidFill>
          <a:ln w="31750">
            <a:solidFill>
              <a:srgbClr val="0284C7"/>
            </a:solidFill>
            <a:prstDash val="solid"/>
          </a:ln>
        </p:spPr>
      </p:sp>
      <p:sp>
        <p:nvSpPr>
          <p:cNvPr id="9" name="Text 7"/>
          <p:cNvSpPr/>
          <p:nvPr/>
        </p:nvSpPr>
        <p:spPr>
          <a:xfrm>
            <a:off x="2636444" y="2606040"/>
            <a:ext cx="2011680" cy="365760"/>
          </a:xfrm>
          <a:prstGeom prst="rect">
            <a:avLst/>
          </a:prstGeom>
          <a:noFill/>
        </p:spPr>
        <p:txBody>
          <a:bodyPr wrap="square" lIns="0" tIns="0" rIns="0" bIns="0" rtlCol="0" anchor="ctr"/>
          <a:lstStyle/>
          <a:p>
            <a:pPr marL="0" indent="0" algn="ctr">
              <a:buNone/>
            </a:pPr>
            <a:r>
              <a:rPr lang="en-US" sz="1400" b="1" dirty="0">
                <a:solidFill>
                  <a:srgbClr val="0284C7"/>
                </a:solidFill>
                <a:latin typeface="Calibri" panose="020F0502020204030204" pitchFamily="34" charset="0"/>
                <a:ea typeface="Calibri" panose="020F0502020204030204" pitchFamily="34" charset="-122"/>
                <a:cs typeface="Calibri" panose="020F0502020204030204" pitchFamily="34" charset="-120"/>
              </a:rPr>
              <a:t>2. Filtrage</a:t>
            </a:r>
            <a:endParaRPr lang="en-US" sz="1400" dirty="0"/>
          </a:p>
        </p:txBody>
      </p:sp>
      <p:sp>
        <p:nvSpPr>
          <p:cNvPr id="10" name="Text 8"/>
          <p:cNvSpPr/>
          <p:nvPr/>
        </p:nvSpPr>
        <p:spPr>
          <a:xfrm>
            <a:off x="2636444" y="3017520"/>
            <a:ext cx="2011680" cy="502920"/>
          </a:xfrm>
          <a:prstGeom prst="rect">
            <a:avLst/>
          </a:prstGeom>
          <a:noFill/>
        </p:spPr>
        <p:txBody>
          <a:bodyPr wrap="square" lIns="0" tIns="0" rIns="0" bIns="0" rtlCol="0" anchor="ct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Exclusion RSRP &lt; -105 dBm, Dist &gt; 350m.</a:t>
            </a:r>
            <a:endParaRPr lang="en-US" sz="1100" dirty="0"/>
          </a:p>
        </p:txBody>
      </p:sp>
      <p:sp>
        <p:nvSpPr>
          <p:cNvPr id="11" name="Shape 9"/>
          <p:cNvSpPr/>
          <p:nvPr/>
        </p:nvSpPr>
        <p:spPr>
          <a:xfrm>
            <a:off x="5976976" y="3538728"/>
            <a:ext cx="237744" cy="237744"/>
          </a:xfrm>
          <a:prstGeom prst="ellipse">
            <a:avLst/>
          </a:prstGeom>
          <a:solidFill>
            <a:srgbClr val="F8FAFC"/>
          </a:solidFill>
          <a:ln w="31750">
            <a:solidFill>
              <a:srgbClr val="0284C7"/>
            </a:solidFill>
            <a:prstDash val="solid"/>
          </a:ln>
        </p:spPr>
      </p:sp>
      <p:sp>
        <p:nvSpPr>
          <p:cNvPr id="12" name="Text 10"/>
          <p:cNvSpPr/>
          <p:nvPr/>
        </p:nvSpPr>
        <p:spPr>
          <a:xfrm>
            <a:off x="5090008" y="3886200"/>
            <a:ext cx="2011680" cy="365760"/>
          </a:xfrm>
          <a:prstGeom prst="rect">
            <a:avLst/>
          </a:prstGeom>
          <a:noFill/>
        </p:spPr>
        <p:txBody>
          <a:bodyPr wrap="square" lIns="0" tIns="0" rIns="0" bIns="0" rtlCol="0" anchor="ctr"/>
          <a:lstStyle/>
          <a:p>
            <a:pPr marL="0" indent="0" algn="ctr">
              <a:buNone/>
            </a:pPr>
            <a:r>
              <a:rPr lang="en-US" sz="1400" b="1" dirty="0">
                <a:solidFill>
                  <a:srgbClr val="0F172A"/>
                </a:solidFill>
                <a:latin typeface="Calibri" panose="020F0502020204030204" pitchFamily="34" charset="0"/>
                <a:ea typeface="Calibri" panose="020F0502020204030204" pitchFamily="34" charset="-122"/>
                <a:cs typeface="Calibri" panose="020F0502020204030204" pitchFamily="34" charset="-120"/>
              </a:rPr>
              <a:t>3. Lissage</a:t>
            </a:r>
            <a:endParaRPr lang="en-US" sz="1400" dirty="0"/>
          </a:p>
        </p:txBody>
      </p:sp>
      <p:sp>
        <p:nvSpPr>
          <p:cNvPr id="13" name="Text 11"/>
          <p:cNvSpPr/>
          <p:nvPr/>
        </p:nvSpPr>
        <p:spPr>
          <a:xfrm>
            <a:off x="5090008" y="4251960"/>
            <a:ext cx="2011680" cy="502920"/>
          </a:xfrm>
          <a:prstGeom prst="rect">
            <a:avLst/>
          </a:prstGeom>
          <a:noFill/>
        </p:spPr>
        <p:txBody>
          <a:bodyPr wrap="square" lIns="0" tIns="0" rIns="0" bIns="0" rtlCol="0" anchor="ct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Fenêtre de 20m pour annuler le fast-fading.</a:t>
            </a:r>
            <a:endParaRPr lang="en-US" sz="1100" dirty="0"/>
          </a:p>
        </p:txBody>
      </p:sp>
      <p:sp>
        <p:nvSpPr>
          <p:cNvPr id="14" name="Shape 12"/>
          <p:cNvSpPr/>
          <p:nvPr/>
        </p:nvSpPr>
        <p:spPr>
          <a:xfrm>
            <a:off x="8430539" y="3538728"/>
            <a:ext cx="237744" cy="237744"/>
          </a:xfrm>
          <a:prstGeom prst="ellipse">
            <a:avLst/>
          </a:prstGeom>
          <a:solidFill>
            <a:srgbClr val="F8FAFC"/>
          </a:solidFill>
          <a:ln w="31750">
            <a:solidFill>
              <a:srgbClr val="0284C7"/>
            </a:solidFill>
            <a:prstDash val="solid"/>
          </a:ln>
        </p:spPr>
      </p:sp>
      <p:sp>
        <p:nvSpPr>
          <p:cNvPr id="15" name="Text 13"/>
          <p:cNvSpPr/>
          <p:nvPr/>
        </p:nvSpPr>
        <p:spPr>
          <a:xfrm>
            <a:off x="7543571" y="2606040"/>
            <a:ext cx="2011680" cy="365760"/>
          </a:xfrm>
          <a:prstGeom prst="rect">
            <a:avLst/>
          </a:prstGeom>
          <a:noFill/>
        </p:spPr>
        <p:txBody>
          <a:bodyPr wrap="square" lIns="0" tIns="0" rIns="0" bIns="0" rtlCol="0" anchor="ctr"/>
          <a:lstStyle/>
          <a:p>
            <a:pPr marL="0" indent="0" algn="ctr">
              <a:buNone/>
            </a:pPr>
            <a:r>
              <a:rPr lang="en-US" sz="1400" b="1" dirty="0">
                <a:solidFill>
                  <a:srgbClr val="0284C7"/>
                </a:solidFill>
                <a:latin typeface="Calibri" panose="020F0502020204030204" pitchFamily="34" charset="0"/>
                <a:ea typeface="Calibri" panose="020F0502020204030204" pitchFamily="34" charset="-122"/>
                <a:cs typeface="Calibri" panose="020F0502020204030204" pitchFamily="34" charset="-120"/>
              </a:rPr>
              <a:t>4. Ajustement</a:t>
            </a:r>
            <a:endParaRPr lang="en-US" sz="1400" dirty="0"/>
          </a:p>
        </p:txBody>
      </p:sp>
      <p:sp>
        <p:nvSpPr>
          <p:cNvPr id="16" name="Text 14"/>
          <p:cNvSpPr/>
          <p:nvPr/>
        </p:nvSpPr>
        <p:spPr>
          <a:xfrm>
            <a:off x="7543571" y="3017520"/>
            <a:ext cx="2011680" cy="502920"/>
          </a:xfrm>
          <a:prstGeom prst="rect">
            <a:avLst/>
          </a:prstGeom>
          <a:noFill/>
        </p:spPr>
        <p:txBody>
          <a:bodyPr wrap="square" lIns="0" tIns="0" rIns="0" bIns="0" rtlCol="0" anchor="ctr"/>
          <a:lstStyle/>
          <a:p>
            <a:pPr marL="0" indent="0" algn="ct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Correction des coefficients (K1,K2)</a:t>
            </a:r>
            <a:endParaRPr lang="en-US" sz="1100" dirty="0"/>
          </a:p>
        </p:txBody>
      </p:sp>
      <p:sp>
        <p:nvSpPr>
          <p:cNvPr id="17" name="Shape 15"/>
          <p:cNvSpPr/>
          <p:nvPr/>
        </p:nvSpPr>
        <p:spPr>
          <a:xfrm>
            <a:off x="10884103" y="3538728"/>
            <a:ext cx="237744" cy="237744"/>
          </a:xfrm>
          <a:prstGeom prst="ellipse">
            <a:avLst/>
          </a:prstGeom>
          <a:solidFill>
            <a:srgbClr val="0284C7"/>
          </a:solidFill>
          <a:ln w="31750">
            <a:solidFill>
              <a:srgbClr val="0284C7"/>
            </a:solidFill>
            <a:prstDash val="solid"/>
          </a:ln>
        </p:spPr>
      </p:sp>
      <p:sp>
        <p:nvSpPr>
          <p:cNvPr id="18" name="Text 16"/>
          <p:cNvSpPr/>
          <p:nvPr/>
        </p:nvSpPr>
        <p:spPr>
          <a:xfrm>
            <a:off x="9997135" y="3886200"/>
            <a:ext cx="2011680" cy="365760"/>
          </a:xfrm>
          <a:prstGeom prst="rect">
            <a:avLst/>
          </a:prstGeom>
          <a:noFill/>
        </p:spPr>
        <p:txBody>
          <a:bodyPr wrap="square" lIns="0" tIns="0" rIns="0" bIns="0" rtlCol="0" anchor="ctr"/>
          <a:lstStyle/>
          <a:p>
            <a:pPr marL="0" indent="0" algn="ctr">
              <a:buNone/>
            </a:pPr>
            <a:r>
              <a:rPr lang="en-US" sz="1400" b="1" dirty="0">
                <a:solidFill>
                  <a:srgbClr val="0284C7"/>
                </a:solidFill>
                <a:latin typeface="Calibri" panose="020F0502020204030204" pitchFamily="34" charset="0"/>
                <a:ea typeface="Calibri" panose="020F0502020204030204" pitchFamily="34" charset="-122"/>
                <a:cs typeface="Calibri" panose="020F0502020204030204" pitchFamily="34" charset="-120"/>
              </a:rPr>
              <a:t>5. Validation</a:t>
            </a:r>
            <a:endParaRPr lang="en-US" sz="1400" dirty="0"/>
          </a:p>
        </p:txBody>
      </p:sp>
      <p:sp>
        <p:nvSpPr>
          <p:cNvPr id="19" name="Text 17"/>
          <p:cNvSpPr/>
          <p:nvPr/>
        </p:nvSpPr>
        <p:spPr>
          <a:xfrm>
            <a:off x="9997135" y="4251960"/>
            <a:ext cx="2011680" cy="502920"/>
          </a:xfrm>
          <a:prstGeom prst="rect">
            <a:avLst/>
          </a:prstGeom>
          <a:noFill/>
        </p:spPr>
        <p:txBody>
          <a:bodyPr wrap="square" lIns="0" tIns="0" rIns="0" bIns="0" rtlCol="0" anchor="ctr"/>
          <a:lstStyle/>
          <a:p>
            <a:pPr marL="0" indent="0" algn="ctr">
              <a:buNone/>
            </a:pPr>
            <a:r>
              <a:rPr lang="en-US" sz="1100" b="1" dirty="0">
                <a:solidFill>
                  <a:srgbClr val="10B981"/>
                </a:solidFill>
                <a:latin typeface="Calibri" panose="020F0502020204030204" pitchFamily="34" charset="0"/>
                <a:ea typeface="Calibri" panose="020F0502020204030204" pitchFamily="34" charset="-122"/>
                <a:cs typeface="Calibri" panose="020F0502020204030204" pitchFamily="34" charset="-120"/>
              </a:rPr>
              <a:t>Contrôle RMSE cible &lt; 10 dB.</a:t>
            </a:r>
            <a:endParaRPr lang="en-US" sz="1100" dirty="0"/>
          </a:p>
        </p:txBody>
      </p:sp>
      <p:sp>
        <p:nvSpPr>
          <p:cNvPr id="20" name="Text 18"/>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11</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Résultats : Modèle SPM calibré</a:t>
            </a:r>
            <a:endParaRPr lang="en-US" sz="2800" dirty="0"/>
          </a:p>
        </p:txBody>
      </p:sp>
      <p:graphicFrame>
        <p:nvGraphicFramePr>
          <p:cNvPr id="13" name="Table 0"/>
          <p:cNvGraphicFramePr>
            <a:graphicFrameLocks noGrp="1"/>
          </p:cNvGraphicFramePr>
          <p:nvPr/>
        </p:nvGraphicFramePr>
        <p:xfrm>
          <a:off x="548640" y="1554480"/>
          <a:ext cx="5486400" cy="2834640"/>
        </p:xfrm>
        <a:graphic>
          <a:graphicData uri="http://schemas.openxmlformats.org/drawingml/2006/table">
            <a:tbl>
              <a:tblPr/>
              <a:tblGrid>
                <a:gridCol w="2194560"/>
                <a:gridCol w="1645920"/>
                <a:gridCol w="1645920"/>
              </a:tblGrid>
              <a:tr h="566928">
                <a:tc>
                  <a:txBody>
                    <a:bodyPr/>
                    <a:lstStyle/>
                    <a:p>
                      <a:pPr marL="0" indent="0">
                        <a:buNone/>
                      </a:pPr>
                      <a:r>
                        <a:rPr lang="en-US" sz="1300" b="1" dirty="0">
                          <a:solidFill>
                            <a:srgbClr val="0284C7"/>
                          </a:solidFill>
                          <a:latin typeface="Calibri" panose="020F0502020204030204" pitchFamily="34" charset="0"/>
                          <a:ea typeface="Calibri" panose="020F0502020204030204" pitchFamily="34" charset="-122"/>
                          <a:cs typeface="Calibri" panose="020F0502020204030204" pitchFamily="34" charset="-120"/>
                        </a:rPr>
                        <a:t>Statistique (SS-RSRP)</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300" b="1" dirty="0">
                          <a:solidFill>
                            <a:srgbClr val="0284C7"/>
                          </a:solidFill>
                          <a:latin typeface="Calibri" panose="020F0502020204030204" pitchFamily="34" charset="0"/>
                          <a:ea typeface="Calibri" panose="020F0502020204030204" pitchFamily="34" charset="-122"/>
                          <a:cs typeface="Calibri" panose="020F0502020204030204" pitchFamily="34" charset="-120"/>
                        </a:rPr>
                        <a:t>Avant Calibration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300" b="1" dirty="0">
                          <a:solidFill>
                            <a:srgbClr val="0284C7"/>
                          </a:solidFill>
                          <a:latin typeface="Calibri" panose="020F0502020204030204" pitchFamily="34" charset="0"/>
                          <a:ea typeface="Calibri" panose="020F0502020204030204" pitchFamily="34" charset="-122"/>
                          <a:cs typeface="Calibri" panose="020F0502020204030204" pitchFamily="34" charset="-120"/>
                        </a:rPr>
                        <a:t>Après Calibration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r>
              <a:tr h="566928">
                <a:tc>
                  <a:txBody>
                    <a:bodyPr/>
                    <a:lstStyle/>
                    <a:p>
                      <a:pPr marL="0" indent="0">
                        <a:buNone/>
                      </a:pPr>
                      <a:r>
                        <a:rPr lang="en-US" sz="1300" dirty="0">
                          <a:solidFill>
                            <a:srgbClr val="0F172A"/>
                          </a:solidFill>
                          <a:latin typeface="Calibri" panose="020F0502020204030204" pitchFamily="34" charset="0"/>
                          <a:ea typeface="Calibri" panose="020F0502020204030204" pitchFamily="34" charset="-122"/>
                          <a:cs typeface="Calibri" panose="020F0502020204030204" pitchFamily="34" charset="-120"/>
                        </a:rPr>
                        <a:t>Erreur Moyenne (dB)</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300" dirty="0">
                          <a:solidFill>
                            <a:srgbClr val="EF4444"/>
                          </a:solidFill>
                          <a:latin typeface="Calibri" panose="020F0502020204030204" pitchFamily="34" charset="0"/>
                          <a:ea typeface="Calibri" panose="020F0502020204030204" pitchFamily="34" charset="-122"/>
                          <a:cs typeface="Calibri" panose="020F0502020204030204" pitchFamily="34" charset="-120"/>
                        </a:rPr>
                        <a:t>+5.70</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300" b="1" dirty="0">
                          <a:solidFill>
                            <a:srgbClr val="10B981"/>
                          </a:solidFill>
                          <a:latin typeface="Calibri" panose="020F0502020204030204" pitchFamily="34" charset="0"/>
                          <a:ea typeface="Calibri" panose="020F0502020204030204" pitchFamily="34" charset="-122"/>
                          <a:cs typeface="Calibri" panose="020F0502020204030204" pitchFamily="34" charset="-120"/>
                        </a:rPr>
                        <a:t>-0.04</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566928">
                <a:tc>
                  <a:txBody>
                    <a:bodyPr/>
                    <a:lstStyle/>
                    <a:p>
                      <a:pPr marL="0" indent="0">
                        <a:buNone/>
                      </a:pPr>
                      <a:r>
                        <a:rPr lang="en-US" sz="1300" dirty="0">
                          <a:solidFill>
                            <a:srgbClr val="0F172A"/>
                          </a:solidFill>
                          <a:latin typeface="Calibri" panose="020F0502020204030204" pitchFamily="34" charset="0"/>
                          <a:ea typeface="Calibri" panose="020F0502020204030204" pitchFamily="34" charset="-122"/>
                          <a:cs typeface="Calibri" panose="020F0502020204030204" pitchFamily="34" charset="-120"/>
                        </a:rPr>
                        <a:t>RMSE (dB)</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300" dirty="0">
                          <a:solidFill>
                            <a:srgbClr val="EF4444"/>
                          </a:solidFill>
                          <a:latin typeface="Calibri" panose="020F0502020204030204" pitchFamily="34" charset="0"/>
                          <a:ea typeface="Calibri" panose="020F0502020204030204" pitchFamily="34" charset="-122"/>
                          <a:cs typeface="Calibri" panose="020F0502020204030204" pitchFamily="34" charset="-120"/>
                        </a:rPr>
                        <a:t>14.78</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300" b="1" dirty="0">
                          <a:solidFill>
                            <a:srgbClr val="10B981"/>
                          </a:solidFill>
                          <a:latin typeface="Calibri" panose="020F0502020204030204" pitchFamily="34" charset="0"/>
                          <a:ea typeface="Calibri" panose="020F0502020204030204" pitchFamily="34" charset="-122"/>
                          <a:cs typeface="Calibri" panose="020F0502020204030204" pitchFamily="34" charset="-120"/>
                        </a:rPr>
                        <a:t>9.96</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566928">
                <a:tc>
                  <a:txBody>
                    <a:bodyPr/>
                    <a:lstStyle/>
                    <a:p>
                      <a:pPr marL="0" indent="0">
                        <a:buNone/>
                      </a:pPr>
                      <a:r>
                        <a:rPr lang="en-US" sz="1300" dirty="0">
                          <a:solidFill>
                            <a:srgbClr val="0F172A"/>
                          </a:solidFill>
                          <a:latin typeface="Calibri" panose="020F0502020204030204" pitchFamily="34" charset="0"/>
                          <a:ea typeface="Calibri" panose="020F0502020204030204" pitchFamily="34" charset="-122"/>
                          <a:cs typeface="Calibri" panose="020F0502020204030204" pitchFamily="34" charset="-120"/>
                        </a:rPr>
                        <a:t>SS-RSRP Moyen (dBm)</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-107.51</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-96.44</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566928">
                <a:tc>
                  <a:txBody>
                    <a:bodyPr/>
                    <a:lstStyle/>
                    <a:p>
                      <a:pPr marL="0" indent="0">
                        <a:buNone/>
                      </a:pPr>
                      <a:r>
                        <a:rPr lang="en-US" sz="1300" dirty="0">
                          <a:solidFill>
                            <a:srgbClr val="0F172A"/>
                          </a:solidFill>
                          <a:latin typeface="Calibri" panose="020F0502020204030204" pitchFamily="34" charset="0"/>
                          <a:ea typeface="Calibri" panose="020F0502020204030204" pitchFamily="34" charset="-122"/>
                          <a:cs typeface="Calibri" panose="020F0502020204030204" pitchFamily="34" charset="-120"/>
                        </a:rPr>
                        <a:t>Corrélation</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0.17</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300" b="1" dirty="0">
                          <a:solidFill>
                            <a:srgbClr val="10B981"/>
                          </a:solidFill>
                          <a:latin typeface="Calibri" panose="020F0502020204030204" pitchFamily="34" charset="0"/>
                          <a:ea typeface="Calibri" panose="020F0502020204030204" pitchFamily="34" charset="-122"/>
                          <a:cs typeface="Calibri" panose="020F0502020204030204" pitchFamily="34" charset="-120"/>
                        </a:rPr>
                        <a:t>0.36</a:t>
                      </a:r>
                      <a:endParaRPr lang="en-US" sz="13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bl>
          </a:graphicData>
        </a:graphic>
      </p:graphicFrame>
      <p:sp>
        <p:nvSpPr>
          <p:cNvPr id="4" name="Shape 1"/>
          <p:cNvSpPr/>
          <p:nvPr/>
        </p:nvSpPr>
        <p:spPr>
          <a:xfrm>
            <a:off x="6400800" y="1554480"/>
            <a:ext cx="5242255" cy="4434840"/>
          </a:xfrm>
          <a:prstGeom prst="roundRect">
            <a:avLst>
              <a:gd name="adj" fmla="val 1443"/>
            </a:avLst>
          </a:prstGeom>
          <a:solidFill>
            <a:srgbClr val="F0F4F8"/>
          </a:solidFill>
          <a:ln w="12700">
            <a:solidFill>
              <a:srgbClr val="DBEAFE"/>
            </a:solidFill>
            <a:prstDash val="solid"/>
          </a:ln>
        </p:spPr>
      </p:sp>
      <p:sp>
        <p:nvSpPr>
          <p:cNvPr id="5" name="Text 2"/>
          <p:cNvSpPr/>
          <p:nvPr/>
        </p:nvSpPr>
        <p:spPr>
          <a:xfrm>
            <a:off x="6720840" y="1828800"/>
            <a:ext cx="4602175" cy="365760"/>
          </a:xfrm>
          <a:prstGeom prst="rect">
            <a:avLst/>
          </a:prstGeom>
          <a:noFill/>
        </p:spPr>
        <p:txBody>
          <a:bodyPr wrap="square" lIns="0" tIns="0" rIns="0" bIns="0" rtlCol="0" anchor="ctr"/>
          <a:lstStyle/>
          <a:p>
            <a:pPr marL="0" indent="0">
              <a:buNone/>
            </a:pPr>
            <a:r>
              <a:rPr lang="en-US" sz="1700" b="1" dirty="0">
                <a:solidFill>
                  <a:srgbClr val="0284C7"/>
                </a:solidFill>
                <a:latin typeface="Calibri" panose="020F0502020204030204" pitchFamily="34" charset="0"/>
                <a:ea typeface="Calibri" panose="020F0502020204030204" pitchFamily="34" charset="-122"/>
                <a:cs typeface="Calibri" panose="020F0502020204030204" pitchFamily="34" charset="-120"/>
              </a:rPr>
              <a:t>Correction du Biais</a:t>
            </a:r>
            <a:endParaRPr lang="en-US" sz="1700" dirty="0"/>
          </a:p>
        </p:txBody>
      </p:sp>
      <p:sp>
        <p:nvSpPr>
          <p:cNvPr id="6" name="Text 3"/>
          <p:cNvSpPr/>
          <p:nvPr/>
        </p:nvSpPr>
        <p:spPr>
          <a:xfrm>
            <a:off x="6720840" y="2286000"/>
            <a:ext cx="4602175" cy="548640"/>
          </a:xfrm>
          <a:prstGeom prst="rect">
            <a:avLst/>
          </a:prstGeom>
          <a:noFill/>
        </p:spPr>
        <p:txBody>
          <a:bodyPr wrap="square" lIns="0" tIns="0" rIns="0" bIns="0" rtlCol="0" anchor="ctr"/>
          <a:lstStyle/>
          <a:p>
            <a:pPr marL="0" indent="0">
              <a:buNone/>
            </a:pPr>
            <a:r>
              <a:rPr lang="en-US" sz="1300" dirty="0">
                <a:solidFill>
                  <a:srgbClr val="0F172A"/>
                </a:solidFill>
                <a:latin typeface="Calibri" panose="020F0502020204030204" pitchFamily="34" charset="0"/>
                <a:ea typeface="Calibri" panose="020F0502020204030204" pitchFamily="34" charset="-122"/>
                <a:cs typeface="Calibri" panose="020F0502020204030204" pitchFamily="34" charset="-120"/>
              </a:rPr>
              <a:t>La calibration a corrigé la sous-estimation initiale forte du modèle par défaut.</a:t>
            </a:r>
            <a:endParaRPr lang="en-US" sz="1300" dirty="0"/>
          </a:p>
        </p:txBody>
      </p:sp>
      <p:sp>
        <p:nvSpPr>
          <p:cNvPr id="7" name="Text 4"/>
          <p:cNvSpPr/>
          <p:nvPr/>
        </p:nvSpPr>
        <p:spPr>
          <a:xfrm>
            <a:off x="6720840" y="2834640"/>
            <a:ext cx="4602175" cy="457200"/>
          </a:xfrm>
          <a:prstGeom prst="rect">
            <a:avLst/>
          </a:prstGeom>
          <a:noFill/>
        </p:spPr>
        <p:txBody>
          <a:bodyPr wrap="square" lIns="0" tIns="0" rIns="0" bIns="0" rtlCol="0" anchor="ctr"/>
          <a:lstStyle/>
          <a:p>
            <a:pPr marL="0" indent="0">
              <a:buNone/>
            </a:pPr>
            <a:r>
              <a:rPr lang="en-US" sz="1300" b="1" dirty="0">
                <a:solidFill>
                  <a:srgbClr val="10B981"/>
                </a:solidFill>
                <a:latin typeface="Calibri" panose="020F0502020204030204" pitchFamily="34" charset="0"/>
                <a:ea typeface="Calibri" panose="020F0502020204030204" pitchFamily="34" charset="-122"/>
                <a:cs typeface="Calibri" panose="020F0502020204030204" pitchFamily="34" charset="-120"/>
              </a:rPr>
              <a:t>Le RMSE passe sous la barre critique des 10 dB.</a:t>
            </a:r>
            <a:endParaRPr lang="en-US" sz="1300" dirty="0"/>
          </a:p>
        </p:txBody>
      </p:sp>
      <p:sp>
        <p:nvSpPr>
          <p:cNvPr id="8" name="Shape 5"/>
          <p:cNvSpPr/>
          <p:nvPr/>
        </p:nvSpPr>
        <p:spPr>
          <a:xfrm>
            <a:off x="6720840" y="3383280"/>
            <a:ext cx="4602175" cy="1143000"/>
          </a:xfrm>
          <a:prstGeom prst="roundRect">
            <a:avLst>
              <a:gd name="adj" fmla="val 5600"/>
            </a:avLst>
          </a:prstGeom>
          <a:solidFill>
            <a:srgbClr val="EFF6FF"/>
          </a:solidFill>
          <a:ln w="12700">
            <a:solidFill>
              <a:srgbClr val="DBEAFE"/>
            </a:solidFill>
            <a:prstDash val="solid"/>
          </a:ln>
        </p:spPr>
      </p:sp>
      <p:sp>
        <p:nvSpPr>
          <p:cNvPr id="9" name="Text 6"/>
          <p:cNvSpPr/>
          <p:nvPr/>
        </p:nvSpPr>
        <p:spPr>
          <a:xfrm>
            <a:off x="6903720" y="3520440"/>
            <a:ext cx="1828800" cy="274320"/>
          </a:xfrm>
          <a:prstGeom prst="rect">
            <a:avLst/>
          </a:prstGeom>
          <a:noFill/>
        </p:spPr>
        <p:txBody>
          <a:bodyPr wrap="square" lIns="0" tIns="0" rIns="0" bIns="0"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Moyenne Initiale</a:t>
            </a:r>
            <a:endParaRPr lang="en-US" sz="1100" dirty="0"/>
          </a:p>
        </p:txBody>
      </p:sp>
      <p:sp>
        <p:nvSpPr>
          <p:cNvPr id="10" name="Text 7"/>
          <p:cNvSpPr/>
          <p:nvPr/>
        </p:nvSpPr>
        <p:spPr>
          <a:xfrm>
            <a:off x="6903720" y="3794760"/>
            <a:ext cx="1828800" cy="457200"/>
          </a:xfrm>
          <a:prstGeom prst="rect">
            <a:avLst/>
          </a:prstGeom>
          <a:noFill/>
        </p:spPr>
        <p:txBody>
          <a:bodyPr wrap="square" lIns="0" tIns="0" rIns="0" bIns="0" rtlCol="0" anchor="ctr"/>
          <a:lstStyle/>
          <a:p>
            <a:pPr marL="0" indent="0">
              <a:buNone/>
            </a:pPr>
            <a:r>
              <a:rPr lang="en-US" sz="1800" b="1" dirty="0">
                <a:solidFill>
                  <a:srgbClr val="0F172A"/>
                </a:solidFill>
                <a:latin typeface="Calibri" panose="020F0502020204030204" pitchFamily="34" charset="0"/>
                <a:ea typeface="Calibri" panose="020F0502020204030204" pitchFamily="34" charset="-122"/>
                <a:cs typeface="Calibri" panose="020F0502020204030204" pitchFamily="34" charset="-120"/>
              </a:rPr>
              <a:t>-107.51 dBm</a:t>
            </a:r>
            <a:endParaRPr lang="en-US" sz="1800" dirty="0"/>
          </a:p>
        </p:txBody>
      </p:sp>
      <p:sp>
        <p:nvSpPr>
          <p:cNvPr id="11" name="Text 8"/>
          <p:cNvSpPr/>
          <p:nvPr/>
        </p:nvSpPr>
        <p:spPr>
          <a:xfrm>
            <a:off x="8793328" y="3703320"/>
            <a:ext cx="457200" cy="548640"/>
          </a:xfrm>
          <a:prstGeom prst="rect">
            <a:avLst/>
          </a:prstGeom>
          <a:noFill/>
        </p:spPr>
        <p:txBody>
          <a:bodyPr wrap="square" lIns="0" tIns="0" rIns="0" bIns="0" rtlCol="0" anchor="ctr"/>
          <a:lstStyle/>
          <a:p>
            <a:pPr marL="0" indent="0" algn="ctr">
              <a:buNone/>
            </a:pPr>
            <a:r>
              <a:rPr lang="en-US" sz="2200" dirty="0">
                <a:solidFill>
                  <a:srgbClr val="0284C7"/>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12" name="Text 9"/>
          <p:cNvSpPr/>
          <p:nvPr/>
        </p:nvSpPr>
        <p:spPr>
          <a:xfrm>
            <a:off x="9128455" y="3520440"/>
            <a:ext cx="1828800" cy="274320"/>
          </a:xfrm>
          <a:prstGeom prst="rect">
            <a:avLst/>
          </a:prstGeom>
          <a:noFill/>
        </p:spPr>
        <p:txBody>
          <a:bodyPr wrap="square" lIns="0" tIns="0" rIns="0" bIns="0" rtlCol="0" anchor="ctr"/>
          <a:lstStyle/>
          <a:p>
            <a:pPr marL="0" indent="0" algn="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Moyenne Calibrée</a:t>
            </a:r>
            <a:endParaRPr lang="en-US" sz="1100" dirty="0"/>
          </a:p>
        </p:txBody>
      </p:sp>
      <p:sp>
        <p:nvSpPr>
          <p:cNvPr id="3" name="Text 10"/>
          <p:cNvSpPr/>
          <p:nvPr/>
        </p:nvSpPr>
        <p:spPr>
          <a:xfrm>
            <a:off x="9128455" y="3794760"/>
            <a:ext cx="1828800" cy="457200"/>
          </a:xfrm>
          <a:prstGeom prst="rect">
            <a:avLst/>
          </a:prstGeom>
          <a:noFill/>
        </p:spPr>
        <p:txBody>
          <a:bodyPr wrap="square" lIns="0" tIns="0" rIns="0" bIns="0" rtlCol="0" anchor="ctr"/>
          <a:lstStyle/>
          <a:p>
            <a:pPr marL="0" indent="0" algn="r">
              <a:buNone/>
            </a:pPr>
            <a:r>
              <a:rPr lang="en-US" sz="1800" b="1" dirty="0">
                <a:solidFill>
                  <a:srgbClr val="0284C7"/>
                </a:solidFill>
                <a:latin typeface="Calibri" panose="020F0502020204030204" pitchFamily="34" charset="0"/>
                <a:ea typeface="Calibri" panose="020F0502020204030204" pitchFamily="34" charset="-122"/>
                <a:cs typeface="Calibri" panose="020F0502020204030204" pitchFamily="34" charset="-120"/>
              </a:rPr>
              <a:t>-96.44 dBm</a:t>
            </a:r>
            <a:endParaRPr lang="en-US" sz="1800" dirty="0"/>
          </a:p>
        </p:txBody>
      </p:sp>
      <p:sp>
        <p:nvSpPr>
          <p:cNvPr id="14" name="Text 11"/>
          <p:cNvSpPr/>
          <p:nvPr/>
        </p:nvSpPr>
        <p:spPr>
          <a:xfrm>
            <a:off x="6720840" y="4800600"/>
            <a:ext cx="4602175" cy="1005840"/>
          </a:xfrm>
          <a:prstGeom prst="rect">
            <a:avLst/>
          </a:prstGeom>
          <a:noFill/>
        </p:spPr>
        <p:txBody>
          <a:bodyPr wrap="square" lIns="0" tIns="0" rIns="0" bIns="0" rtlCol="0" anchor="ctr"/>
          <a:lstStyle/>
          <a:p>
            <a:pPr marL="0" indent="0">
              <a:buNone/>
            </a:pPr>
            <a:r>
              <a:rPr lang="en-US" sz="1200" i="1" dirty="0">
                <a:solidFill>
                  <a:srgbClr val="334155"/>
                </a:solidFill>
                <a:latin typeface="Calibri" panose="020F0502020204030204" pitchFamily="34" charset="0"/>
                <a:ea typeface="Calibri" panose="020F0502020204030204" pitchFamily="34" charset="-122"/>
                <a:cs typeface="Calibri" panose="020F0502020204030204" pitchFamily="34" charset="-120"/>
              </a:rPr>
              <a:t>Le niveau moyen prédit a augmenté de +11.07 dB, s'alignant avec la portée réelle du Massive MIMO constatée sur le terrain.</a:t>
            </a:r>
            <a:endParaRPr lang="en-US" sz="1200" dirty="0"/>
          </a:p>
        </p:txBody>
      </p:sp>
      <p:sp>
        <p:nvSpPr>
          <p:cNvPr id="15" name="Text 12"/>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12</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Validation : Terrain vs Simulation</a:t>
            </a:r>
            <a:endParaRPr lang="en-US" sz="2800" dirty="0"/>
          </a:p>
        </p:txBody>
      </p:sp>
      <p:sp>
        <p:nvSpPr>
          <p:cNvPr id="3" name="Text 1"/>
          <p:cNvSpPr/>
          <p:nvPr/>
        </p:nvSpPr>
        <p:spPr>
          <a:xfrm>
            <a:off x="548640" y="1234440"/>
            <a:ext cx="11094415" cy="365760"/>
          </a:xfrm>
          <a:prstGeom prst="rect">
            <a:avLst/>
          </a:prstGeom>
          <a:noFill/>
        </p:spPr>
        <p:txBody>
          <a:bodyPr wrap="square" lIns="0" tIns="0" rIns="0" bIns="0" rtlCol="0" anchor="ctr"/>
          <a:lstStyle/>
          <a:p>
            <a:pPr marL="0" indent="0">
              <a:buNone/>
            </a:pPr>
            <a:r>
              <a:rPr lang="en-US" sz="1300" dirty="0">
                <a:solidFill>
                  <a:srgbClr val="334155"/>
                </a:solidFill>
                <a:latin typeface="Calibri" panose="020F0502020204030204" pitchFamily="34" charset="0"/>
                <a:ea typeface="Calibri" panose="020F0502020204030204" pitchFamily="34" charset="-122"/>
                <a:cs typeface="Calibri" panose="020F0502020204030204" pitchFamily="34" charset="-120"/>
              </a:rPr>
              <a:t>Contrôle de la précision du modèle recalibré sur 3 emplacements géographiques distincts à Oran.</a:t>
            </a:r>
            <a:endParaRPr lang="en-US" sz="1300" dirty="0"/>
          </a:p>
        </p:txBody>
      </p:sp>
      <p:graphicFrame>
        <p:nvGraphicFramePr>
          <p:cNvPr id="14" name="Table 0"/>
          <p:cNvGraphicFramePr>
            <a:graphicFrameLocks noGrp="1"/>
          </p:cNvGraphicFramePr>
          <p:nvPr/>
        </p:nvGraphicFramePr>
        <p:xfrm>
          <a:off x="548640" y="1737360"/>
          <a:ext cx="11094415" cy="2743200"/>
        </p:xfrm>
        <a:graphic>
          <a:graphicData uri="http://schemas.openxmlformats.org/drawingml/2006/table">
            <a:tbl>
              <a:tblPr/>
              <a:tblGrid>
                <a:gridCol w="2011680"/>
                <a:gridCol w="1828800"/>
                <a:gridCol w="1828800"/>
                <a:gridCol w="1828800"/>
                <a:gridCol w="3596335"/>
              </a:tblGrid>
              <a:tr h="685800">
                <a:tc>
                  <a:txBody>
                    <a:bodyPr/>
                    <a:lstStyle/>
                    <a:p>
                      <a:pPr marL="0" indent="0">
                        <a:buNone/>
                      </a:pPr>
                      <a:r>
                        <a:rPr lang="en-US" sz="1200" b="1" dirty="0">
                          <a:solidFill>
                            <a:srgbClr val="0284C7"/>
                          </a:solidFill>
                          <a:latin typeface="Calibri" panose="020F0502020204030204" pitchFamily="34" charset="0"/>
                          <a:ea typeface="Calibri" panose="020F0502020204030204" pitchFamily="34" charset="-122"/>
                          <a:cs typeface="Calibri" panose="020F0502020204030204" pitchFamily="34" charset="-120"/>
                        </a:rPr>
                        <a:t>Point de Mesure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200" b="1" dirty="0">
                          <a:solidFill>
                            <a:srgbClr val="0284C7"/>
                          </a:solidFill>
                          <a:latin typeface="Calibri" panose="020F0502020204030204" pitchFamily="34" charset="0"/>
                          <a:ea typeface="Calibri" panose="020F0502020204030204" pitchFamily="34" charset="-122"/>
                          <a:cs typeface="Calibri" panose="020F0502020204030204" pitchFamily="34" charset="-120"/>
                        </a:rPr>
                        <a:t>Mesure Réelle (DT)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200" b="1" dirty="0">
                          <a:solidFill>
                            <a:srgbClr val="0284C7"/>
                          </a:solidFill>
                          <a:latin typeface="Calibri" panose="020F0502020204030204" pitchFamily="34" charset="0"/>
                          <a:ea typeface="Calibri" panose="020F0502020204030204" pitchFamily="34" charset="-122"/>
                          <a:cs typeface="Calibri" panose="020F0502020204030204" pitchFamily="34" charset="-120"/>
                        </a:rPr>
                        <a:t>Prédiction Initiale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200" b="1" dirty="0">
                          <a:solidFill>
                            <a:srgbClr val="0284C7"/>
                          </a:solidFill>
                          <a:latin typeface="Calibri" panose="020F0502020204030204" pitchFamily="34" charset="0"/>
                          <a:ea typeface="Calibri" panose="020F0502020204030204" pitchFamily="34" charset="-122"/>
                          <a:cs typeface="Calibri" panose="020F0502020204030204" pitchFamily="34" charset="-120"/>
                        </a:rPr>
                        <a:t>Prédiction Calibrée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c>
                  <a:txBody>
                    <a:bodyPr/>
                    <a:lstStyle/>
                    <a:p>
                      <a:pPr marL="0" indent="0">
                        <a:buNone/>
                      </a:pPr>
                      <a:r>
                        <a:rPr lang="en-US" sz="1200" b="1" dirty="0">
                          <a:solidFill>
                            <a:srgbClr val="0284C7"/>
                          </a:solidFill>
                          <a:latin typeface="Calibri" panose="020F0502020204030204" pitchFamily="34" charset="0"/>
                          <a:ea typeface="Calibri" panose="020F0502020204030204" pitchFamily="34" charset="-122"/>
                          <a:cs typeface="Calibri" panose="020F0502020204030204" pitchFamily="34" charset="-120"/>
                        </a:rPr>
                        <a:t>Analyse de l'écart</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EFF6FF"/>
                    </a:solidFill>
                  </a:tcPr>
                </a:tc>
              </a:tr>
              <a:tr h="685800">
                <a:tc>
                  <a:txBody>
                    <a:bodyPr/>
                    <a:lstStyle/>
                    <a:p>
                      <a:pPr marL="0" indent="0">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P1 (Centre urbain)</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-76.22 dBm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≥-79.00 dBm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10B981"/>
                          </a:solidFill>
                          <a:latin typeface="Calibri" panose="020F0502020204030204" pitchFamily="34" charset="0"/>
                          <a:ea typeface="Calibri" panose="020F0502020204030204" pitchFamily="34" charset="-122"/>
                          <a:cs typeface="Calibri" panose="020F0502020204030204" pitchFamily="34" charset="-120"/>
                        </a:rPr>
                        <a:t>≥-78.00 dBm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Écart quasi-nul (~1.5 dB)</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685800">
                <a:tc>
                  <a:txBody>
                    <a:bodyPr/>
                    <a:lstStyle/>
                    <a:p>
                      <a:pPr marL="0" indent="0">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P2 (Périphérie limite)</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-79.30 dBm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EF4444"/>
                          </a:solidFill>
                          <a:latin typeface="Calibri" panose="020F0502020204030204" pitchFamily="34" charset="0"/>
                          <a:ea typeface="Calibri" panose="020F0502020204030204" pitchFamily="34" charset="-122"/>
                          <a:cs typeface="Calibri" panose="020F0502020204030204" pitchFamily="34" charset="-120"/>
                        </a:rPr>
                        <a:t>≥-118.00 dBm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10B981"/>
                          </a:solidFill>
                          <a:latin typeface="Calibri" panose="020F0502020204030204" pitchFamily="34" charset="0"/>
                          <a:ea typeface="Calibri" panose="020F0502020204030204" pitchFamily="34" charset="-122"/>
                          <a:cs typeface="Calibri" panose="020F0502020204030204" pitchFamily="34" charset="-120"/>
                        </a:rPr>
                        <a:t>≥-91.00 dBm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Correction massive d'un "trou noir" virtuel</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r h="685800">
                <a:tc>
                  <a:txBody>
                    <a:bodyPr/>
                    <a:lstStyle/>
                    <a:p>
                      <a:pPr marL="0" indent="0">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P3 (Indoor mitigé)</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-90.30 dBm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≥-78.00 dBm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dirty="0">
                          <a:solidFill>
                            <a:srgbClr val="10B981"/>
                          </a:solidFill>
                          <a:latin typeface="Calibri" panose="020F0502020204030204" pitchFamily="34" charset="0"/>
                          <a:ea typeface="Calibri" panose="020F0502020204030204" pitchFamily="34" charset="-122"/>
                          <a:cs typeface="Calibri" panose="020F0502020204030204" pitchFamily="34" charset="-120"/>
                        </a:rPr>
                        <a:t>≥-90.00 dBm</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c>
                  <a:txBody>
                    <a:bodyPr/>
                    <a:lstStyle/>
                    <a:p>
                      <a:pPr marL="0" indent="0">
                        <a:buNone/>
                      </a:pPr>
                      <a:r>
                        <a:rPr lang="en-US" sz="1200" b="1" dirty="0">
                          <a:solidFill>
                            <a:srgbClr val="0284C7"/>
                          </a:solidFill>
                          <a:latin typeface="Calibri" panose="020F0502020204030204" pitchFamily="34" charset="0"/>
                          <a:ea typeface="Calibri" panose="020F0502020204030204" pitchFamily="34" charset="-122"/>
                          <a:cs typeface="Calibri" panose="020F0502020204030204" pitchFamily="34" charset="-120"/>
                        </a:rPr>
                        <a:t>Précision parfaite (&lt; 1 dB)</a:t>
                      </a:r>
                      <a:endParaRPr lang="en-US" sz="120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DBEAFE"/>
                      </a:solidFill>
                      <a:prstDash val="solid"/>
                      <a:round/>
                      <a:headEnd type="none" w="med" len="med"/>
                      <a:tailEnd type="none" w="med" len="med"/>
                    </a:lnL>
                    <a:lnR w="9525" cap="flat" cmpd="sng" algn="ctr">
                      <a:solidFill>
                        <a:srgbClr val="DBEAFE"/>
                      </a:solidFill>
                      <a:prstDash val="solid"/>
                      <a:round/>
                      <a:headEnd type="none" w="med" len="med"/>
                      <a:tailEnd type="none" w="med" len="med"/>
                    </a:lnR>
                    <a:lnT w="9525" cap="flat" cmpd="sng" algn="ctr">
                      <a:solidFill>
                        <a:srgbClr val="DBEAFE"/>
                      </a:solidFill>
                      <a:prstDash val="solid"/>
                      <a:round/>
                      <a:headEnd type="none" w="med" len="med"/>
                      <a:tailEnd type="none" w="med" len="med"/>
                    </a:lnT>
                    <a:lnB w="9525" cap="flat" cmpd="sng" algn="ctr">
                      <a:solidFill>
                        <a:srgbClr val="DBEAFE"/>
                      </a:solidFill>
                      <a:prstDash val="solid"/>
                      <a:round/>
                      <a:headEnd type="none" w="med" len="med"/>
                      <a:tailEnd type="none" w="med" len="med"/>
                    </a:lnB>
                    <a:solidFill>
                      <a:srgbClr val="F0F4F8"/>
                    </a:solidFill>
                  </a:tcPr>
                </a:tc>
              </a:tr>
            </a:tbl>
          </a:graphicData>
        </a:graphic>
      </p:graphicFrame>
      <p:sp>
        <p:nvSpPr>
          <p:cNvPr id="5" name="Shape 2"/>
          <p:cNvSpPr/>
          <p:nvPr/>
        </p:nvSpPr>
        <p:spPr>
          <a:xfrm>
            <a:off x="548640" y="4526280"/>
            <a:ext cx="11094415" cy="777240"/>
          </a:xfrm>
          <a:prstGeom prst="roundRect">
            <a:avLst>
              <a:gd name="adj" fmla="val 8235"/>
            </a:avLst>
          </a:prstGeom>
          <a:solidFill>
            <a:srgbClr val="ECFDF5"/>
          </a:solidFill>
          <a:ln w="12700">
            <a:solidFill>
              <a:srgbClr val="DBEAFE"/>
            </a:solidFill>
            <a:prstDash val="solid"/>
          </a:ln>
        </p:spPr>
      </p:sp>
      <p:pic>
        <p:nvPicPr>
          <p:cNvPr id="6" name="Image 0" descr="preencoded.png"/>
          <p:cNvPicPr>
            <a:picLocks noChangeAspect="1"/>
          </p:cNvPicPr>
          <p:nvPr/>
        </p:nvPicPr>
        <p:blipFill>
          <a:blip r:embed="rId1"/>
          <a:stretch>
            <a:fillRect/>
          </a:stretch>
        </p:blipFill>
        <p:spPr>
          <a:xfrm>
            <a:off x="868680" y="4709160"/>
            <a:ext cx="411480" cy="411480"/>
          </a:xfrm>
          <a:prstGeom prst="rect">
            <a:avLst/>
          </a:prstGeom>
        </p:spPr>
      </p:pic>
      <p:sp>
        <p:nvSpPr>
          <p:cNvPr id="7" name="Text 3"/>
          <p:cNvSpPr/>
          <p:nvPr/>
        </p:nvSpPr>
        <p:spPr>
          <a:xfrm>
            <a:off x="1417320" y="4526280"/>
            <a:ext cx="9905695" cy="777240"/>
          </a:xfrm>
          <a:prstGeom prst="rect">
            <a:avLst/>
          </a:prstGeom>
          <a:noFill/>
        </p:spPr>
        <p:txBody>
          <a:bodyPr wrap="square" lIns="0" tIns="0" rIns="0" bIns="0" rtlCol="0" anchor="ctr"/>
          <a:lstStyle/>
          <a:p>
            <a:pPr marL="0" indent="0">
              <a:buNone/>
            </a:pPr>
            <a:r>
              <a:rPr lang="en-US" sz="1500" b="1" dirty="0">
                <a:solidFill>
                  <a:srgbClr val="10B981"/>
                </a:solidFill>
                <a:latin typeface="Calibri" panose="020F0502020204030204" pitchFamily="34" charset="0"/>
                <a:ea typeface="Calibri" panose="020F0502020204030204" pitchFamily="34" charset="-122"/>
                <a:cs typeface="Calibri" panose="020F0502020204030204" pitchFamily="34" charset="-120"/>
              </a:rPr>
              <a:t>Validation confirmée pour piloter l'optimisation ACP.</a:t>
            </a:r>
            <a:endParaRPr lang="en-US" sz="1500" dirty="0"/>
          </a:p>
        </p:txBody>
      </p:sp>
      <p:sp>
        <p:nvSpPr>
          <p:cNvPr id="8" name="Text 4"/>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13</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Optimisation ACP : Trafic initial</a:t>
            </a:r>
            <a:endParaRPr lang="en-US" sz="2800" dirty="0"/>
          </a:p>
        </p:txBody>
      </p:sp>
      <p:sp>
        <p:nvSpPr>
          <p:cNvPr id="3" name="Shape 1"/>
          <p:cNvSpPr/>
          <p:nvPr/>
        </p:nvSpPr>
        <p:spPr>
          <a:xfrm>
            <a:off x="548640" y="1554480"/>
            <a:ext cx="5486400" cy="1325880"/>
          </a:xfrm>
          <a:prstGeom prst="roundRect">
            <a:avLst>
              <a:gd name="adj" fmla="val 4828"/>
            </a:avLst>
          </a:prstGeom>
          <a:solidFill>
            <a:srgbClr val="FFFFFF"/>
          </a:solidFill>
          <a:ln w="12700">
            <a:solidFill>
              <a:srgbClr val="E0F2FE"/>
            </a:solidFill>
            <a:prstDash val="solid"/>
          </a:ln>
        </p:spPr>
      </p:sp>
      <p:sp>
        <p:nvSpPr>
          <p:cNvPr id="4" name="Text 2"/>
          <p:cNvSpPr/>
          <p:nvPr/>
        </p:nvSpPr>
        <p:spPr>
          <a:xfrm>
            <a:off x="548640" y="1719072"/>
            <a:ext cx="5486400" cy="640080"/>
          </a:xfrm>
          <a:prstGeom prst="rect">
            <a:avLst/>
          </a:prstGeom>
          <a:noFill/>
        </p:spPr>
        <p:txBody>
          <a:bodyPr wrap="square" lIns="0" tIns="0" rIns="0" bIns="0" rtlCol="0" anchor="b"/>
          <a:lstStyle/>
          <a:p>
            <a:pPr marL="0" indent="0" algn="ctr">
              <a:buNone/>
            </a:pPr>
            <a:r>
              <a:rPr lang="en-US" sz="3400" b="1" dirty="0">
                <a:solidFill>
                  <a:srgbClr val="0284C7"/>
                </a:solidFill>
                <a:latin typeface="Calibri" panose="020F0502020204030204" pitchFamily="34" charset="0"/>
                <a:ea typeface="Calibri" panose="020F0502020204030204" pitchFamily="34" charset="-122"/>
                <a:cs typeface="Calibri" panose="020F0502020204030204" pitchFamily="34" charset="-120"/>
              </a:rPr>
              <a:t>804</a:t>
            </a:r>
            <a:endParaRPr lang="en-US" sz="3400" dirty="0"/>
          </a:p>
        </p:txBody>
      </p:sp>
      <p:sp>
        <p:nvSpPr>
          <p:cNvPr id="5" name="Text 3"/>
          <p:cNvSpPr/>
          <p:nvPr/>
        </p:nvSpPr>
        <p:spPr>
          <a:xfrm>
            <a:off x="685800" y="2377440"/>
            <a:ext cx="5212080" cy="411480"/>
          </a:xfrm>
          <a:prstGeom prst="rect">
            <a:avLst/>
          </a:prstGeom>
          <a:noFill/>
        </p:spPr>
        <p:txBody>
          <a:bodyPr wrap="square" lIns="0" tIns="0" rIns="0" bIns="0" rtlCol="0" anchor="ctr"/>
          <a:lstStyle/>
          <a:p>
            <a:pPr marL="0" indent="0" algn="ctr">
              <a:buNone/>
            </a:pPr>
            <a:r>
              <a:rPr lang="en-US" sz="1100" b="1" kern="0" spc="100" dirty="0">
                <a:solidFill>
                  <a:srgbClr val="334155"/>
                </a:solidFill>
                <a:latin typeface="Calibri" panose="020F0502020204030204" pitchFamily="34" charset="0"/>
                <a:ea typeface="Calibri" panose="020F0502020204030204" pitchFamily="34" charset="-122"/>
                <a:cs typeface="Calibri" panose="020F0502020204030204" pitchFamily="34" charset="-120"/>
              </a:rPr>
              <a:t>UTILISATEURS SIMULÉS</a:t>
            </a:r>
            <a:endParaRPr lang="en-US" sz="1100" dirty="0"/>
          </a:p>
        </p:txBody>
      </p:sp>
      <p:sp>
        <p:nvSpPr>
          <p:cNvPr id="6" name="Shape 4"/>
          <p:cNvSpPr/>
          <p:nvPr/>
        </p:nvSpPr>
        <p:spPr>
          <a:xfrm>
            <a:off x="548640" y="3154680"/>
            <a:ext cx="5486400" cy="1325880"/>
          </a:xfrm>
          <a:prstGeom prst="roundRect">
            <a:avLst>
              <a:gd name="adj" fmla="val 4828"/>
            </a:avLst>
          </a:prstGeom>
          <a:solidFill>
            <a:srgbClr val="FFFFFF"/>
          </a:solidFill>
          <a:ln w="12700">
            <a:solidFill>
              <a:srgbClr val="E0F2FE"/>
            </a:solidFill>
            <a:prstDash val="solid"/>
          </a:ln>
        </p:spPr>
      </p:sp>
      <p:sp>
        <p:nvSpPr>
          <p:cNvPr id="7" name="Text 5"/>
          <p:cNvSpPr/>
          <p:nvPr/>
        </p:nvSpPr>
        <p:spPr>
          <a:xfrm>
            <a:off x="548640" y="3319272"/>
            <a:ext cx="5486400" cy="640080"/>
          </a:xfrm>
          <a:prstGeom prst="rect">
            <a:avLst/>
          </a:prstGeom>
          <a:noFill/>
        </p:spPr>
        <p:txBody>
          <a:bodyPr wrap="square" lIns="0" tIns="0" rIns="0" bIns="0" rtlCol="0" anchor="b"/>
          <a:lstStyle/>
          <a:p>
            <a:pPr marL="0" indent="0" algn="ctr">
              <a:buNone/>
            </a:pPr>
            <a:r>
              <a:rPr lang="en-US" sz="3400" b="1" dirty="0">
                <a:solidFill>
                  <a:srgbClr val="005BAC"/>
                </a:solidFill>
                <a:latin typeface="Calibri" panose="020F0502020204030204" pitchFamily="34" charset="0"/>
                <a:ea typeface="Calibri" panose="020F0502020204030204" pitchFamily="34" charset="-122"/>
                <a:cs typeface="Calibri" panose="020F0502020204030204" pitchFamily="34" charset="-120"/>
              </a:rPr>
              <a:t>99.8%</a:t>
            </a:r>
            <a:endParaRPr lang="en-US" sz="3400" dirty="0"/>
          </a:p>
        </p:txBody>
      </p:sp>
      <p:sp>
        <p:nvSpPr>
          <p:cNvPr id="8" name="Text 6"/>
          <p:cNvSpPr/>
          <p:nvPr/>
        </p:nvSpPr>
        <p:spPr>
          <a:xfrm>
            <a:off x="685800" y="3977640"/>
            <a:ext cx="5212080" cy="411480"/>
          </a:xfrm>
          <a:prstGeom prst="rect">
            <a:avLst/>
          </a:prstGeom>
          <a:noFill/>
        </p:spPr>
        <p:txBody>
          <a:bodyPr wrap="square" lIns="0" tIns="0" rIns="0" bIns="0" rtlCol="0" anchor="ctr"/>
          <a:lstStyle/>
          <a:p>
            <a:pPr marL="0" indent="0" algn="ctr">
              <a:buNone/>
            </a:pPr>
            <a:r>
              <a:rPr lang="en-US" sz="1100" b="1" kern="0" spc="100" dirty="0">
                <a:solidFill>
                  <a:srgbClr val="334155"/>
                </a:solidFill>
                <a:latin typeface="Calibri" panose="020F0502020204030204" pitchFamily="34" charset="0"/>
                <a:ea typeface="Calibri" panose="020F0502020204030204" pitchFamily="34" charset="-122"/>
                <a:cs typeface="Calibri" panose="020F0502020204030204" pitchFamily="34" charset="-120"/>
              </a:rPr>
              <a:t>TAUX DE CONNEXION</a:t>
            </a:r>
            <a:endParaRPr lang="en-US" sz="1100" dirty="0"/>
          </a:p>
        </p:txBody>
      </p:sp>
      <p:sp>
        <p:nvSpPr>
          <p:cNvPr id="9" name="Shape 7"/>
          <p:cNvSpPr/>
          <p:nvPr/>
        </p:nvSpPr>
        <p:spPr>
          <a:xfrm>
            <a:off x="548640" y="4754880"/>
            <a:ext cx="5486400" cy="1325880"/>
          </a:xfrm>
          <a:prstGeom prst="roundRect">
            <a:avLst>
              <a:gd name="adj" fmla="val 4828"/>
            </a:avLst>
          </a:prstGeom>
          <a:solidFill>
            <a:srgbClr val="FFFFFF"/>
          </a:solidFill>
          <a:ln w="12700">
            <a:solidFill>
              <a:srgbClr val="E0F2FE"/>
            </a:solidFill>
            <a:prstDash val="solid"/>
          </a:ln>
        </p:spPr>
      </p:sp>
      <p:sp>
        <p:nvSpPr>
          <p:cNvPr id="10" name="Text 8"/>
          <p:cNvSpPr/>
          <p:nvPr/>
        </p:nvSpPr>
        <p:spPr>
          <a:xfrm>
            <a:off x="548640" y="4919472"/>
            <a:ext cx="5486400" cy="640080"/>
          </a:xfrm>
          <a:prstGeom prst="rect">
            <a:avLst/>
          </a:prstGeom>
          <a:noFill/>
        </p:spPr>
        <p:txBody>
          <a:bodyPr wrap="square" lIns="0" tIns="0" rIns="0" bIns="0" rtlCol="0" anchor="b"/>
          <a:lstStyle/>
          <a:p>
            <a:pPr marL="0" indent="0" algn="ctr">
              <a:buNone/>
            </a:pPr>
            <a:r>
              <a:rPr lang="en-US" sz="3400" b="1" dirty="0">
                <a:solidFill>
                  <a:srgbClr val="0284C7"/>
                </a:solidFill>
                <a:latin typeface="Calibri" panose="020F0502020204030204" pitchFamily="34" charset="0"/>
                <a:ea typeface="Calibri" panose="020F0502020204030204" pitchFamily="34" charset="-122"/>
                <a:cs typeface="Calibri" panose="020F0502020204030204" pitchFamily="34" charset="-120"/>
              </a:rPr>
              <a:t>27 332</a:t>
            </a:r>
            <a:endParaRPr lang="en-US" sz="3400" dirty="0"/>
          </a:p>
        </p:txBody>
      </p:sp>
      <p:sp>
        <p:nvSpPr>
          <p:cNvPr id="11" name="Text 9"/>
          <p:cNvSpPr/>
          <p:nvPr/>
        </p:nvSpPr>
        <p:spPr>
          <a:xfrm>
            <a:off x="685800" y="5577840"/>
            <a:ext cx="5212080" cy="411480"/>
          </a:xfrm>
          <a:prstGeom prst="rect">
            <a:avLst/>
          </a:prstGeom>
          <a:noFill/>
        </p:spPr>
        <p:txBody>
          <a:bodyPr wrap="square" lIns="0" tIns="0" rIns="0" bIns="0" rtlCol="0" anchor="ctr"/>
          <a:lstStyle/>
          <a:p>
            <a:pPr marL="0" indent="0" algn="ctr">
              <a:buNone/>
            </a:pPr>
            <a:r>
              <a:rPr lang="en-US" sz="1100" b="1" kern="0" spc="100" dirty="0">
                <a:solidFill>
                  <a:srgbClr val="334155"/>
                </a:solidFill>
                <a:latin typeface="Calibri" panose="020F0502020204030204" pitchFamily="34" charset="0"/>
                <a:ea typeface="Calibri" panose="020F0502020204030204" pitchFamily="34" charset="-122"/>
                <a:cs typeface="Calibri" panose="020F0502020204030204" pitchFamily="34" charset="-120"/>
              </a:rPr>
              <a:t>MBPS (DÉBIT DL RLC)</a:t>
            </a:r>
            <a:endParaRPr lang="en-US" sz="1100" dirty="0"/>
          </a:p>
        </p:txBody>
      </p:sp>
      <p:sp>
        <p:nvSpPr>
          <p:cNvPr id="12" name="Text 10"/>
          <p:cNvSpPr/>
          <p:nvPr/>
        </p:nvSpPr>
        <p:spPr>
          <a:xfrm>
            <a:off x="6400800" y="1554480"/>
            <a:ext cx="5242255" cy="365760"/>
          </a:xfrm>
          <a:prstGeom prst="rect">
            <a:avLst/>
          </a:prstGeom>
          <a:noFill/>
        </p:spPr>
        <p:txBody>
          <a:bodyPr wrap="square" lIns="0" tIns="0" rIns="0" bIns="0" rtlCol="0" anchor="ctr"/>
          <a:lstStyle/>
          <a:p>
            <a:pPr marL="0" indent="0">
              <a:buNone/>
            </a:pPr>
            <a:r>
              <a:rPr lang="en-US" sz="1600" b="1" dirty="0">
                <a:solidFill>
                  <a:srgbClr val="0F172A"/>
                </a:solidFill>
                <a:latin typeface="Calibri" panose="020F0502020204030204" pitchFamily="34" charset="0"/>
                <a:ea typeface="Calibri" panose="020F0502020204030204" pitchFamily="34" charset="-122"/>
                <a:cs typeface="Calibri" panose="020F0502020204030204" pitchFamily="34" charset="-120"/>
              </a:rPr>
              <a:t>Cahier des charges ACP</a:t>
            </a:r>
            <a:endParaRPr lang="en-US" sz="1600" dirty="0"/>
          </a:p>
        </p:txBody>
      </p:sp>
      <p:sp>
        <p:nvSpPr>
          <p:cNvPr id="13" name="Shape 11"/>
          <p:cNvSpPr/>
          <p:nvPr/>
        </p:nvSpPr>
        <p:spPr>
          <a:xfrm>
            <a:off x="6400800" y="2011680"/>
            <a:ext cx="5242255" cy="0"/>
          </a:xfrm>
          <a:prstGeom prst="line">
            <a:avLst/>
          </a:prstGeom>
          <a:noFill/>
          <a:ln w="12700">
            <a:solidFill>
              <a:srgbClr val="E0F2FE"/>
            </a:solidFill>
            <a:prstDash val="solid"/>
          </a:ln>
        </p:spPr>
      </p:sp>
      <p:sp>
        <p:nvSpPr>
          <p:cNvPr id="14" name="Text 12"/>
          <p:cNvSpPr/>
          <p:nvPr/>
        </p:nvSpPr>
        <p:spPr>
          <a:xfrm>
            <a:off x="6400800" y="2194560"/>
            <a:ext cx="5242255" cy="1005840"/>
          </a:xfrm>
          <a:prstGeom prst="rect">
            <a:avLst/>
          </a:prstGeom>
          <a:noFill/>
        </p:spPr>
        <p:txBody>
          <a:bodyPr wrap="square" lIns="0" tIns="0" rIns="0" bIns="0" rtlCol="0" anchor="ctr"/>
          <a:lstStyle/>
          <a:p>
            <a:pPr marL="0" indent="0">
              <a:spcAft>
                <a:spcPts val="1200"/>
              </a:spcAft>
              <a:buSzPct val="100000"/>
              <a:buNone/>
            </a:pPr>
            <a:r>
              <a:rPr lang="en-US" sz="1350" b="1" dirty="0">
                <a:solidFill>
                  <a:srgbClr val="0F172A"/>
                </a:solidFill>
                <a:latin typeface="Calibri" panose="020F0502020204030204" pitchFamily="34" charset="0"/>
                <a:ea typeface="Calibri" panose="020F0502020204030204" pitchFamily="34" charset="-122"/>
                <a:cs typeface="Calibri" panose="020F0502020204030204" pitchFamily="34" charset="-120"/>
              </a:rPr>
              <a:t>Couverture RSRP : </a:t>
            </a:r>
            <a:r>
              <a:rPr lang="en-US" sz="1350" dirty="0">
                <a:solidFill>
                  <a:srgbClr val="334155"/>
                </a:solidFill>
                <a:latin typeface="Calibri" panose="020F0502020204030204" pitchFamily="34" charset="0"/>
                <a:ea typeface="Calibri" panose="020F0502020204030204" pitchFamily="34" charset="-122"/>
                <a:cs typeface="Calibri" panose="020F0502020204030204" pitchFamily="34" charset="-120"/>
              </a:rPr>
              <a:t>&gt; -105 dBm sur 95% de la zone.</a:t>
            </a:r>
            <a:endParaRPr lang="en-US" sz="1350" dirty="0"/>
          </a:p>
          <a:p>
            <a:pPr marL="0" indent="0">
              <a:spcAft>
                <a:spcPts val="1200"/>
              </a:spcAft>
              <a:buNone/>
            </a:pPr>
            <a:r>
              <a:rPr lang="en-US" sz="1350" b="1" dirty="0">
                <a:solidFill>
                  <a:srgbClr val="0F172A"/>
                </a:solidFill>
                <a:latin typeface="Calibri" panose="020F0502020204030204" pitchFamily="34" charset="0"/>
                <a:ea typeface="Calibri" panose="020F0502020204030204" pitchFamily="34" charset="-122"/>
                <a:cs typeface="Calibri" panose="020F0502020204030204" pitchFamily="34" charset="-120"/>
              </a:rPr>
              <a:t>Qualité CINR : </a:t>
            </a:r>
            <a:r>
              <a:rPr lang="en-US" sz="1350" dirty="0">
                <a:solidFill>
                  <a:srgbClr val="334155"/>
                </a:solidFill>
                <a:latin typeface="Calibri" panose="020F0502020204030204" pitchFamily="34" charset="0"/>
                <a:ea typeface="Calibri" panose="020F0502020204030204" pitchFamily="34" charset="-122"/>
                <a:cs typeface="Calibri" panose="020F0502020204030204" pitchFamily="34" charset="-120"/>
              </a:rPr>
              <a:t>&gt; 10 dB sur 85% de la zone.</a:t>
            </a:r>
            <a:endParaRPr lang="en-US" sz="1350" dirty="0"/>
          </a:p>
        </p:txBody>
      </p:sp>
      <p:sp>
        <p:nvSpPr>
          <p:cNvPr id="15" name="Shape 13"/>
          <p:cNvSpPr/>
          <p:nvPr/>
        </p:nvSpPr>
        <p:spPr>
          <a:xfrm>
            <a:off x="6400800" y="3383280"/>
            <a:ext cx="5242255" cy="2423160"/>
          </a:xfrm>
          <a:prstGeom prst="roundRect">
            <a:avLst>
              <a:gd name="adj" fmla="val 2642"/>
            </a:avLst>
          </a:prstGeom>
          <a:solidFill>
            <a:srgbClr val="FFFFFF"/>
          </a:solidFill>
          <a:ln w="12700">
            <a:solidFill>
              <a:srgbClr val="E0F2FE"/>
            </a:solidFill>
            <a:prstDash val="solid"/>
          </a:ln>
        </p:spPr>
      </p:sp>
      <p:sp>
        <p:nvSpPr>
          <p:cNvPr id="16" name="Text 14"/>
          <p:cNvSpPr/>
          <p:nvPr/>
        </p:nvSpPr>
        <p:spPr>
          <a:xfrm>
            <a:off x="6675120" y="3611880"/>
            <a:ext cx="4693615" cy="365760"/>
          </a:xfrm>
          <a:prstGeom prst="rect">
            <a:avLst/>
          </a:prstGeom>
          <a:noFill/>
        </p:spPr>
        <p:txBody>
          <a:bodyPr wrap="square" lIns="0" tIns="0" rIns="0" bIns="0" rtlCol="0" anchor="ctr"/>
          <a:lstStyle/>
          <a:p>
            <a:pPr marL="0" indent="0">
              <a:buNone/>
            </a:pPr>
            <a:r>
              <a:rPr lang="en-US" sz="1500" b="1" dirty="0">
                <a:solidFill>
                  <a:srgbClr val="0284C7"/>
                </a:solidFill>
                <a:latin typeface="Calibri" panose="020F0502020204030204" pitchFamily="34" charset="0"/>
                <a:ea typeface="Calibri" panose="020F0502020204030204" pitchFamily="34" charset="-122"/>
                <a:cs typeface="Calibri" panose="020F0502020204030204" pitchFamily="34" charset="-120"/>
              </a:rPr>
              <a:t>Contrainte de Pixel Weighting</a:t>
            </a:r>
            <a:endParaRPr lang="en-US" sz="1500" dirty="0"/>
          </a:p>
        </p:txBody>
      </p:sp>
      <p:sp>
        <p:nvSpPr>
          <p:cNvPr id="17" name="Text 15"/>
          <p:cNvSpPr/>
          <p:nvPr/>
        </p:nvSpPr>
        <p:spPr>
          <a:xfrm>
            <a:off x="6675120" y="4023360"/>
            <a:ext cx="4693615" cy="1645920"/>
          </a:xfrm>
          <a:prstGeom prst="rect">
            <a:avLst/>
          </a:prstGeom>
          <a:noFill/>
        </p:spPr>
        <p:txBody>
          <a:bodyPr wrap="square" lIns="0" tIns="0" rIns="0" bIns="0" rtlCol="0" anchor="ctr"/>
          <a:lstStyle/>
          <a:p>
            <a:pPr marL="0" indent="0">
              <a:buNone/>
            </a:pPr>
            <a:r>
              <a:rPr lang="en-US" sz="1250" dirty="0">
                <a:solidFill>
                  <a:srgbClr val="0F172A"/>
                </a:solidFill>
                <a:latin typeface="Calibri" panose="020F0502020204030204" pitchFamily="34" charset="0"/>
                <a:ea typeface="Calibri" panose="020F0502020204030204" pitchFamily="34" charset="-122"/>
                <a:cs typeface="Calibri" panose="020F0502020204030204" pitchFamily="34" charset="-120"/>
              </a:rPr>
              <a:t>L'algorithme ACP ne traite pas la carte uniformément. Il utilise les données réelles (OSS) pour prioriser l'optimisation des secteurs supportant le plus lourd trafic eMBB, liant ainsi optimisation radio et QoE réelle.</a:t>
            </a:r>
            <a:endParaRPr lang="en-US" sz="1250" dirty="0"/>
          </a:p>
        </p:txBody>
      </p:sp>
      <p:sp>
        <p:nvSpPr>
          <p:cNvPr id="18" name="Text 16"/>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14</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Scénario 1 : Optimisation paramétrique</a:t>
            </a:r>
            <a:endParaRPr lang="en-US" sz="2800" dirty="0"/>
          </a:p>
        </p:txBody>
      </p:sp>
      <p:sp>
        <p:nvSpPr>
          <p:cNvPr id="3" name="Shape 1"/>
          <p:cNvSpPr/>
          <p:nvPr/>
        </p:nvSpPr>
        <p:spPr>
          <a:xfrm>
            <a:off x="548640" y="1508760"/>
            <a:ext cx="5486400" cy="1691640"/>
          </a:xfrm>
          <a:prstGeom prst="roundRect">
            <a:avLst>
              <a:gd name="adj" fmla="val 3784"/>
            </a:avLst>
          </a:prstGeom>
          <a:solidFill>
            <a:srgbClr val="FFFFFF"/>
          </a:solidFill>
          <a:ln w="12700">
            <a:solidFill>
              <a:srgbClr val="E0F2FE"/>
            </a:solidFill>
            <a:prstDash val="solid"/>
          </a:ln>
        </p:spPr>
      </p:sp>
      <p:sp>
        <p:nvSpPr>
          <p:cNvPr id="4" name="Text 2"/>
          <p:cNvSpPr/>
          <p:nvPr/>
        </p:nvSpPr>
        <p:spPr>
          <a:xfrm>
            <a:off x="822960" y="1737360"/>
            <a:ext cx="4937760" cy="365760"/>
          </a:xfrm>
          <a:prstGeom prst="rect">
            <a:avLst/>
          </a:prstGeom>
          <a:noFill/>
        </p:spPr>
        <p:txBody>
          <a:bodyPr wrap="square" lIns="0" tIns="0" rIns="0" bIns="0" rtlCol="0" anchor="ctr"/>
          <a:lstStyle/>
          <a:p>
            <a:pPr marL="0" indent="0">
              <a:buNone/>
            </a:pPr>
            <a:r>
              <a:rPr lang="en-US" sz="1600" b="1" dirty="0">
                <a:solidFill>
                  <a:srgbClr val="0F172A"/>
                </a:solidFill>
                <a:latin typeface="Calibri" panose="020F0502020204030204" pitchFamily="34" charset="0"/>
                <a:ea typeface="Calibri" panose="020F0502020204030204" pitchFamily="34" charset="-122"/>
                <a:cs typeface="Calibri" panose="020F0502020204030204" pitchFamily="34" charset="-120"/>
              </a:rPr>
              <a:t>131 Modifications sans ajout matériel</a:t>
            </a:r>
            <a:endParaRPr lang="en-US" sz="1600" dirty="0"/>
          </a:p>
        </p:txBody>
      </p:sp>
      <p:sp>
        <p:nvSpPr>
          <p:cNvPr id="5" name="Text 3"/>
          <p:cNvSpPr/>
          <p:nvPr/>
        </p:nvSpPr>
        <p:spPr>
          <a:xfrm>
            <a:off x="822960" y="2194560"/>
            <a:ext cx="4937760" cy="914400"/>
          </a:xfrm>
          <a:prstGeom prst="rect">
            <a:avLst/>
          </a:prstGeom>
          <a:noFill/>
        </p:spPr>
        <p:txBody>
          <a:bodyPr wrap="square" lIns="0" tIns="0" rIns="0" bIns="0" rtlCol="0" anchor="ctr"/>
          <a:lstStyle/>
          <a:p>
            <a:pPr marL="342900" indent="-342900">
              <a:spcAft>
                <a:spcPts val="400"/>
              </a:spcAft>
              <a:buSzPct val="100000"/>
              <a:buChar char="»"/>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34 Tilts Électriques</a:t>
            </a:r>
            <a:endParaRPr lang="en-US" sz="1250" dirty="0"/>
          </a:p>
          <a:p>
            <a:pPr marL="342900" indent="-342900">
              <a:spcAft>
                <a:spcPts val="400"/>
              </a:spcAft>
              <a:buSzPct val="100000"/>
              <a:buChar char="»"/>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26 Tilts Mécaniques</a:t>
            </a:r>
            <a:endParaRPr lang="en-US" sz="1250" dirty="0"/>
          </a:p>
          <a:p>
            <a:pPr marL="342900" indent="-342900">
              <a:spcAft>
                <a:spcPts val="400"/>
              </a:spcAft>
              <a:buSzPct val="100000"/>
              <a:buChar char="»"/>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39 Azimuts</a:t>
            </a:r>
            <a:endParaRPr lang="en-US" sz="1250" dirty="0"/>
          </a:p>
          <a:p>
            <a:pPr marL="342900" indent="-342900">
              <a:spcAft>
                <a:spcPts val="400"/>
              </a:spcAft>
              <a:buSzPct val="100000"/>
              <a:buChar char="»"/>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32 Puissances (TX)</a:t>
            </a:r>
            <a:endParaRPr lang="en-US" sz="1250" dirty="0"/>
          </a:p>
        </p:txBody>
      </p:sp>
      <p:sp>
        <p:nvSpPr>
          <p:cNvPr id="6" name="Text 4"/>
          <p:cNvSpPr/>
          <p:nvPr/>
        </p:nvSpPr>
        <p:spPr>
          <a:xfrm>
            <a:off x="548640" y="3383280"/>
            <a:ext cx="5486400" cy="365760"/>
          </a:xfrm>
          <a:prstGeom prst="rect">
            <a:avLst/>
          </a:prstGeom>
          <a:noFill/>
        </p:spPr>
        <p:txBody>
          <a:bodyPr wrap="square" lIns="0" tIns="0" rIns="0" bIns="0" rtlCol="0" anchor="ctr"/>
          <a:lstStyle/>
          <a:p>
            <a:pPr marL="0" indent="0">
              <a:buNone/>
            </a:pPr>
            <a:r>
              <a:rPr lang="en-US" sz="1500" b="1" dirty="0">
                <a:solidFill>
                  <a:srgbClr val="0284C7"/>
                </a:solidFill>
                <a:latin typeface="Calibri" panose="020F0502020204030204" pitchFamily="34" charset="0"/>
                <a:ea typeface="Calibri" panose="020F0502020204030204" pitchFamily="34" charset="-122"/>
                <a:cs typeface="Calibri" panose="020F0502020204030204" pitchFamily="34" charset="-120"/>
              </a:rPr>
              <a:t>Évolution KPIs (Pondéré Trafic)</a:t>
            </a:r>
            <a:endParaRPr lang="en-US" sz="1500" dirty="0"/>
          </a:p>
        </p:txBody>
      </p:sp>
      <p:sp>
        <p:nvSpPr>
          <p:cNvPr id="7" name="Text 5"/>
          <p:cNvSpPr/>
          <p:nvPr>
            <p:custDataLst>
              <p:tags r:id="rId1"/>
            </p:custDataLst>
          </p:nvPr>
        </p:nvSpPr>
        <p:spPr>
          <a:xfrm>
            <a:off x="548640" y="3794760"/>
            <a:ext cx="4572000" cy="274320"/>
          </a:xfrm>
          <a:prstGeom prst="rect">
            <a:avLst/>
          </a:prstGeom>
          <a:noFill/>
        </p:spPr>
        <p:txBody>
          <a:bodyPr wrap="square" lIns="0" tIns="0" rIns="0" bIns="0" rtlCol="0" anchor="ctr"/>
          <a:lstStyle/>
          <a:p>
            <a:pPr marL="0" indent="0">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sym typeface="+mn-ea"/>
              </a:rPr>
              <a:t>SS-RSRP</a:t>
            </a: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 &gt; -105 dBm (Avant)</a:t>
            </a:r>
            <a:endParaRPr lang="en-US" sz="1250" dirty="0"/>
          </a:p>
        </p:txBody>
      </p:sp>
      <p:sp>
        <p:nvSpPr>
          <p:cNvPr id="8" name="Text 6"/>
          <p:cNvSpPr/>
          <p:nvPr>
            <p:custDataLst>
              <p:tags r:id="rId2"/>
            </p:custDataLst>
          </p:nvPr>
        </p:nvSpPr>
        <p:spPr>
          <a:xfrm>
            <a:off x="5120640" y="3794760"/>
            <a:ext cx="914400" cy="274320"/>
          </a:xfrm>
          <a:prstGeom prst="rect">
            <a:avLst/>
          </a:prstGeom>
          <a:noFill/>
        </p:spPr>
        <p:txBody>
          <a:bodyPr wrap="square" lIns="0" tIns="0" rIns="0" bIns="0" rtlCol="0" anchor="ctr"/>
          <a:lstStyle/>
          <a:p>
            <a:pPr marL="0" indent="0" algn="r">
              <a:buNone/>
            </a:pPr>
            <a:r>
              <a:rPr lang="en-US" sz="1250" b="1" dirty="0">
                <a:solidFill>
                  <a:srgbClr val="64748B"/>
                </a:solidFill>
                <a:latin typeface="Calibri" panose="020F0502020204030204" pitchFamily="34" charset="0"/>
                <a:ea typeface="Calibri" panose="020F0502020204030204" pitchFamily="34" charset="-122"/>
                <a:cs typeface="Calibri" panose="020F0502020204030204" pitchFamily="34" charset="-120"/>
              </a:rPr>
              <a:t>90.39%</a:t>
            </a:r>
            <a:endParaRPr lang="en-US" sz="1250" dirty="0"/>
          </a:p>
        </p:txBody>
      </p:sp>
      <p:sp>
        <p:nvSpPr>
          <p:cNvPr id="9" name="Shape 7"/>
          <p:cNvSpPr/>
          <p:nvPr>
            <p:custDataLst>
              <p:tags r:id="rId3"/>
            </p:custDataLst>
          </p:nvPr>
        </p:nvSpPr>
        <p:spPr>
          <a:xfrm>
            <a:off x="548640" y="4087368"/>
            <a:ext cx="5486400" cy="146304"/>
          </a:xfrm>
          <a:prstGeom prst="rect">
            <a:avLst/>
          </a:prstGeom>
          <a:solidFill>
            <a:srgbClr val="EFF6FF"/>
          </a:solidFill>
        </p:spPr>
      </p:sp>
      <p:sp>
        <p:nvSpPr>
          <p:cNvPr id="10" name="Shape 8"/>
          <p:cNvSpPr/>
          <p:nvPr>
            <p:custDataLst>
              <p:tags r:id="rId4"/>
            </p:custDataLst>
          </p:nvPr>
        </p:nvSpPr>
        <p:spPr>
          <a:xfrm>
            <a:off x="548640" y="4087368"/>
            <a:ext cx="4959157" cy="146304"/>
          </a:xfrm>
          <a:prstGeom prst="rect">
            <a:avLst/>
          </a:prstGeom>
          <a:solidFill>
            <a:srgbClr val="64748B"/>
          </a:solidFill>
        </p:spPr>
      </p:sp>
      <p:sp>
        <p:nvSpPr>
          <p:cNvPr id="11" name="Text 9"/>
          <p:cNvSpPr/>
          <p:nvPr>
            <p:custDataLst>
              <p:tags r:id="rId5"/>
            </p:custDataLst>
          </p:nvPr>
        </p:nvSpPr>
        <p:spPr>
          <a:xfrm>
            <a:off x="548640" y="4389120"/>
            <a:ext cx="4572000" cy="274320"/>
          </a:xfrm>
          <a:prstGeom prst="rect">
            <a:avLst/>
          </a:prstGeom>
          <a:noFill/>
        </p:spPr>
        <p:txBody>
          <a:bodyPr wrap="square" lIns="0" tIns="0" rIns="0" bIns="0" rtlCol="0" anchor="ctr"/>
          <a:lstStyle/>
          <a:p>
            <a:pPr marL="0" indent="0">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sym typeface="+mn-ea"/>
              </a:rPr>
              <a:t>SS-RSRP</a:t>
            </a: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 &gt; -105 dBm (Après)</a:t>
            </a:r>
            <a:endParaRPr lang="en-US" sz="1250" dirty="0"/>
          </a:p>
        </p:txBody>
      </p:sp>
      <p:sp>
        <p:nvSpPr>
          <p:cNvPr id="12" name="Text 10"/>
          <p:cNvSpPr/>
          <p:nvPr>
            <p:custDataLst>
              <p:tags r:id="rId6"/>
            </p:custDataLst>
          </p:nvPr>
        </p:nvSpPr>
        <p:spPr>
          <a:xfrm>
            <a:off x="5120640" y="4389120"/>
            <a:ext cx="914400" cy="274320"/>
          </a:xfrm>
          <a:prstGeom prst="rect">
            <a:avLst/>
          </a:prstGeom>
          <a:noFill/>
        </p:spPr>
        <p:txBody>
          <a:bodyPr wrap="square" lIns="0" tIns="0" rIns="0" bIns="0" rtlCol="0" anchor="ctr"/>
          <a:lstStyle/>
          <a:p>
            <a:pPr marL="0" indent="0" algn="r">
              <a:buNone/>
            </a:pPr>
            <a:r>
              <a:rPr lang="en-US" sz="1250" b="1" dirty="0">
                <a:solidFill>
                  <a:srgbClr val="0284C7"/>
                </a:solidFill>
                <a:latin typeface="Calibri" panose="020F0502020204030204" pitchFamily="34" charset="0"/>
                <a:ea typeface="Calibri" panose="020F0502020204030204" pitchFamily="34" charset="-122"/>
                <a:cs typeface="Calibri" panose="020F0502020204030204" pitchFamily="34" charset="-120"/>
              </a:rPr>
              <a:t>93.47%</a:t>
            </a:r>
            <a:endParaRPr lang="en-US" sz="1250" dirty="0"/>
          </a:p>
        </p:txBody>
      </p:sp>
      <p:sp>
        <p:nvSpPr>
          <p:cNvPr id="13" name="Shape 11"/>
          <p:cNvSpPr/>
          <p:nvPr>
            <p:custDataLst>
              <p:tags r:id="rId7"/>
            </p:custDataLst>
          </p:nvPr>
        </p:nvSpPr>
        <p:spPr>
          <a:xfrm>
            <a:off x="548640" y="4681728"/>
            <a:ext cx="5486400" cy="146304"/>
          </a:xfrm>
          <a:prstGeom prst="rect">
            <a:avLst/>
          </a:prstGeom>
          <a:solidFill>
            <a:srgbClr val="EFF6FF"/>
          </a:solidFill>
        </p:spPr>
      </p:sp>
      <p:sp>
        <p:nvSpPr>
          <p:cNvPr id="14" name="Shape 12"/>
          <p:cNvSpPr/>
          <p:nvPr>
            <p:custDataLst>
              <p:tags r:id="rId8"/>
            </p:custDataLst>
          </p:nvPr>
        </p:nvSpPr>
        <p:spPr>
          <a:xfrm>
            <a:off x="548640" y="4681728"/>
            <a:ext cx="5128138" cy="146304"/>
          </a:xfrm>
          <a:prstGeom prst="rect">
            <a:avLst/>
          </a:prstGeom>
          <a:solidFill>
            <a:srgbClr val="0284C7"/>
          </a:solidFill>
        </p:spPr>
      </p:sp>
      <p:sp>
        <p:nvSpPr>
          <p:cNvPr id="15" name="Text 13"/>
          <p:cNvSpPr/>
          <p:nvPr>
            <p:custDataLst>
              <p:tags r:id="rId9"/>
            </p:custDataLst>
          </p:nvPr>
        </p:nvSpPr>
        <p:spPr>
          <a:xfrm>
            <a:off x="548640" y="4983480"/>
            <a:ext cx="4572000" cy="274320"/>
          </a:xfrm>
          <a:prstGeom prst="rect">
            <a:avLst/>
          </a:prstGeom>
          <a:noFill/>
        </p:spPr>
        <p:txBody>
          <a:bodyPr wrap="square" lIns="0" tIns="0" rIns="0" bIns="0" rtlCol="0" anchor="ctr"/>
          <a:lstStyle/>
          <a:p>
            <a:pPr marL="0" indent="0">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CINR &gt; 10 dB (Avant)</a:t>
            </a:r>
            <a:endParaRPr lang="en-US" sz="1250" dirty="0"/>
          </a:p>
        </p:txBody>
      </p:sp>
      <p:sp>
        <p:nvSpPr>
          <p:cNvPr id="16" name="Text 14"/>
          <p:cNvSpPr/>
          <p:nvPr>
            <p:custDataLst>
              <p:tags r:id="rId10"/>
            </p:custDataLst>
          </p:nvPr>
        </p:nvSpPr>
        <p:spPr>
          <a:xfrm>
            <a:off x="5120640" y="4983480"/>
            <a:ext cx="914400" cy="274320"/>
          </a:xfrm>
          <a:prstGeom prst="rect">
            <a:avLst/>
          </a:prstGeom>
          <a:noFill/>
        </p:spPr>
        <p:txBody>
          <a:bodyPr wrap="square" lIns="0" tIns="0" rIns="0" bIns="0" rtlCol="0" anchor="ctr"/>
          <a:lstStyle/>
          <a:p>
            <a:pPr marL="0" indent="0" algn="r">
              <a:buNone/>
            </a:pPr>
            <a:r>
              <a:rPr lang="fr-FR" altLang="en-US" sz="1250" b="1" dirty="0">
                <a:solidFill>
                  <a:srgbClr val="64748B"/>
                </a:solidFill>
                <a:latin typeface="Calibri" panose="020F0502020204030204" pitchFamily="34" charset="0"/>
                <a:ea typeface="Calibri" panose="020F0502020204030204" pitchFamily="34" charset="-122"/>
                <a:cs typeface="Calibri" panose="020F0502020204030204" pitchFamily="34" charset="-120"/>
              </a:rPr>
              <a:t>17.84</a:t>
            </a:r>
            <a:r>
              <a:rPr lang="en-US" sz="1250" b="1" dirty="0">
                <a:solidFill>
                  <a:srgbClr val="64748B"/>
                </a:solidFill>
                <a:latin typeface="Calibri" panose="020F0502020204030204" pitchFamily="34" charset="0"/>
                <a:ea typeface="Calibri" panose="020F0502020204030204" pitchFamily="34" charset="-122"/>
                <a:cs typeface="Calibri" panose="020F0502020204030204" pitchFamily="34" charset="-120"/>
              </a:rPr>
              <a:t>%</a:t>
            </a:r>
            <a:endParaRPr lang="en-US" sz="1250" dirty="0"/>
          </a:p>
        </p:txBody>
      </p:sp>
      <p:sp>
        <p:nvSpPr>
          <p:cNvPr id="17" name="Shape 15"/>
          <p:cNvSpPr/>
          <p:nvPr>
            <p:custDataLst>
              <p:tags r:id="rId11"/>
            </p:custDataLst>
          </p:nvPr>
        </p:nvSpPr>
        <p:spPr>
          <a:xfrm>
            <a:off x="548640" y="5276088"/>
            <a:ext cx="5486400" cy="146304"/>
          </a:xfrm>
          <a:prstGeom prst="rect">
            <a:avLst/>
          </a:prstGeom>
          <a:solidFill>
            <a:srgbClr val="EFF6FF"/>
          </a:solidFill>
        </p:spPr>
      </p:sp>
      <p:sp>
        <p:nvSpPr>
          <p:cNvPr id="18" name="Shape 16"/>
          <p:cNvSpPr/>
          <p:nvPr>
            <p:custDataLst>
              <p:tags r:id="rId12"/>
            </p:custDataLst>
          </p:nvPr>
        </p:nvSpPr>
        <p:spPr>
          <a:xfrm>
            <a:off x="548640" y="5279390"/>
            <a:ext cx="1564640" cy="142875"/>
          </a:xfrm>
          <a:prstGeom prst="rect">
            <a:avLst/>
          </a:prstGeom>
          <a:solidFill>
            <a:srgbClr val="64748B"/>
          </a:solidFill>
        </p:spPr>
      </p:sp>
      <p:sp>
        <p:nvSpPr>
          <p:cNvPr id="19" name="Shape 17"/>
          <p:cNvSpPr/>
          <p:nvPr/>
        </p:nvSpPr>
        <p:spPr>
          <a:xfrm>
            <a:off x="6400800" y="1508760"/>
            <a:ext cx="5242255" cy="4434840"/>
          </a:xfrm>
          <a:prstGeom prst="roundRect">
            <a:avLst>
              <a:gd name="adj" fmla="val 1443"/>
            </a:avLst>
          </a:prstGeom>
          <a:solidFill>
            <a:srgbClr val="F1F5F9"/>
          </a:solidFill>
          <a:ln w="12700">
            <a:solidFill>
              <a:srgbClr val="E0F2FE"/>
            </a:solidFill>
            <a:prstDash val="solid"/>
          </a:ln>
        </p:spPr>
      </p:sp>
      <p:pic>
        <p:nvPicPr>
          <p:cNvPr id="20" name="Image 0" descr="preencoded.png"/>
          <p:cNvPicPr>
            <a:picLocks noChangeAspect="1"/>
          </p:cNvPicPr>
          <p:nvPr/>
        </p:nvPicPr>
        <p:blipFill>
          <a:blip r:embed="rId13"/>
          <a:stretch>
            <a:fillRect/>
          </a:stretch>
        </p:blipFill>
        <p:spPr>
          <a:xfrm>
            <a:off x="8701888" y="3337560"/>
            <a:ext cx="640080" cy="640080"/>
          </a:xfrm>
          <a:prstGeom prst="rect">
            <a:avLst/>
          </a:prstGeom>
        </p:spPr>
      </p:pic>
      <p:sp>
        <p:nvSpPr>
          <p:cNvPr id="21" name="Text 18"/>
          <p:cNvSpPr/>
          <p:nvPr/>
        </p:nvSpPr>
        <p:spPr>
          <a:xfrm>
            <a:off x="6675120" y="4114800"/>
            <a:ext cx="4693615" cy="365760"/>
          </a:xfrm>
          <a:prstGeom prst="rect">
            <a:avLst/>
          </a:prstGeom>
          <a:noFill/>
        </p:spPr>
        <p:txBody>
          <a:bodyPr wrap="square" lIns="0" tIns="0" rIns="0" bIns="0" rtlCol="0" anchor="ctr"/>
          <a:lstStyle/>
          <a:p>
            <a:pPr marL="0" indent="0" algn="ctr">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Optimisation des tilts et azimuts</a:t>
            </a:r>
            <a:endParaRPr lang="en-US" sz="1200" dirty="0"/>
          </a:p>
        </p:txBody>
      </p:sp>
      <p:sp>
        <p:nvSpPr>
          <p:cNvPr id="22" name="Text 19"/>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15</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
        <p:nvSpPr>
          <p:cNvPr id="25" name="Shape 11"/>
          <p:cNvSpPr/>
          <p:nvPr>
            <p:custDataLst>
              <p:tags r:id="rId14"/>
            </p:custDataLst>
          </p:nvPr>
        </p:nvSpPr>
        <p:spPr>
          <a:xfrm>
            <a:off x="548640" y="5852033"/>
            <a:ext cx="5486400" cy="146304"/>
          </a:xfrm>
          <a:prstGeom prst="rect">
            <a:avLst/>
          </a:prstGeom>
          <a:solidFill>
            <a:srgbClr val="EFF6FF"/>
          </a:solidFill>
        </p:spPr>
      </p:sp>
      <p:sp>
        <p:nvSpPr>
          <p:cNvPr id="27" name="Shape 12"/>
          <p:cNvSpPr/>
          <p:nvPr>
            <p:custDataLst>
              <p:tags r:id="rId15"/>
            </p:custDataLst>
          </p:nvPr>
        </p:nvSpPr>
        <p:spPr>
          <a:xfrm>
            <a:off x="548640" y="5852160"/>
            <a:ext cx="3828415" cy="148590"/>
          </a:xfrm>
          <a:prstGeom prst="rect">
            <a:avLst/>
          </a:prstGeom>
          <a:solidFill>
            <a:srgbClr val="0284C7"/>
          </a:solidFill>
        </p:spPr>
      </p:sp>
      <p:sp>
        <p:nvSpPr>
          <p:cNvPr id="28" name="Text 14"/>
          <p:cNvSpPr/>
          <p:nvPr>
            <p:custDataLst>
              <p:tags r:id="rId16"/>
            </p:custDataLst>
          </p:nvPr>
        </p:nvSpPr>
        <p:spPr>
          <a:xfrm>
            <a:off x="5120640" y="5577840"/>
            <a:ext cx="914400" cy="274320"/>
          </a:xfrm>
          <a:prstGeom prst="rect">
            <a:avLst/>
          </a:prstGeom>
          <a:noFill/>
        </p:spPr>
        <p:txBody>
          <a:bodyPr wrap="square" lIns="0" tIns="0" rIns="0" bIns="0" rtlCol="0" anchor="ctr"/>
          <a:lstStyle/>
          <a:p>
            <a:pPr marL="0" indent="0" algn="r">
              <a:buNone/>
            </a:pPr>
            <a:r>
              <a:rPr lang="fr-FR" altLang="en-US" sz="1250" b="1" dirty="0">
                <a:solidFill>
                  <a:srgbClr val="64748B"/>
                </a:solidFill>
                <a:latin typeface="Calibri" panose="020F0502020204030204" pitchFamily="34" charset="0"/>
                <a:ea typeface="Calibri" panose="020F0502020204030204" pitchFamily="34" charset="-122"/>
                <a:cs typeface="Calibri" panose="020F0502020204030204" pitchFamily="34" charset="-120"/>
              </a:rPr>
              <a:t>77.36</a:t>
            </a:r>
            <a:r>
              <a:rPr lang="en-US" sz="1250" b="1" dirty="0">
                <a:solidFill>
                  <a:srgbClr val="64748B"/>
                </a:solidFill>
                <a:latin typeface="Calibri" panose="020F0502020204030204" pitchFamily="34" charset="0"/>
                <a:ea typeface="Calibri" panose="020F0502020204030204" pitchFamily="34" charset="-122"/>
                <a:cs typeface="Calibri" panose="020F0502020204030204" pitchFamily="34" charset="-120"/>
              </a:rPr>
              <a:t>%</a:t>
            </a:r>
            <a:endParaRPr lang="en-US" sz="1250" dirty="0"/>
          </a:p>
        </p:txBody>
      </p:sp>
      <p:sp>
        <p:nvSpPr>
          <p:cNvPr id="29" name="Zone de texte 28"/>
          <p:cNvSpPr txBox="1"/>
          <p:nvPr>
            <p:custDataLst>
              <p:tags r:id="rId17"/>
            </p:custDataLst>
          </p:nvPr>
        </p:nvSpPr>
        <p:spPr>
          <a:xfrm>
            <a:off x="485140" y="5538470"/>
            <a:ext cx="6096000" cy="283210"/>
          </a:xfrm>
          <a:prstGeom prst="rect">
            <a:avLst/>
          </a:prstGeom>
          <a:noFill/>
        </p:spPr>
        <p:txBody>
          <a:bodyPr wrap="square" rtlCol="0" anchor="t">
            <a:spAutoFit/>
          </a:bodyPr>
          <a:p>
            <a:pPr marL="0" indent="0">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sym typeface="+mn-ea"/>
              </a:rPr>
              <a:t>CINR &gt; 10 dB (Après)</a:t>
            </a:r>
            <a:endParaRPr lang="en-US" alt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Scénario 1 : Capacité &amp; Modulation</a:t>
            </a:r>
            <a:endParaRPr lang="en-US" sz="2800" dirty="0"/>
          </a:p>
        </p:txBody>
      </p:sp>
      <p:sp>
        <p:nvSpPr>
          <p:cNvPr id="3" name="Shape 1"/>
          <p:cNvSpPr/>
          <p:nvPr/>
        </p:nvSpPr>
        <p:spPr>
          <a:xfrm>
            <a:off x="548640" y="1554480"/>
            <a:ext cx="5120640" cy="1828800"/>
          </a:xfrm>
          <a:prstGeom prst="roundRect">
            <a:avLst>
              <a:gd name="adj" fmla="val 3500"/>
            </a:avLst>
          </a:prstGeom>
          <a:solidFill>
            <a:srgbClr val="FFFFFF"/>
          </a:solidFill>
          <a:ln w="12700">
            <a:solidFill>
              <a:srgbClr val="E0F2FE"/>
            </a:solidFill>
            <a:prstDash val="solid"/>
          </a:ln>
        </p:spPr>
      </p:sp>
      <p:sp>
        <p:nvSpPr>
          <p:cNvPr id="4" name="Text 2"/>
          <p:cNvSpPr/>
          <p:nvPr/>
        </p:nvSpPr>
        <p:spPr>
          <a:xfrm>
            <a:off x="822960" y="1783080"/>
            <a:ext cx="4572000" cy="365760"/>
          </a:xfrm>
          <a:prstGeom prst="rect">
            <a:avLst/>
          </a:prstGeom>
          <a:noFill/>
        </p:spPr>
        <p:txBody>
          <a:bodyPr wrap="square" lIns="0" tIns="0" rIns="0" bIns="0" rtlCol="0" anchor="ctr"/>
          <a:lstStyle/>
          <a:p>
            <a:pPr marL="0" indent="0">
              <a:buNone/>
            </a:pPr>
            <a:r>
              <a:rPr lang="en-US" sz="1600" b="1" dirty="0">
                <a:solidFill>
                  <a:srgbClr val="0284C7"/>
                </a:solidFill>
                <a:latin typeface="Calibri" panose="020F0502020204030204" pitchFamily="34" charset="0"/>
                <a:ea typeface="Calibri" panose="020F0502020204030204" pitchFamily="34" charset="-122"/>
                <a:cs typeface="Calibri" panose="020F0502020204030204" pitchFamily="34" charset="-120"/>
              </a:rPr>
              <a:t>Évolution MCS (Modulation)</a:t>
            </a:r>
            <a:endParaRPr lang="en-US" sz="1600" dirty="0"/>
          </a:p>
        </p:txBody>
      </p:sp>
      <p:sp>
        <p:nvSpPr>
          <p:cNvPr id="5" name="Text 3"/>
          <p:cNvSpPr/>
          <p:nvPr/>
        </p:nvSpPr>
        <p:spPr>
          <a:xfrm>
            <a:off x="822960" y="2194560"/>
            <a:ext cx="4572000" cy="548640"/>
          </a:xfrm>
          <a:prstGeom prst="rect">
            <a:avLst/>
          </a:prstGeom>
          <a:noFill/>
        </p:spPr>
        <p:txBody>
          <a:bodyPr wrap="square" lIns="0" tIns="0" rIns="0" bIns="0" rtlCol="0" anchor="ctr"/>
          <a:lstStyle/>
          <a:p>
            <a:pPr marL="0" indent="0">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L'isolation des interférences a permis la transition vers des modulations supérieures.</a:t>
            </a:r>
            <a:endParaRPr lang="en-US" sz="1200" dirty="0"/>
          </a:p>
        </p:txBody>
      </p:sp>
      <p:sp>
        <p:nvSpPr>
          <p:cNvPr id="6" name="Shape 4"/>
          <p:cNvSpPr/>
          <p:nvPr/>
        </p:nvSpPr>
        <p:spPr>
          <a:xfrm>
            <a:off x="822960" y="2788920"/>
            <a:ext cx="4572000" cy="0"/>
          </a:xfrm>
          <a:prstGeom prst="line">
            <a:avLst/>
          </a:prstGeom>
          <a:noFill/>
          <a:ln w="12700">
            <a:solidFill>
              <a:srgbClr val="E0F2FE"/>
            </a:solidFill>
            <a:prstDash val="dash"/>
          </a:ln>
        </p:spPr>
      </p:sp>
      <p:sp>
        <p:nvSpPr>
          <p:cNvPr id="7" name="Text 5"/>
          <p:cNvSpPr/>
          <p:nvPr/>
        </p:nvSpPr>
        <p:spPr>
          <a:xfrm>
            <a:off x="822960" y="2880360"/>
            <a:ext cx="2286000" cy="274320"/>
          </a:xfrm>
          <a:prstGeom prst="rect">
            <a:avLst/>
          </a:prstGeom>
          <a:noFill/>
        </p:spPr>
        <p:txBody>
          <a:bodyPr wrap="square" lIns="0" tIns="0" rIns="0" bIns="0" rtlCol="0" anchor="ctr"/>
          <a:lstStyle/>
          <a:p>
            <a:pPr marL="0" indent="0">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QPSK (Surface km²)</a:t>
            </a:r>
            <a:endParaRPr lang="en-US" sz="1100" dirty="0"/>
          </a:p>
        </p:txBody>
      </p:sp>
      <p:sp>
        <p:nvSpPr>
          <p:cNvPr id="8" name="Text 6"/>
          <p:cNvSpPr/>
          <p:nvPr/>
        </p:nvSpPr>
        <p:spPr>
          <a:xfrm>
            <a:off x="3108960" y="2880360"/>
            <a:ext cx="2286000" cy="274320"/>
          </a:xfrm>
          <a:prstGeom prst="rect">
            <a:avLst/>
          </a:prstGeom>
          <a:noFill/>
        </p:spPr>
        <p:txBody>
          <a:bodyPr wrap="square" lIns="0" tIns="0" rIns="0" bIns="0" rtlCol="0" anchor="ctr"/>
          <a:lstStyle/>
          <a:p>
            <a:pPr marL="0" indent="0" algn="r">
              <a:buNone/>
            </a:pPr>
            <a:r>
              <a:rPr lang="en-US" sz="1100" dirty="0">
                <a:solidFill>
                  <a:srgbClr val="334155"/>
                </a:solidFill>
                <a:latin typeface="Calibri" panose="020F0502020204030204" pitchFamily="34" charset="0"/>
                <a:ea typeface="Calibri" panose="020F0502020204030204" pitchFamily="34" charset="-122"/>
                <a:cs typeface="Calibri" panose="020F0502020204030204" pitchFamily="34" charset="-120"/>
              </a:rPr>
              <a:t>16/64-QAM (km²)</a:t>
            </a:r>
            <a:endParaRPr lang="en-US" sz="1100" dirty="0"/>
          </a:p>
        </p:txBody>
      </p:sp>
      <p:sp>
        <p:nvSpPr>
          <p:cNvPr id="9" name="Text 7"/>
          <p:cNvSpPr/>
          <p:nvPr/>
        </p:nvSpPr>
        <p:spPr>
          <a:xfrm>
            <a:off x="822960" y="3108960"/>
            <a:ext cx="2286000" cy="27432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Avant: ~12.0</a:t>
            </a:r>
            <a:endParaRPr lang="en-US" sz="1300" dirty="0"/>
          </a:p>
        </p:txBody>
      </p:sp>
      <p:sp>
        <p:nvSpPr>
          <p:cNvPr id="10" name="Text 8"/>
          <p:cNvSpPr/>
          <p:nvPr/>
        </p:nvSpPr>
        <p:spPr>
          <a:xfrm>
            <a:off x="3108960" y="3108960"/>
            <a:ext cx="2286000" cy="274320"/>
          </a:xfrm>
          <a:prstGeom prst="rect">
            <a:avLst/>
          </a:prstGeom>
          <a:noFill/>
        </p:spPr>
        <p:txBody>
          <a:bodyPr wrap="square" lIns="0" tIns="0" rIns="0" bIns="0" rtlCol="0" anchor="ctr"/>
          <a:lstStyle/>
          <a:p>
            <a:pPr marL="0" indent="0" algn="r">
              <a:buNone/>
            </a:pPr>
            <a:r>
              <a:rPr lang="en-US" sz="1300" b="1" dirty="0">
                <a:solidFill>
                  <a:srgbClr val="0284C7"/>
                </a:solidFill>
                <a:latin typeface="Calibri" panose="020F0502020204030204" pitchFamily="34" charset="0"/>
                <a:ea typeface="Calibri" panose="020F0502020204030204" pitchFamily="34" charset="-122"/>
                <a:cs typeface="Calibri" panose="020F0502020204030204" pitchFamily="34" charset="-120"/>
              </a:rPr>
              <a:t>Après: Forte Hausse</a:t>
            </a:r>
            <a:endParaRPr lang="en-US" sz="1300" dirty="0"/>
          </a:p>
        </p:txBody>
      </p:sp>
      <p:sp>
        <p:nvSpPr>
          <p:cNvPr id="11" name="Shape 9"/>
          <p:cNvSpPr/>
          <p:nvPr/>
        </p:nvSpPr>
        <p:spPr>
          <a:xfrm>
            <a:off x="548640" y="3657600"/>
            <a:ext cx="5120640" cy="1463040"/>
          </a:xfrm>
          <a:prstGeom prst="roundRect">
            <a:avLst>
              <a:gd name="adj" fmla="val 4375"/>
            </a:avLst>
          </a:prstGeom>
          <a:solidFill>
            <a:srgbClr val="EFF6FF"/>
          </a:solidFill>
          <a:ln w="12700">
            <a:solidFill>
              <a:srgbClr val="E0F2FE"/>
            </a:solidFill>
            <a:prstDash val="solid"/>
          </a:ln>
        </p:spPr>
      </p:sp>
      <p:sp>
        <p:nvSpPr>
          <p:cNvPr id="12" name="Text 10"/>
          <p:cNvSpPr/>
          <p:nvPr/>
        </p:nvSpPr>
        <p:spPr>
          <a:xfrm>
            <a:off x="822960" y="3840480"/>
            <a:ext cx="4572000" cy="365760"/>
          </a:xfrm>
          <a:prstGeom prst="rect">
            <a:avLst/>
          </a:prstGeom>
          <a:noFill/>
        </p:spPr>
        <p:txBody>
          <a:bodyPr wrap="square" lIns="0" tIns="0" rIns="0" bIns="0" rtlCol="0" anchor="ctr"/>
          <a:lstStyle/>
          <a:p>
            <a:pPr marL="0" indent="0">
              <a:buNone/>
            </a:pPr>
            <a:r>
              <a:rPr lang="en-US" sz="1600" b="1" dirty="0">
                <a:solidFill>
                  <a:srgbClr val="0284C7"/>
                </a:solidFill>
                <a:latin typeface="Calibri" panose="020F0502020204030204" pitchFamily="34" charset="0"/>
                <a:ea typeface="Calibri" panose="020F0502020204030204" pitchFamily="34" charset="-122"/>
                <a:cs typeface="Calibri" panose="020F0502020204030204" pitchFamily="34" charset="-120"/>
              </a:rPr>
              <a:t>Gain de Capacité : +13%</a:t>
            </a:r>
            <a:endParaRPr lang="en-US" sz="1600" dirty="0"/>
          </a:p>
        </p:txBody>
      </p:sp>
      <p:sp>
        <p:nvSpPr>
          <p:cNvPr id="13" name="Text 11"/>
          <p:cNvSpPr/>
          <p:nvPr/>
        </p:nvSpPr>
        <p:spPr>
          <a:xfrm>
            <a:off x="822960" y="4251960"/>
            <a:ext cx="4572000" cy="640080"/>
          </a:xfrm>
          <a:prstGeom prst="rect">
            <a:avLst/>
          </a:prstGeom>
          <a:noFill/>
        </p:spPr>
        <p:txBody>
          <a:bodyPr wrap="square" lIns="0" tIns="0" rIns="0" bIns="0" rtlCol="0" anchor="ctr"/>
          <a:lstStyle/>
          <a:p>
            <a:pPr marL="0" indent="0">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Sans ajout matériel, le réseau absorbe mieux le trafic.</a:t>
            </a:r>
            <a:endParaRPr lang="en-US" sz="1250" dirty="0"/>
          </a:p>
        </p:txBody>
      </p:sp>
      <p:sp>
        <p:nvSpPr>
          <p:cNvPr id="14" name="Text 12"/>
          <p:cNvSpPr/>
          <p:nvPr/>
        </p:nvSpPr>
        <p:spPr>
          <a:xfrm>
            <a:off x="6035040" y="1554480"/>
            <a:ext cx="5608015" cy="365760"/>
          </a:xfrm>
          <a:prstGeom prst="rect">
            <a:avLst/>
          </a:prstGeom>
          <a:noFill/>
        </p:spPr>
        <p:txBody>
          <a:bodyPr wrap="square" lIns="0" tIns="0" rIns="0" bIns="0" rtlCol="0" anchor="ctr"/>
          <a:lstStyle/>
          <a:p>
            <a:pPr marL="0" indent="0" algn="ctr">
              <a:buNone/>
            </a:pPr>
            <a:r>
              <a:rPr lang="en-US" sz="1600" b="1" dirty="0">
                <a:solidFill>
                  <a:srgbClr val="0F172A"/>
                </a:solidFill>
                <a:latin typeface="Calibri" panose="020F0502020204030204" pitchFamily="34" charset="0"/>
                <a:ea typeface="Calibri" panose="020F0502020204030204" pitchFamily="34" charset="-122"/>
                <a:cs typeface="Calibri" panose="020F0502020204030204" pitchFamily="34" charset="-120"/>
              </a:rPr>
              <a:t>Débit RLC Downlink (Moyen)</a:t>
            </a:r>
            <a:endParaRPr lang="en-US" sz="1600" dirty="0"/>
          </a:p>
        </p:txBody>
      </p:sp>
      <p:sp>
        <p:nvSpPr>
          <p:cNvPr id="15" name="Shape 13"/>
          <p:cNvSpPr/>
          <p:nvPr/>
        </p:nvSpPr>
        <p:spPr>
          <a:xfrm>
            <a:off x="6035040" y="2103120"/>
            <a:ext cx="5608015" cy="868680"/>
          </a:xfrm>
          <a:prstGeom prst="roundRect">
            <a:avLst>
              <a:gd name="adj" fmla="val 7368"/>
            </a:avLst>
          </a:prstGeom>
          <a:solidFill>
            <a:srgbClr val="EFF6FF"/>
          </a:solidFill>
          <a:ln w="12700">
            <a:solidFill>
              <a:srgbClr val="E0F2FE"/>
            </a:solidFill>
            <a:prstDash val="solid"/>
          </a:ln>
        </p:spPr>
      </p:sp>
      <p:sp>
        <p:nvSpPr>
          <p:cNvPr id="16" name="Text 14"/>
          <p:cNvSpPr/>
          <p:nvPr/>
        </p:nvSpPr>
        <p:spPr>
          <a:xfrm>
            <a:off x="6309360" y="2103120"/>
            <a:ext cx="1463040" cy="86868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Initial</a:t>
            </a:r>
            <a:endParaRPr lang="en-US" sz="1300" dirty="0"/>
          </a:p>
        </p:txBody>
      </p:sp>
      <p:sp>
        <p:nvSpPr>
          <p:cNvPr id="17" name="Shape 15"/>
          <p:cNvSpPr/>
          <p:nvPr/>
        </p:nvSpPr>
        <p:spPr>
          <a:xfrm>
            <a:off x="7863840" y="2423160"/>
            <a:ext cx="2133295" cy="228600"/>
          </a:xfrm>
          <a:prstGeom prst="rect">
            <a:avLst/>
          </a:prstGeom>
          <a:solidFill>
            <a:srgbClr val="E0F2FE"/>
          </a:solidFill>
        </p:spPr>
      </p:sp>
      <p:sp>
        <p:nvSpPr>
          <p:cNvPr id="18" name="Shape 16"/>
          <p:cNvSpPr/>
          <p:nvPr/>
        </p:nvSpPr>
        <p:spPr>
          <a:xfrm>
            <a:off x="7863840" y="2423160"/>
            <a:ext cx="1630084" cy="228600"/>
          </a:xfrm>
          <a:prstGeom prst="rect">
            <a:avLst/>
          </a:prstGeom>
          <a:solidFill>
            <a:srgbClr val="64748B"/>
          </a:solidFill>
        </p:spPr>
      </p:sp>
      <p:sp>
        <p:nvSpPr>
          <p:cNvPr id="19" name="Text 17"/>
          <p:cNvSpPr/>
          <p:nvPr/>
        </p:nvSpPr>
        <p:spPr>
          <a:xfrm>
            <a:off x="9905695" y="2103120"/>
            <a:ext cx="1463040" cy="868680"/>
          </a:xfrm>
          <a:prstGeom prst="rect">
            <a:avLst/>
          </a:prstGeom>
          <a:noFill/>
        </p:spPr>
        <p:txBody>
          <a:bodyPr wrap="square" lIns="0" tIns="0" rIns="0" bIns="0" rtlCol="0" anchor="ctr"/>
          <a:lstStyle/>
          <a:p>
            <a:pPr marL="0" indent="0" algn="r">
              <a:buNone/>
            </a:pPr>
            <a:r>
              <a:rPr lang="en-US" sz="1500" b="1" dirty="0">
                <a:solidFill>
                  <a:srgbClr val="0F172A"/>
                </a:solidFill>
                <a:latin typeface="Calibri" panose="020F0502020204030204" pitchFamily="34" charset="0"/>
                <a:ea typeface="Calibri" panose="020F0502020204030204" pitchFamily="34" charset="-122"/>
                <a:cs typeface="Calibri" panose="020F0502020204030204" pitchFamily="34" charset="-120"/>
              </a:rPr>
              <a:t>198.67 Mbps</a:t>
            </a:r>
            <a:endParaRPr lang="en-US" sz="1500" dirty="0"/>
          </a:p>
        </p:txBody>
      </p:sp>
      <p:sp>
        <p:nvSpPr>
          <p:cNvPr id="20" name="Shape 18"/>
          <p:cNvSpPr/>
          <p:nvPr/>
        </p:nvSpPr>
        <p:spPr>
          <a:xfrm>
            <a:off x="6035040" y="3154680"/>
            <a:ext cx="5608015" cy="868680"/>
          </a:xfrm>
          <a:prstGeom prst="roundRect">
            <a:avLst>
              <a:gd name="adj" fmla="val 7368"/>
            </a:avLst>
          </a:prstGeom>
          <a:solidFill>
            <a:srgbClr val="EFF6FF"/>
          </a:solidFill>
          <a:ln w="12700">
            <a:solidFill>
              <a:srgbClr val="E0F2FE"/>
            </a:solidFill>
            <a:prstDash val="solid"/>
          </a:ln>
        </p:spPr>
      </p:sp>
      <p:sp>
        <p:nvSpPr>
          <p:cNvPr id="21" name="Text 19"/>
          <p:cNvSpPr/>
          <p:nvPr/>
        </p:nvSpPr>
        <p:spPr>
          <a:xfrm>
            <a:off x="6309360" y="3154680"/>
            <a:ext cx="1463040" cy="868680"/>
          </a:xfrm>
          <a:prstGeom prst="rect">
            <a:avLst/>
          </a:prstGeom>
          <a:noFill/>
        </p:spPr>
        <p:txBody>
          <a:bodyPr wrap="square" lIns="0" tIns="0" rIns="0" bIns="0" rtlCol="0" anchor="ctr"/>
          <a:lstStyle/>
          <a:p>
            <a:pPr marL="0" indent="0">
              <a:buNone/>
            </a:pPr>
            <a:r>
              <a:rPr lang="en-US" sz="1300" b="1" dirty="0">
                <a:solidFill>
                  <a:srgbClr val="0F172A"/>
                </a:solidFill>
                <a:latin typeface="Calibri" panose="020F0502020204030204" pitchFamily="34" charset="0"/>
                <a:ea typeface="Calibri" panose="020F0502020204030204" pitchFamily="34" charset="-122"/>
                <a:cs typeface="Calibri" panose="020F0502020204030204" pitchFamily="34" charset="-120"/>
              </a:rPr>
              <a:t>Scénario 1</a:t>
            </a:r>
            <a:endParaRPr lang="en-US" sz="1300" dirty="0"/>
          </a:p>
        </p:txBody>
      </p:sp>
      <p:sp>
        <p:nvSpPr>
          <p:cNvPr id="22" name="Shape 20"/>
          <p:cNvSpPr/>
          <p:nvPr/>
        </p:nvSpPr>
        <p:spPr>
          <a:xfrm>
            <a:off x="7863840" y="3474720"/>
            <a:ext cx="2133295" cy="228600"/>
          </a:xfrm>
          <a:prstGeom prst="rect">
            <a:avLst/>
          </a:prstGeom>
          <a:solidFill>
            <a:srgbClr val="E0F2FE"/>
          </a:solidFill>
        </p:spPr>
      </p:sp>
      <p:sp>
        <p:nvSpPr>
          <p:cNvPr id="23" name="Shape 21"/>
          <p:cNvSpPr/>
          <p:nvPr/>
        </p:nvSpPr>
        <p:spPr>
          <a:xfrm>
            <a:off x="7863840" y="3474720"/>
            <a:ext cx="1842511" cy="228600"/>
          </a:xfrm>
          <a:prstGeom prst="rect">
            <a:avLst/>
          </a:prstGeom>
          <a:solidFill>
            <a:srgbClr val="0369A1"/>
          </a:solidFill>
        </p:spPr>
      </p:sp>
      <p:sp>
        <p:nvSpPr>
          <p:cNvPr id="24" name="Text 22"/>
          <p:cNvSpPr/>
          <p:nvPr/>
        </p:nvSpPr>
        <p:spPr>
          <a:xfrm>
            <a:off x="9905695" y="3154680"/>
            <a:ext cx="1463040" cy="868680"/>
          </a:xfrm>
          <a:prstGeom prst="rect">
            <a:avLst/>
          </a:prstGeom>
          <a:noFill/>
        </p:spPr>
        <p:txBody>
          <a:bodyPr wrap="square" lIns="0" tIns="0" rIns="0" bIns="0" rtlCol="0" anchor="ctr"/>
          <a:lstStyle/>
          <a:p>
            <a:pPr marL="0" indent="0" algn="r">
              <a:buNone/>
            </a:pPr>
            <a:r>
              <a:rPr lang="en-US" sz="1500" b="1" dirty="0">
                <a:solidFill>
                  <a:srgbClr val="0F172A"/>
                </a:solidFill>
                <a:latin typeface="Calibri" panose="020F0502020204030204" pitchFamily="34" charset="0"/>
                <a:ea typeface="Calibri" panose="020F0502020204030204" pitchFamily="34" charset="-122"/>
                <a:cs typeface="Calibri" panose="020F0502020204030204" pitchFamily="34" charset="-120"/>
              </a:rPr>
              <a:t>224.56 Mbps</a:t>
            </a:r>
            <a:endParaRPr lang="en-US" sz="1500" dirty="0"/>
          </a:p>
        </p:txBody>
      </p:sp>
      <p:sp>
        <p:nvSpPr>
          <p:cNvPr id="25" name="Text 23"/>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16</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Scénario 2 : Densification </a:t>
            </a:r>
            <a:endParaRPr lang="en-US" sz="2800" dirty="0"/>
          </a:p>
        </p:txBody>
      </p:sp>
      <p:sp>
        <p:nvSpPr>
          <p:cNvPr id="3" name="Shape 1"/>
          <p:cNvSpPr/>
          <p:nvPr/>
        </p:nvSpPr>
        <p:spPr>
          <a:xfrm>
            <a:off x="548640" y="1508760"/>
            <a:ext cx="5486400" cy="1417320"/>
          </a:xfrm>
          <a:prstGeom prst="roundRect">
            <a:avLst>
              <a:gd name="adj" fmla="val 4516"/>
            </a:avLst>
          </a:prstGeom>
          <a:solidFill>
            <a:srgbClr val="FFFFFF"/>
          </a:solidFill>
          <a:ln w="12700">
            <a:solidFill>
              <a:srgbClr val="E0F2FE"/>
            </a:solidFill>
            <a:prstDash val="solid"/>
          </a:ln>
        </p:spPr>
      </p:sp>
      <p:pic>
        <p:nvPicPr>
          <p:cNvPr id="4" name="Image 0" descr="preencoded.png"/>
          <p:cNvPicPr>
            <a:picLocks noChangeAspect="1"/>
          </p:cNvPicPr>
          <p:nvPr/>
        </p:nvPicPr>
        <p:blipFill>
          <a:blip r:embed="rId1"/>
          <a:stretch>
            <a:fillRect/>
          </a:stretch>
        </p:blipFill>
        <p:spPr>
          <a:xfrm>
            <a:off x="822960" y="1764792"/>
            <a:ext cx="320040" cy="320040"/>
          </a:xfrm>
          <a:prstGeom prst="rect">
            <a:avLst/>
          </a:prstGeom>
        </p:spPr>
      </p:pic>
      <p:sp>
        <p:nvSpPr>
          <p:cNvPr id="5" name="Text 2"/>
          <p:cNvSpPr/>
          <p:nvPr/>
        </p:nvSpPr>
        <p:spPr>
          <a:xfrm>
            <a:off x="1234440" y="1709928"/>
            <a:ext cx="4572000" cy="365760"/>
          </a:xfrm>
          <a:prstGeom prst="rect">
            <a:avLst/>
          </a:prstGeom>
          <a:noFill/>
        </p:spPr>
        <p:txBody>
          <a:bodyPr wrap="square" lIns="0" tIns="0" rIns="0" bIns="0" rtlCol="0" anchor="ctr"/>
          <a:lstStyle/>
          <a:p>
            <a:pPr marL="0" indent="0">
              <a:buNone/>
            </a:pPr>
            <a:r>
              <a:rPr lang="en-US" sz="1600" b="1" dirty="0">
                <a:solidFill>
                  <a:srgbClr val="0F172A"/>
                </a:solidFill>
                <a:latin typeface="Calibri" panose="020F0502020204030204" pitchFamily="34" charset="0"/>
                <a:ea typeface="Calibri" panose="020F0502020204030204" pitchFamily="34" charset="-122"/>
                <a:cs typeface="Calibri" panose="020F0502020204030204" pitchFamily="34" charset="-120"/>
              </a:rPr>
              <a:t>Ajout &amp; Ajustement (164 mods)</a:t>
            </a:r>
            <a:endParaRPr lang="en-US" sz="1600" dirty="0"/>
          </a:p>
        </p:txBody>
      </p:sp>
      <p:sp>
        <p:nvSpPr>
          <p:cNvPr id="6" name="Text 3"/>
          <p:cNvSpPr/>
          <p:nvPr/>
        </p:nvSpPr>
        <p:spPr>
          <a:xfrm>
            <a:off x="822960" y="2194560"/>
            <a:ext cx="4937760" cy="777240"/>
          </a:xfrm>
          <a:prstGeom prst="rect">
            <a:avLst/>
          </a:prstGeom>
          <a:noFill/>
        </p:spPr>
        <p:txBody>
          <a:bodyPr wrap="square" lIns="0" tIns="0" rIns="0" bIns="0" rtlCol="0" anchor="ctr"/>
          <a:lstStyle/>
          <a:p>
            <a:pPr marL="0" indent="0">
              <a:spcAft>
                <a:spcPts val="600"/>
              </a:spcAft>
              <a:buSzPct val="100000"/>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+3 Sites : </a:t>
            </a: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Centre-Est et Sud, total 24 sites.</a:t>
            </a:r>
            <a:endParaRPr lang="en-US" sz="1200" dirty="0"/>
          </a:p>
          <a:p>
            <a:pPr marL="0" indent="0">
              <a:spcAft>
                <a:spcPts val="600"/>
              </a:spcAft>
              <a:buNone/>
            </a:pPr>
            <a:r>
              <a:rPr lang="en-US" sz="1200" b="1" dirty="0">
                <a:solidFill>
                  <a:srgbClr val="0F172A"/>
                </a:solidFill>
                <a:latin typeface="Calibri" panose="020F0502020204030204" pitchFamily="34" charset="0"/>
                <a:ea typeface="Calibri" panose="020F0502020204030204" pitchFamily="34" charset="-122"/>
                <a:cs typeface="Calibri" panose="020F0502020204030204" pitchFamily="34" charset="-120"/>
              </a:rPr>
              <a:t>119 paramétrages : </a:t>
            </a: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40 Tilts Elec, 43 Azimuts, 42 Tilts Méc, 36 Puissances.</a:t>
            </a:r>
            <a:endParaRPr lang="en-US" sz="1200" dirty="0"/>
          </a:p>
        </p:txBody>
      </p:sp>
      <p:sp>
        <p:nvSpPr>
          <p:cNvPr id="7" name="Shape 4"/>
          <p:cNvSpPr/>
          <p:nvPr/>
        </p:nvSpPr>
        <p:spPr>
          <a:xfrm>
            <a:off x="548640" y="3108960"/>
            <a:ext cx="5486400" cy="1325880"/>
          </a:xfrm>
          <a:prstGeom prst="roundRect">
            <a:avLst>
              <a:gd name="adj" fmla="val 4828"/>
            </a:avLst>
          </a:prstGeom>
          <a:solidFill>
            <a:srgbClr val="FFFFFF"/>
          </a:solidFill>
          <a:ln w="12700">
            <a:solidFill>
              <a:srgbClr val="E0F2FE"/>
            </a:solidFill>
            <a:prstDash val="solid"/>
          </a:ln>
        </p:spPr>
      </p:sp>
      <p:sp>
        <p:nvSpPr>
          <p:cNvPr id="8" name="Text 5"/>
          <p:cNvSpPr/>
          <p:nvPr/>
        </p:nvSpPr>
        <p:spPr>
          <a:xfrm>
            <a:off x="822960" y="3291840"/>
            <a:ext cx="4937760" cy="365760"/>
          </a:xfrm>
          <a:prstGeom prst="rect">
            <a:avLst/>
          </a:prstGeom>
          <a:noFill/>
        </p:spPr>
        <p:txBody>
          <a:bodyPr wrap="square" lIns="0" tIns="0" rIns="0" bIns="0" rtlCol="0" anchor="ctr"/>
          <a:lstStyle/>
          <a:p>
            <a:pPr marL="0" indent="0">
              <a:buNone/>
            </a:pPr>
            <a:r>
              <a:rPr lang="en-US" sz="1500" b="1" dirty="0">
                <a:solidFill>
                  <a:srgbClr val="0F172A"/>
                </a:solidFill>
                <a:latin typeface="Calibri" panose="020F0502020204030204" pitchFamily="34" charset="0"/>
                <a:ea typeface="Calibri" panose="020F0502020204030204" pitchFamily="34" charset="-122"/>
                <a:cs typeface="Calibri" panose="020F0502020204030204" pitchFamily="34" charset="-120"/>
              </a:rPr>
              <a:t>Résolution des limites</a:t>
            </a:r>
            <a:endParaRPr lang="en-US" sz="1500" dirty="0"/>
          </a:p>
        </p:txBody>
      </p:sp>
      <p:sp>
        <p:nvSpPr>
          <p:cNvPr id="9" name="Text 6"/>
          <p:cNvSpPr/>
          <p:nvPr/>
        </p:nvSpPr>
        <p:spPr>
          <a:xfrm>
            <a:off x="822960" y="3657600"/>
            <a:ext cx="4937760" cy="685800"/>
          </a:xfrm>
          <a:prstGeom prst="rect">
            <a:avLst/>
          </a:prstGeom>
          <a:noFill/>
        </p:spPr>
        <p:txBody>
          <a:bodyPr wrap="square" lIns="0" tIns="0" rIns="0" bIns="0" rtlCol="0" anchor="ctr"/>
          <a:lstStyle/>
          <a:p>
            <a:pPr marL="0" indent="0">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La densification comble les "trous noirs" géométriques urbains impossibles à atteindre par le tilt seul.</a:t>
            </a:r>
            <a:endParaRPr lang="en-US" sz="1250" dirty="0"/>
          </a:p>
        </p:txBody>
      </p:sp>
      <p:sp>
        <p:nvSpPr>
          <p:cNvPr id="10" name="Shape 7"/>
          <p:cNvSpPr/>
          <p:nvPr/>
        </p:nvSpPr>
        <p:spPr>
          <a:xfrm>
            <a:off x="548640" y="4572000"/>
            <a:ext cx="5486400" cy="1097280"/>
          </a:xfrm>
          <a:prstGeom prst="roundRect">
            <a:avLst>
              <a:gd name="adj" fmla="val 5833"/>
            </a:avLst>
          </a:prstGeom>
          <a:solidFill>
            <a:srgbClr val="ECFDF5"/>
          </a:solidFill>
          <a:ln w="12700">
            <a:solidFill>
              <a:srgbClr val="E0F2FE"/>
            </a:solidFill>
            <a:prstDash val="solid"/>
          </a:ln>
        </p:spPr>
      </p:sp>
      <p:pic>
        <p:nvPicPr>
          <p:cNvPr id="11" name="Image 1" descr="preencoded.png"/>
          <p:cNvPicPr>
            <a:picLocks noChangeAspect="1"/>
          </p:cNvPicPr>
          <p:nvPr/>
        </p:nvPicPr>
        <p:blipFill>
          <a:blip r:embed="rId2"/>
          <a:stretch>
            <a:fillRect/>
          </a:stretch>
        </p:blipFill>
        <p:spPr>
          <a:xfrm>
            <a:off x="822960" y="4754880"/>
            <a:ext cx="292608" cy="292608"/>
          </a:xfrm>
          <a:prstGeom prst="rect">
            <a:avLst/>
          </a:prstGeom>
        </p:spPr>
      </p:pic>
      <p:sp>
        <p:nvSpPr>
          <p:cNvPr id="12" name="Text 8"/>
          <p:cNvSpPr/>
          <p:nvPr/>
        </p:nvSpPr>
        <p:spPr>
          <a:xfrm>
            <a:off x="1188720" y="4727448"/>
            <a:ext cx="4572000" cy="365760"/>
          </a:xfrm>
          <a:prstGeom prst="rect">
            <a:avLst/>
          </a:prstGeom>
          <a:noFill/>
        </p:spPr>
        <p:txBody>
          <a:bodyPr wrap="square" lIns="0" tIns="0" rIns="0" bIns="0" rtlCol="0" anchor="ctr"/>
          <a:lstStyle/>
          <a:p>
            <a:pPr marL="0" indent="0">
              <a:buNone/>
            </a:pPr>
            <a:r>
              <a:rPr lang="en-US" sz="1400" b="1" dirty="0">
                <a:solidFill>
                  <a:srgbClr val="10B981"/>
                </a:solidFill>
                <a:latin typeface="Calibri" panose="020F0502020204030204" pitchFamily="34" charset="0"/>
                <a:ea typeface="Calibri" panose="020F0502020204030204" pitchFamily="34" charset="-122"/>
                <a:cs typeface="Calibri" panose="020F0502020204030204" pitchFamily="34" charset="-120"/>
              </a:rPr>
              <a:t>Objectifs Franchis</a:t>
            </a:r>
            <a:endParaRPr lang="en-US" sz="1400" dirty="0"/>
          </a:p>
        </p:txBody>
      </p:sp>
      <p:sp>
        <p:nvSpPr>
          <p:cNvPr id="13" name="Text 9"/>
          <p:cNvSpPr/>
          <p:nvPr/>
        </p:nvSpPr>
        <p:spPr>
          <a:xfrm>
            <a:off x="822960" y="5120640"/>
            <a:ext cx="2468880" cy="274320"/>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Couverture (Cible 95%)</a:t>
            </a:r>
            <a:endParaRPr lang="en-US" sz="1150" dirty="0"/>
          </a:p>
        </p:txBody>
      </p:sp>
      <p:sp>
        <p:nvSpPr>
          <p:cNvPr id="14" name="Text 10"/>
          <p:cNvSpPr/>
          <p:nvPr/>
        </p:nvSpPr>
        <p:spPr>
          <a:xfrm>
            <a:off x="3291840" y="5120640"/>
            <a:ext cx="2468880" cy="274320"/>
          </a:xfrm>
          <a:prstGeom prst="rect">
            <a:avLst/>
          </a:prstGeom>
          <a:noFill/>
        </p:spPr>
        <p:txBody>
          <a:bodyPr wrap="square" lIns="0" tIns="0" rIns="0" bIns="0" rtlCol="0" anchor="ctr"/>
          <a:lstStyle/>
          <a:p>
            <a:pPr marL="0" indent="0">
              <a:buNone/>
            </a:pPr>
            <a:r>
              <a:rPr lang="en-US" sz="1150" dirty="0">
                <a:solidFill>
                  <a:srgbClr val="334155"/>
                </a:solidFill>
                <a:latin typeface="Calibri" panose="020F0502020204030204" pitchFamily="34" charset="0"/>
                <a:ea typeface="Calibri" panose="020F0502020204030204" pitchFamily="34" charset="-122"/>
                <a:cs typeface="Calibri" panose="020F0502020204030204" pitchFamily="34" charset="-120"/>
              </a:rPr>
              <a:t>CINR (Cible 85%)</a:t>
            </a:r>
            <a:endParaRPr lang="en-US" sz="1150" dirty="0"/>
          </a:p>
        </p:txBody>
      </p:sp>
      <p:sp>
        <p:nvSpPr>
          <p:cNvPr id="15" name="Text 11"/>
          <p:cNvSpPr/>
          <p:nvPr/>
        </p:nvSpPr>
        <p:spPr>
          <a:xfrm>
            <a:off x="822960" y="5394960"/>
            <a:ext cx="2468880" cy="320040"/>
          </a:xfrm>
          <a:prstGeom prst="rect">
            <a:avLst/>
          </a:prstGeom>
          <a:noFill/>
        </p:spPr>
        <p:txBody>
          <a:bodyPr wrap="square" lIns="0" tIns="0" rIns="0" bIns="0" rtlCol="0" anchor="ctr"/>
          <a:lstStyle/>
          <a:p>
            <a:pPr marL="0" indent="0">
              <a:buNone/>
            </a:pPr>
            <a:r>
              <a:rPr lang="en-US" sz="1600" b="1" dirty="0">
                <a:solidFill>
                  <a:srgbClr val="10B981"/>
                </a:solidFill>
                <a:latin typeface="Calibri" panose="020F0502020204030204" pitchFamily="34" charset="0"/>
                <a:ea typeface="Calibri" panose="020F0502020204030204" pitchFamily="34" charset="-122"/>
                <a:cs typeface="Calibri" panose="020F0502020204030204" pitchFamily="34" charset="-120"/>
              </a:rPr>
              <a:t>95.01%</a:t>
            </a:r>
            <a:endParaRPr lang="en-US" sz="1600" dirty="0"/>
          </a:p>
        </p:txBody>
      </p:sp>
      <p:sp>
        <p:nvSpPr>
          <p:cNvPr id="16" name="Text 12"/>
          <p:cNvSpPr/>
          <p:nvPr/>
        </p:nvSpPr>
        <p:spPr>
          <a:xfrm>
            <a:off x="3291840" y="5394960"/>
            <a:ext cx="2468880" cy="320040"/>
          </a:xfrm>
          <a:prstGeom prst="rect">
            <a:avLst/>
          </a:prstGeom>
          <a:noFill/>
        </p:spPr>
        <p:txBody>
          <a:bodyPr wrap="square" lIns="0" tIns="0" rIns="0" bIns="0" rtlCol="0" anchor="ctr"/>
          <a:lstStyle/>
          <a:p>
            <a:pPr marL="0" indent="0">
              <a:buNone/>
            </a:pPr>
            <a:r>
              <a:rPr lang="en-US" sz="1600" b="1" dirty="0">
                <a:solidFill>
                  <a:srgbClr val="10B981"/>
                </a:solidFill>
                <a:latin typeface="Calibri" panose="020F0502020204030204" pitchFamily="34" charset="0"/>
                <a:ea typeface="Calibri" panose="020F0502020204030204" pitchFamily="34" charset="-122"/>
                <a:cs typeface="Calibri" panose="020F0502020204030204" pitchFamily="34" charset="-120"/>
              </a:rPr>
              <a:t>85.00%</a:t>
            </a:r>
            <a:endParaRPr lang="en-US" sz="1600" dirty="0"/>
          </a:p>
        </p:txBody>
      </p:sp>
      <p:pic>
        <p:nvPicPr>
          <p:cNvPr id="18" name="Image 2" descr="preencoded.png"/>
          <p:cNvPicPr>
            <a:picLocks noChangeAspect="1"/>
          </p:cNvPicPr>
          <p:nvPr/>
        </p:nvPicPr>
        <p:blipFill>
          <a:blip r:embed="rId3"/>
          <a:stretch>
            <a:fillRect/>
          </a:stretch>
        </p:blipFill>
        <p:spPr>
          <a:xfrm>
            <a:off x="8701888" y="3337560"/>
            <a:ext cx="640080" cy="640080"/>
          </a:xfrm>
          <a:prstGeom prst="rect">
            <a:avLst/>
          </a:prstGeom>
        </p:spPr>
      </p:pic>
      <p:sp>
        <p:nvSpPr>
          <p:cNvPr id="19" name="Text 14"/>
          <p:cNvSpPr/>
          <p:nvPr/>
        </p:nvSpPr>
        <p:spPr>
          <a:xfrm>
            <a:off x="6675120" y="4114800"/>
            <a:ext cx="4693615" cy="365760"/>
          </a:xfrm>
          <a:prstGeom prst="rect">
            <a:avLst/>
          </a:prstGeom>
          <a:noFill/>
        </p:spPr>
        <p:txBody>
          <a:bodyPr wrap="square" lIns="0" tIns="0" rIns="0" bIns="0" rtlCol="0" anchor="ctr"/>
          <a:lstStyle/>
          <a:p>
            <a:pPr marL="0" indent="0" algn="ctr">
              <a:buNone/>
            </a:pPr>
            <a:r>
              <a:rPr lang="en-US" sz="1200" dirty="0">
                <a:solidFill>
                  <a:srgbClr val="334155"/>
                </a:solidFill>
                <a:latin typeface="Calibri" panose="020F0502020204030204" pitchFamily="34" charset="0"/>
                <a:ea typeface="Calibri" panose="020F0502020204030204" pitchFamily="34" charset="-122"/>
                <a:cs typeface="Calibri" panose="020F0502020204030204" pitchFamily="34" charset="-120"/>
              </a:rPr>
              <a:t>Densification urbaine du réseau 5G</a:t>
            </a:r>
            <a:endParaRPr lang="en-US" sz="1200" dirty="0"/>
          </a:p>
        </p:txBody>
      </p:sp>
      <p:sp>
        <p:nvSpPr>
          <p:cNvPr id="20" name="Text 15"/>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17</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pic>
        <p:nvPicPr>
          <p:cNvPr id="21" name="Image 20" descr="Capture d'écran 2026-06-22 233135"/>
          <p:cNvPicPr>
            <a:picLocks noChangeAspect="1"/>
          </p:cNvPicPr>
          <p:nvPr/>
        </p:nvPicPr>
        <p:blipFill>
          <a:blip r:embed="rId4"/>
          <a:srcRect t="-112" r="723"/>
          <a:stretch>
            <a:fillRect/>
          </a:stretch>
        </p:blipFill>
        <p:spPr>
          <a:xfrm>
            <a:off x="6407785" y="1648460"/>
            <a:ext cx="5144135" cy="39579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Comparaison : Synthèse des gains</a:t>
            </a:r>
            <a:endParaRPr lang="en-US" sz="2800" dirty="0"/>
          </a:p>
        </p:txBody>
      </p:sp>
      <p:graphicFrame>
        <p:nvGraphicFramePr>
          <p:cNvPr id="19" name="Table 0"/>
          <p:cNvGraphicFramePr>
            <a:graphicFrameLocks noGrp="1"/>
          </p:cNvGraphicFramePr>
          <p:nvPr/>
        </p:nvGraphicFramePr>
        <p:xfrm>
          <a:off x="548640" y="1463040"/>
          <a:ext cx="11094415" cy="2834640"/>
        </p:xfrm>
        <a:graphic>
          <a:graphicData uri="http://schemas.openxmlformats.org/drawingml/2006/table">
            <a:tbl>
              <a:tblPr/>
              <a:tblGrid>
                <a:gridCol w="3291840"/>
                <a:gridCol w="2600858"/>
                <a:gridCol w="2600858"/>
                <a:gridCol w="2600858"/>
              </a:tblGrid>
              <a:tr h="566928">
                <a:tc>
                  <a:txBody>
                    <a:bodyPr/>
                    <a:lstStyle/>
                    <a:p>
                      <a:pPr marL="0" indent="0">
                        <a:buNone/>
                      </a:pPr>
                      <a:r>
                        <a:rPr lang="en-US" sz="1250" b="1" dirty="0">
                          <a:solidFill>
                            <a:srgbClr val="0284C7"/>
                          </a:solidFill>
                          <a:latin typeface="Calibri" panose="020F0502020204030204" pitchFamily="34" charset="0"/>
                          <a:ea typeface="Calibri" panose="020F0502020204030204" pitchFamily="34" charset="-122"/>
                          <a:cs typeface="Calibri" panose="020F0502020204030204" pitchFamily="34" charset="-120"/>
                        </a:rPr>
                        <a:t>Indicateur KPI (Pondéré Trafic)</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EFF6FF"/>
                    </a:solidFill>
                  </a:tcPr>
                </a:tc>
                <a:tc>
                  <a:txBody>
                    <a:bodyPr/>
                    <a:lstStyle/>
                    <a:p>
                      <a:pPr marL="0" indent="0">
                        <a:buNone/>
                      </a:pPr>
                      <a:r>
                        <a:rPr lang="en-US" sz="1250" b="1" dirty="0">
                          <a:solidFill>
                            <a:srgbClr val="0284C7"/>
                          </a:solidFill>
                          <a:latin typeface="Calibri" panose="020F0502020204030204" pitchFamily="34" charset="0"/>
                          <a:ea typeface="Calibri" panose="020F0502020204030204" pitchFamily="34" charset="-122"/>
                          <a:cs typeface="Calibri" panose="020F0502020204030204" pitchFamily="34" charset="-120"/>
                        </a:rPr>
                        <a:t>État Initial (21 sites)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EFF6FF"/>
                    </a:solidFill>
                  </a:tcPr>
                </a:tc>
                <a:tc>
                  <a:txBody>
                    <a:bodyPr/>
                    <a:lstStyle/>
                    <a:p>
                      <a:pPr marL="0" indent="0">
                        <a:buNone/>
                      </a:pPr>
                      <a:r>
                        <a:rPr lang="en-US" sz="1250" b="1" dirty="0">
                          <a:solidFill>
                            <a:srgbClr val="0284C7"/>
                          </a:solidFill>
                          <a:latin typeface="Calibri" panose="020F0502020204030204" pitchFamily="34" charset="0"/>
                          <a:ea typeface="Calibri" panose="020F0502020204030204" pitchFamily="34" charset="-122"/>
                          <a:cs typeface="Calibri" panose="020F0502020204030204" pitchFamily="34" charset="-120"/>
                        </a:rPr>
                        <a:t>Scénario 1 (21 sites)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EFF6FF"/>
                    </a:solidFill>
                  </a:tcPr>
                </a:tc>
                <a:tc>
                  <a:txBody>
                    <a:bodyPr/>
                    <a:lstStyle/>
                    <a:p>
                      <a:pPr marL="0" indent="0">
                        <a:buNone/>
                      </a:pPr>
                      <a:r>
                        <a:rPr lang="en-US" sz="1250" b="1" dirty="0">
                          <a:solidFill>
                            <a:srgbClr val="0284C7"/>
                          </a:solidFill>
                          <a:latin typeface="Calibri" panose="020F0502020204030204" pitchFamily="34" charset="0"/>
                          <a:ea typeface="Calibri" panose="020F0502020204030204" pitchFamily="34" charset="-122"/>
                          <a:cs typeface="Calibri" panose="020F0502020204030204" pitchFamily="34" charset="-120"/>
                        </a:rPr>
                        <a:t>Scénario 2 (24 sites)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EFF6FF"/>
                    </a:solidFill>
                  </a:tcPr>
                </a:tc>
              </a:tr>
              <a:tr h="566928">
                <a:tc>
                  <a:txBody>
                    <a:bodyPr/>
                    <a:lstStyle/>
                    <a:p>
                      <a:pPr marL="0" indent="0">
                        <a:buNone/>
                      </a:pPr>
                      <a:r>
                        <a:rPr lang="en-US" sz="1250" dirty="0">
                          <a:solidFill>
                            <a:srgbClr val="0F172A"/>
                          </a:solidFill>
                          <a:latin typeface="Calibri" panose="020F0502020204030204" pitchFamily="34" charset="0"/>
                          <a:ea typeface="Calibri" panose="020F0502020204030204" pitchFamily="34" charset="-122"/>
                          <a:cs typeface="Calibri" panose="020F0502020204030204" pitchFamily="34" charset="-120"/>
                        </a:rPr>
                        <a:t>Couverture Utile (RSRP &gt; -105)</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90.39%</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93.47%</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FFFFFF"/>
                    </a:solidFill>
                  </a:tcPr>
                </a:tc>
                <a:tc>
                  <a:txBody>
                    <a:bodyPr/>
                    <a:lstStyle/>
                    <a:p>
                      <a:pPr marL="0" indent="0">
                        <a:buNone/>
                      </a:pPr>
                      <a:r>
                        <a:rPr lang="en-US" sz="1250" b="1" dirty="0">
                          <a:solidFill>
                            <a:srgbClr val="10B981"/>
                          </a:solidFill>
                          <a:latin typeface="Calibri" panose="020F0502020204030204" pitchFamily="34" charset="0"/>
                          <a:ea typeface="Calibri" panose="020F0502020204030204" pitchFamily="34" charset="-122"/>
                          <a:cs typeface="Calibri" panose="020F0502020204030204" pitchFamily="34" charset="-120"/>
                        </a:rPr>
                        <a:t>95.01%</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FFFFFF"/>
                    </a:solidFill>
                  </a:tcPr>
                </a:tc>
              </a:tr>
              <a:tr h="566928">
                <a:tc>
                  <a:txBody>
                    <a:bodyPr/>
                    <a:lstStyle/>
                    <a:p>
                      <a:pPr marL="0" indent="0">
                        <a:buNone/>
                      </a:pPr>
                      <a:r>
                        <a:rPr lang="en-US" sz="1250" dirty="0">
                          <a:solidFill>
                            <a:srgbClr val="0F172A"/>
                          </a:solidFill>
                          <a:latin typeface="Calibri" panose="020F0502020204030204" pitchFamily="34" charset="0"/>
                          <a:ea typeface="Calibri" panose="020F0502020204030204" pitchFamily="34" charset="-122"/>
                          <a:cs typeface="Calibri" panose="020F0502020204030204" pitchFamily="34" charset="-120"/>
                        </a:rPr>
                        <a:t>Qualité Conforme (CINR &gt; 10 dB)</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19.01%</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77.36%</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FFFFFF"/>
                    </a:solidFill>
                  </a:tcPr>
                </a:tc>
                <a:tc>
                  <a:txBody>
                    <a:bodyPr/>
                    <a:lstStyle/>
                    <a:p>
                      <a:pPr marL="0" indent="0">
                        <a:buNone/>
                      </a:pPr>
                      <a:r>
                        <a:rPr lang="en-US" sz="1250" b="1" dirty="0">
                          <a:solidFill>
                            <a:srgbClr val="10B981"/>
                          </a:solidFill>
                          <a:latin typeface="Calibri" panose="020F0502020204030204" pitchFamily="34" charset="0"/>
                          <a:ea typeface="Calibri" panose="020F0502020204030204" pitchFamily="34" charset="-122"/>
                          <a:cs typeface="Calibri" panose="020F0502020204030204" pitchFamily="34" charset="-120"/>
                        </a:rPr>
                        <a:t>85.00%</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FFFFFF"/>
                    </a:solidFill>
                  </a:tcPr>
                </a:tc>
              </a:tr>
              <a:tr h="566928">
                <a:tc>
                  <a:txBody>
                    <a:bodyPr/>
                    <a:lstStyle/>
                    <a:p>
                      <a:pPr marL="0" indent="0">
                        <a:buNone/>
                      </a:pPr>
                      <a:r>
                        <a:rPr lang="en-US" sz="1250" dirty="0">
                          <a:solidFill>
                            <a:srgbClr val="0F172A"/>
                          </a:solidFill>
                          <a:latin typeface="Calibri" panose="020F0502020204030204" pitchFamily="34" charset="0"/>
                          <a:ea typeface="Calibri" panose="020F0502020204030204" pitchFamily="34" charset="-122"/>
                          <a:cs typeface="Calibri" panose="020F0502020204030204" pitchFamily="34" charset="-120"/>
                        </a:rPr>
                        <a:t>Débit Moyen DL (RLC Throughput)</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198.67 Mbps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224.56 Mbps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FFFFFF"/>
                    </a:solidFill>
                  </a:tcPr>
                </a:tc>
                <a:tc>
                  <a:txBody>
                    <a:bodyPr/>
                    <a:lstStyle/>
                    <a:p>
                      <a:pPr marL="0" indent="0">
                        <a:buNone/>
                      </a:pPr>
                      <a:r>
                        <a:rPr lang="en-US" sz="1250" b="1" dirty="0">
                          <a:solidFill>
                            <a:srgbClr val="10B981"/>
                          </a:solidFill>
                          <a:latin typeface="Calibri" panose="020F0502020204030204" pitchFamily="34" charset="0"/>
                          <a:ea typeface="Calibri" panose="020F0502020204030204" pitchFamily="34" charset="-122"/>
                          <a:cs typeface="Calibri" panose="020F0502020204030204" pitchFamily="34" charset="-120"/>
                        </a:rPr>
                        <a:t>251.70 Mbps (+53 Mbps)</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FFFFFF"/>
                    </a:solidFill>
                  </a:tcPr>
                </a:tc>
              </a:tr>
              <a:tr h="566928">
                <a:tc>
                  <a:txBody>
                    <a:bodyPr/>
                    <a:lstStyle/>
                    <a:p>
                      <a:pPr marL="0" indent="0">
                        <a:buNone/>
                      </a:pPr>
                      <a:r>
                        <a:rPr lang="en-US" sz="1250" dirty="0">
                          <a:solidFill>
                            <a:srgbClr val="0F172A"/>
                          </a:solidFill>
                          <a:latin typeface="Calibri" panose="020F0502020204030204" pitchFamily="34" charset="0"/>
                          <a:ea typeface="Calibri" panose="020F0502020204030204" pitchFamily="34" charset="-122"/>
                          <a:cs typeface="Calibri" panose="020F0502020204030204" pitchFamily="34" charset="-120"/>
                        </a:rPr>
                        <a:t>Indice Modulation Moyen</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2.84</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2.88</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FFFFFF"/>
                    </a:solidFill>
                  </a:tcPr>
                </a:tc>
                <a:tc>
                  <a:txBody>
                    <a:bodyPr/>
                    <a:lstStyle/>
                    <a:p>
                      <a:pPr marL="0" indent="0">
                        <a:buNone/>
                      </a:pPr>
                      <a:r>
                        <a:rPr lang="en-US" sz="1250" b="1" dirty="0">
                          <a:solidFill>
                            <a:srgbClr val="10B981"/>
                          </a:solidFill>
                          <a:latin typeface="Calibri" panose="020F0502020204030204" pitchFamily="34" charset="0"/>
                          <a:ea typeface="Calibri" panose="020F0502020204030204" pitchFamily="34" charset="-122"/>
                          <a:cs typeface="Calibri" panose="020F0502020204030204" pitchFamily="34" charset="-120"/>
                        </a:rPr>
                        <a:t>3.03 (Domination 64/256 QAM)</a:t>
                      </a:r>
                      <a:endParaRPr lang="en-US" sz="1250" dirty="0">
                        <a:latin typeface="Calibri" panose="020F0502020204030204" pitchFamily="34" charset="0"/>
                        <a:ea typeface="Calibri" panose="020F0502020204030204" pitchFamily="34" charset="0"/>
                        <a:cs typeface="Calibri" panose="020F0502020204030204" pitchFamily="34" charset="0"/>
                      </a:endParaRPr>
                    </a:p>
                  </a:txBody>
                  <a:tcPr anchor="ctr">
                    <a:lnL w="9525" cap="flat" cmpd="sng" algn="ctr">
                      <a:solidFill>
                        <a:srgbClr val="E0F2FE"/>
                      </a:solidFill>
                      <a:prstDash val="solid"/>
                      <a:round/>
                      <a:headEnd type="none" w="med" len="med"/>
                      <a:tailEnd type="none" w="med" len="med"/>
                    </a:lnL>
                    <a:lnR w="9525" cap="flat" cmpd="sng" algn="ctr">
                      <a:solidFill>
                        <a:srgbClr val="E0F2FE"/>
                      </a:solidFill>
                      <a:prstDash val="solid"/>
                      <a:round/>
                      <a:headEnd type="none" w="med" len="med"/>
                      <a:tailEnd type="none" w="med" len="med"/>
                    </a:lnR>
                    <a:lnT w="9525" cap="flat" cmpd="sng" algn="ctr">
                      <a:solidFill>
                        <a:srgbClr val="E0F2FE"/>
                      </a:solidFill>
                      <a:prstDash val="solid"/>
                      <a:round/>
                      <a:headEnd type="none" w="med" len="med"/>
                      <a:tailEnd type="none" w="med" len="med"/>
                    </a:lnT>
                    <a:lnB w="9525" cap="flat" cmpd="sng" algn="ctr">
                      <a:solidFill>
                        <a:srgbClr val="E0F2FE"/>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526280"/>
            <a:ext cx="11094415" cy="1554480"/>
          </a:xfrm>
          <a:prstGeom prst="roundRect">
            <a:avLst>
              <a:gd name="adj" fmla="val 4118"/>
            </a:avLst>
          </a:prstGeom>
          <a:solidFill>
            <a:srgbClr val="FFFFFF"/>
          </a:solidFill>
          <a:ln w="12700">
            <a:solidFill>
              <a:srgbClr val="E0F2FE"/>
            </a:solidFill>
            <a:prstDash val="solid"/>
          </a:ln>
        </p:spPr>
      </p:sp>
      <p:sp>
        <p:nvSpPr>
          <p:cNvPr id="5" name="Text 2"/>
          <p:cNvSpPr/>
          <p:nvPr/>
        </p:nvSpPr>
        <p:spPr>
          <a:xfrm>
            <a:off x="868680" y="4709160"/>
            <a:ext cx="10454335" cy="365760"/>
          </a:xfrm>
          <a:prstGeom prst="rect">
            <a:avLst/>
          </a:prstGeom>
          <a:noFill/>
        </p:spPr>
        <p:txBody>
          <a:bodyPr wrap="square" lIns="0" tIns="0" rIns="0" bIns="0" rtlCol="0" anchor="ctr"/>
          <a:lstStyle/>
          <a:p>
            <a:pPr marL="0" indent="0">
              <a:buNone/>
            </a:pPr>
            <a:r>
              <a:rPr lang="en-US" sz="1600" b="1" dirty="0">
                <a:solidFill>
                  <a:srgbClr val="0284C7"/>
                </a:solidFill>
                <a:latin typeface="Calibri" panose="020F0502020204030204" pitchFamily="34" charset="0"/>
                <a:ea typeface="Calibri" panose="020F0502020204030204" pitchFamily="34" charset="-122"/>
                <a:cs typeface="Calibri" panose="020F0502020204030204" pitchFamily="34" charset="-120"/>
              </a:rPr>
              <a:t>Recommandation Stratégique</a:t>
            </a:r>
            <a:endParaRPr lang="en-US" sz="1600" dirty="0"/>
          </a:p>
        </p:txBody>
      </p:sp>
      <p:sp>
        <p:nvSpPr>
          <p:cNvPr id="6" name="Text 3"/>
          <p:cNvSpPr/>
          <p:nvPr/>
        </p:nvSpPr>
        <p:spPr>
          <a:xfrm>
            <a:off x="868680" y="5120640"/>
            <a:ext cx="10454335" cy="822960"/>
          </a:xfrm>
          <a:prstGeom prst="rect">
            <a:avLst/>
          </a:prstGeom>
          <a:noFill/>
        </p:spPr>
        <p:txBody>
          <a:bodyPr wrap="square" lIns="0" tIns="0" rIns="0" bIns="0" rtlCol="0" anchor="ctr"/>
          <a:lstStyle/>
          <a:p>
            <a:pPr marL="0" indent="0">
              <a:buNone/>
            </a:pPr>
            <a:r>
              <a:rPr lang="en-US" sz="1350" dirty="0">
                <a:solidFill>
                  <a:srgbClr val="0F172A"/>
                </a:solidFill>
                <a:latin typeface="Calibri" panose="020F0502020204030204" pitchFamily="34" charset="0"/>
                <a:ea typeface="Calibri" panose="020F0502020204030204" pitchFamily="34" charset="-122"/>
                <a:cs typeface="Calibri" panose="020F0502020204030204" pitchFamily="34" charset="-120"/>
              </a:rPr>
              <a:t>Le Scénario 2 garantit un réseau robuste sans zones d'ombre, permettant une QoE ininterrompue pour le haut débit et la VoNR urbaine.</a:t>
            </a:r>
            <a:endParaRPr lang="en-US" sz="1350" dirty="0"/>
          </a:p>
        </p:txBody>
      </p:sp>
      <p:sp>
        <p:nvSpPr>
          <p:cNvPr id="7" name="Text 4"/>
          <p:cNvSpPr/>
          <p:nvPr/>
        </p:nvSpPr>
        <p:spPr>
          <a:xfrm>
            <a:off x="11551615" y="6446520"/>
            <a:ext cx="365760" cy="274320"/>
          </a:xfrm>
          <a:prstGeom prst="rect">
            <a:avLst/>
          </a:prstGeom>
          <a:noFill/>
        </p:spPr>
        <p:txBody>
          <a:bodyPr wrap="square" lIns="0" tIns="0" rIns="0" bIns="0" rtlCol="0" anchor="ctr"/>
          <a:lstStyle/>
          <a:p>
            <a:pPr marL="0" indent="0" algn="r">
              <a:buNone/>
            </a:pPr>
            <a:r>
              <a:rPr lang="en-US" sz="1000" dirty="0">
                <a:solidFill>
                  <a:srgbClr val="64748B"/>
                </a:solidFill>
                <a:latin typeface="Calibri" panose="020F0502020204030204" pitchFamily="34" charset="0"/>
                <a:ea typeface="Calibri" panose="020F0502020204030204" pitchFamily="34" charset="-122"/>
                <a:cs typeface="Calibri" panose="020F0502020204030204" pitchFamily="34" charset="-120"/>
              </a:rPr>
              <a:t>18</a:t>
            </a:r>
            <a:endParaRPr lang="en-US" sz="100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48640" y="548640"/>
            <a:ext cx="11094415" cy="640080"/>
          </a:xfrm>
          <a:prstGeom prst="rect">
            <a:avLst/>
          </a:prstGeom>
          <a:noFill/>
        </p:spPr>
        <p:txBody>
          <a:bodyPr wrap="square" lIns="0" tIns="0" rIns="0" bIns="0" rtlCol="0" anchor="ctr"/>
          <a:lstStyle/>
          <a:p>
            <a:pPr marL="0" indent="0">
              <a:buNone/>
            </a:pPr>
            <a:r>
              <a:rPr lang="en-US" sz="2800" b="1" dirty="0">
                <a:solidFill>
                  <a:srgbClr val="0F172A"/>
                </a:solidFill>
                <a:latin typeface="Calibri" panose="020F0502020204030204" pitchFamily="34" charset="0"/>
                <a:ea typeface="Calibri" panose="020F0502020204030204" pitchFamily="34" charset="-122"/>
                <a:cs typeface="Calibri" panose="020F0502020204030204" pitchFamily="34" charset="-120"/>
              </a:rPr>
              <a:t>Conclusion &amp; Perspectives</a:t>
            </a:r>
            <a:endParaRPr lang="en-US" sz="2800" dirty="0"/>
          </a:p>
        </p:txBody>
      </p:sp>
      <p:sp>
        <p:nvSpPr>
          <p:cNvPr id="3" name="Shape 1"/>
          <p:cNvSpPr/>
          <p:nvPr>
            <p:custDataLst>
              <p:tags r:id="rId1"/>
            </p:custDataLst>
          </p:nvPr>
        </p:nvSpPr>
        <p:spPr>
          <a:xfrm>
            <a:off x="548640" y="1508760"/>
            <a:ext cx="5364328" cy="3657600"/>
          </a:xfrm>
          <a:prstGeom prst="roundRect">
            <a:avLst>
              <a:gd name="adj" fmla="val 1750"/>
            </a:avLst>
          </a:prstGeom>
          <a:solidFill>
            <a:srgbClr val="F0F4F8"/>
          </a:solidFill>
          <a:ln w="12700">
            <a:solidFill>
              <a:srgbClr val="DBEAFE"/>
            </a:solidFill>
            <a:prstDash val="solid"/>
          </a:ln>
        </p:spPr>
      </p:sp>
      <p:pic>
        <p:nvPicPr>
          <p:cNvPr id="4" name="Image 0" descr="preencoded.png"/>
          <p:cNvPicPr>
            <a:picLocks noChangeAspect="1"/>
          </p:cNvPicPr>
          <p:nvPr>
            <p:custDataLst>
              <p:tags r:id="rId2"/>
            </p:custDataLst>
          </p:nvPr>
        </p:nvPicPr>
        <p:blipFill>
          <a:blip r:embed="rId3"/>
          <a:stretch>
            <a:fillRect/>
          </a:stretch>
        </p:blipFill>
        <p:spPr>
          <a:xfrm>
            <a:off x="822960" y="1783080"/>
            <a:ext cx="329184" cy="329184"/>
          </a:xfrm>
          <a:prstGeom prst="rect">
            <a:avLst/>
          </a:prstGeom>
        </p:spPr>
      </p:pic>
      <p:sp>
        <p:nvSpPr>
          <p:cNvPr id="5" name="Text 2"/>
          <p:cNvSpPr/>
          <p:nvPr>
            <p:custDataLst>
              <p:tags r:id="rId4"/>
            </p:custDataLst>
          </p:nvPr>
        </p:nvSpPr>
        <p:spPr>
          <a:xfrm>
            <a:off x="1280160" y="1755648"/>
            <a:ext cx="4449928" cy="365760"/>
          </a:xfrm>
          <a:prstGeom prst="rect">
            <a:avLst/>
          </a:prstGeom>
          <a:noFill/>
        </p:spPr>
        <p:txBody>
          <a:bodyPr wrap="square" lIns="0" tIns="0" rIns="0" bIns="0" rtlCol="0" anchor="ctr"/>
          <a:lstStyle/>
          <a:p>
            <a:pPr marL="0" indent="0">
              <a:buNone/>
            </a:pPr>
            <a:r>
              <a:rPr lang="en-US" sz="1600" b="1" dirty="0">
                <a:solidFill>
                  <a:srgbClr val="0284C7"/>
                </a:solidFill>
                <a:latin typeface="Calibri" panose="020F0502020204030204" pitchFamily="34" charset="0"/>
                <a:ea typeface="Calibri" panose="020F0502020204030204" pitchFamily="34" charset="-122"/>
                <a:cs typeface="Calibri" panose="020F0502020204030204" pitchFamily="34" charset="-120"/>
              </a:rPr>
              <a:t>Synthèse des Travaux</a:t>
            </a:r>
            <a:endParaRPr lang="en-US" sz="1600" dirty="0"/>
          </a:p>
        </p:txBody>
      </p:sp>
      <p:sp>
        <p:nvSpPr>
          <p:cNvPr id="6" name="Shape 3"/>
          <p:cNvSpPr/>
          <p:nvPr>
            <p:custDataLst>
              <p:tags r:id="rId5"/>
            </p:custDataLst>
          </p:nvPr>
        </p:nvSpPr>
        <p:spPr>
          <a:xfrm>
            <a:off x="822960" y="2240280"/>
            <a:ext cx="4815688" cy="0"/>
          </a:xfrm>
          <a:prstGeom prst="line">
            <a:avLst/>
          </a:prstGeom>
          <a:noFill/>
          <a:ln w="12700">
            <a:solidFill>
              <a:srgbClr val="DBEAFE"/>
            </a:solidFill>
            <a:prstDash val="solid"/>
          </a:ln>
        </p:spPr>
      </p:sp>
      <p:sp>
        <p:nvSpPr>
          <p:cNvPr id="7" name="Text 4"/>
          <p:cNvSpPr/>
          <p:nvPr>
            <p:custDataLst>
              <p:tags r:id="rId6"/>
            </p:custDataLst>
          </p:nvPr>
        </p:nvSpPr>
        <p:spPr>
          <a:xfrm>
            <a:off x="822960" y="2423160"/>
            <a:ext cx="4815688" cy="2560320"/>
          </a:xfrm>
          <a:prstGeom prst="rect">
            <a:avLst/>
          </a:prstGeom>
          <a:noFill/>
        </p:spPr>
        <p:txBody>
          <a:bodyPr wrap="square" lIns="0" tIns="0" rIns="0" bIns="0" rtlCol="0" anchor="ctr"/>
          <a:lstStyle/>
          <a:p>
            <a:pPr marL="0" indent="0">
              <a:spcAft>
                <a:spcPts val="1000"/>
              </a:spcAft>
              <a:buSzPct val="100000"/>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Analyse Terrain : </a:t>
            </a: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Mesures fiables via OnePlus 13/TEMS.</a:t>
            </a:r>
            <a:endParaRPr lang="en-US" sz="1250" dirty="0"/>
          </a:p>
          <a:p>
            <a:pPr marL="0" indent="0">
              <a:spcAft>
                <a:spcPts val="1000"/>
              </a:spcAft>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Rigueur Modèle : </a:t>
            </a: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Calibration Atoll (SPM) abaissant le RMSE à 9.96 dB.</a:t>
            </a:r>
            <a:endParaRPr lang="en-US" sz="1250" dirty="0"/>
          </a:p>
          <a:p>
            <a:pPr marL="0" indent="0">
              <a:spcAft>
                <a:spcPts val="1000"/>
              </a:spcAft>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Limites Paramétriques : </a:t>
            </a: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Plafond atteint par l'optimisation pure (Scénario 1).</a:t>
            </a:r>
            <a:endParaRPr lang="en-US" sz="1250" dirty="0"/>
          </a:p>
          <a:p>
            <a:pPr marL="0" indent="0">
              <a:spcAft>
                <a:spcPts val="1000"/>
              </a:spcAft>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Succès Densification : </a:t>
            </a: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L'ajout de 3 sites (Scénario 2) franchit les objectifs de Qualité (85%) et de Couverture (95%), avec 251 Mbps.</a:t>
            </a:r>
            <a:endParaRPr lang="en-US" sz="1250" dirty="0"/>
          </a:p>
        </p:txBody>
      </p:sp>
      <p:sp>
        <p:nvSpPr>
          <p:cNvPr id="8" name="Shape 5"/>
          <p:cNvSpPr/>
          <p:nvPr>
            <p:custDataLst>
              <p:tags r:id="rId7"/>
            </p:custDataLst>
          </p:nvPr>
        </p:nvSpPr>
        <p:spPr>
          <a:xfrm>
            <a:off x="6278728" y="1508760"/>
            <a:ext cx="5364328" cy="3657600"/>
          </a:xfrm>
          <a:prstGeom prst="roundRect">
            <a:avLst>
              <a:gd name="adj" fmla="val 1750"/>
            </a:avLst>
          </a:prstGeom>
          <a:solidFill>
            <a:srgbClr val="F0F4F8"/>
          </a:solidFill>
          <a:ln w="12700">
            <a:solidFill>
              <a:srgbClr val="DBEAFE"/>
            </a:solidFill>
            <a:prstDash val="solid"/>
          </a:ln>
        </p:spPr>
      </p:sp>
      <p:pic>
        <p:nvPicPr>
          <p:cNvPr id="9" name="Image 1" descr="preencoded.png"/>
          <p:cNvPicPr>
            <a:picLocks noChangeAspect="1"/>
          </p:cNvPicPr>
          <p:nvPr>
            <p:custDataLst>
              <p:tags r:id="rId8"/>
            </p:custDataLst>
          </p:nvPr>
        </p:nvPicPr>
        <p:blipFill>
          <a:blip r:embed="rId9"/>
          <a:stretch>
            <a:fillRect/>
          </a:stretch>
        </p:blipFill>
        <p:spPr>
          <a:xfrm>
            <a:off x="6553048" y="1783080"/>
            <a:ext cx="329184" cy="329184"/>
          </a:xfrm>
          <a:prstGeom prst="rect">
            <a:avLst/>
          </a:prstGeom>
        </p:spPr>
      </p:pic>
      <p:sp>
        <p:nvSpPr>
          <p:cNvPr id="10" name="Text 6"/>
          <p:cNvSpPr/>
          <p:nvPr>
            <p:custDataLst>
              <p:tags r:id="rId10"/>
            </p:custDataLst>
          </p:nvPr>
        </p:nvSpPr>
        <p:spPr>
          <a:xfrm>
            <a:off x="7010248" y="1755648"/>
            <a:ext cx="4449928" cy="365760"/>
          </a:xfrm>
          <a:prstGeom prst="rect">
            <a:avLst/>
          </a:prstGeom>
          <a:noFill/>
        </p:spPr>
        <p:txBody>
          <a:bodyPr wrap="square" lIns="0" tIns="0" rIns="0" bIns="0" rtlCol="0" anchor="ctr"/>
          <a:lstStyle/>
          <a:p>
            <a:pPr marL="0" indent="0">
              <a:buNone/>
            </a:pPr>
            <a:r>
              <a:rPr lang="en-US" sz="1600" b="1" dirty="0">
                <a:solidFill>
                  <a:srgbClr val="005BAC"/>
                </a:solidFill>
                <a:latin typeface="Calibri" panose="020F0502020204030204" pitchFamily="34" charset="0"/>
                <a:ea typeface="Calibri" panose="020F0502020204030204" pitchFamily="34" charset="-122"/>
                <a:cs typeface="Calibri" panose="020F0502020204030204" pitchFamily="34" charset="-120"/>
              </a:rPr>
              <a:t>Perspectives Futures</a:t>
            </a:r>
            <a:endParaRPr lang="en-US" sz="1600" dirty="0"/>
          </a:p>
        </p:txBody>
      </p:sp>
      <p:sp>
        <p:nvSpPr>
          <p:cNvPr id="11" name="Shape 7"/>
          <p:cNvSpPr/>
          <p:nvPr>
            <p:custDataLst>
              <p:tags r:id="rId11"/>
            </p:custDataLst>
          </p:nvPr>
        </p:nvSpPr>
        <p:spPr>
          <a:xfrm>
            <a:off x="6553048" y="2240280"/>
            <a:ext cx="4815688" cy="0"/>
          </a:xfrm>
          <a:prstGeom prst="line">
            <a:avLst/>
          </a:prstGeom>
          <a:noFill/>
          <a:ln w="12700">
            <a:solidFill>
              <a:srgbClr val="DBEAFE"/>
            </a:solidFill>
            <a:prstDash val="solid"/>
          </a:ln>
        </p:spPr>
      </p:sp>
      <p:sp>
        <p:nvSpPr>
          <p:cNvPr id="12" name="Text 8"/>
          <p:cNvSpPr/>
          <p:nvPr>
            <p:custDataLst>
              <p:tags r:id="rId12"/>
            </p:custDataLst>
          </p:nvPr>
        </p:nvSpPr>
        <p:spPr>
          <a:xfrm>
            <a:off x="6553048" y="2423160"/>
            <a:ext cx="4815688" cy="2560320"/>
          </a:xfrm>
          <a:prstGeom prst="rect">
            <a:avLst/>
          </a:prstGeom>
          <a:noFill/>
        </p:spPr>
        <p:txBody>
          <a:bodyPr wrap="square" lIns="0" tIns="0" rIns="0" bIns="0" rtlCol="0" anchor="ctr"/>
          <a:lstStyle/>
          <a:p>
            <a:pPr marL="0" indent="0">
              <a:spcAft>
                <a:spcPts val="1000"/>
              </a:spcAft>
              <a:buSzPct val="100000"/>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5G Standalone (SA) : </a:t>
            </a: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Déploiement du cœur 5GC natif pour l'URLLC et le Network Slicing.</a:t>
            </a:r>
            <a:endParaRPr lang="en-US" sz="1250" dirty="0"/>
          </a:p>
          <a:p>
            <a:pPr marL="0" indent="0">
              <a:spcAft>
                <a:spcPts val="1000"/>
              </a:spcAft>
              <a:buNone/>
            </a:pP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rPr>
              <a:t>Intelligence Artificielle : </a:t>
            </a:r>
            <a:r>
              <a:rPr lang="en-US" sz="1250" dirty="0">
                <a:solidFill>
                  <a:srgbClr val="334155"/>
                </a:solidFill>
                <a:latin typeface="Calibri" panose="020F0502020204030204" pitchFamily="34" charset="0"/>
                <a:ea typeface="Calibri" panose="020F0502020204030204" pitchFamily="34" charset="-122"/>
                <a:cs typeface="Calibri" panose="020F0502020204030204" pitchFamily="34" charset="-120"/>
              </a:rPr>
              <a:t>Machine Learning pour automatiser l'ACP (Self-Organizing Networks).</a:t>
            </a:r>
            <a:endParaRPr lang="en-US" sz="1250" dirty="0"/>
          </a:p>
          <a:p>
            <a:pPr marL="0" indent="0">
              <a:spcAft>
                <a:spcPts val="1000"/>
              </a:spcAft>
              <a:buNone/>
            </a:pPr>
            <a:r>
              <a:rPr lang="fr-FR" altLang="en-US" sz="1250" b="1" dirty="0"/>
              <a:t>Generalisation du modele </a:t>
            </a:r>
            <a:r>
              <a:rPr lang="en-US" sz="1250" b="1" dirty="0">
                <a:solidFill>
                  <a:srgbClr val="0F172A"/>
                </a:solidFill>
                <a:latin typeface="Calibri" panose="020F0502020204030204" pitchFamily="34" charset="0"/>
                <a:ea typeface="Calibri" panose="020F0502020204030204" pitchFamily="34" charset="-122"/>
                <a:cs typeface="Calibri" panose="020F0502020204030204" pitchFamily="34" charset="-120"/>
                <a:sym typeface="+mn-ea"/>
              </a:rPr>
              <a:t>:</a:t>
            </a:r>
            <a:r>
              <a:rPr lang="fr-FR" altLang="en-US" sz="1250" dirty="0"/>
              <a:t> </a:t>
            </a:r>
            <a:r>
              <a:rPr lang="en-US" altLang="fr-CA" sz="1250" dirty="0"/>
              <a:t>Une perspective naturelle serait d'</a:t>
            </a:r>
            <a:r>
              <a:rPr lang="en-US" altLang="en-US" sz="1250" dirty="0"/>
              <a:t>é</a:t>
            </a:r>
            <a:r>
              <a:rPr lang="en-US" altLang="fr-CA" sz="1250" dirty="0"/>
              <a:t>tendre la calibration du mod</a:t>
            </a:r>
            <a:r>
              <a:rPr lang="" altLang="en-US" sz="1250" dirty="0"/>
              <a:t>è</a:t>
            </a:r>
            <a:r>
              <a:rPr lang="en-US" altLang="fr-CA" sz="1250" dirty="0"/>
              <a:t>le SPM à d'autres environnements — suburbain, rural et indoor — afin de disposer d'un jeu de coefficients propre à chaque milieu et de g</a:t>
            </a:r>
            <a:r>
              <a:rPr lang="en-US" altLang="en-US" sz="1250" dirty="0"/>
              <a:t>é</a:t>
            </a:r>
            <a:r>
              <a:rPr lang="en-US" altLang="fr-CA" sz="1250" dirty="0"/>
              <a:t>n</a:t>
            </a:r>
            <a:r>
              <a:rPr lang="en-US" altLang="en-US" sz="1250" dirty="0"/>
              <a:t>é</a:t>
            </a:r>
            <a:r>
              <a:rPr lang="en-US" altLang="fr-CA" sz="1250" dirty="0"/>
              <a:t>raliser la d</a:t>
            </a:r>
            <a:r>
              <a:rPr lang="en-US" altLang="en-US" sz="1250" dirty="0"/>
              <a:t>é</a:t>
            </a:r>
            <a:r>
              <a:rPr lang="en-US" altLang="fr-CA" sz="1250" dirty="0"/>
              <a:t>marche à l'ensemble du r</a:t>
            </a:r>
            <a:r>
              <a:rPr lang="en-US" altLang="en-US" sz="1250" dirty="0"/>
              <a:t>é</a:t>
            </a:r>
            <a:r>
              <a:rPr lang="en-US" altLang="fr-CA" sz="1250" dirty="0"/>
              <a:t>seau Mobilis.</a:t>
            </a:r>
            <a:endParaRPr lang="en-US" altLang="fr-CA" sz="1250" dirty="0"/>
          </a:p>
        </p:txBody>
      </p:sp>
      <p:sp>
        <p:nvSpPr>
          <p:cNvPr id="9901" name="AccentBar"/>
          <p:cNvSpPr/>
          <p:nvPr/>
        </p:nvSpPr>
        <p:spPr>
          <a:xfrm>
            <a:off x="0" y="0"/>
            <a:ext cx="12192000" cy="91440"/>
          </a:xfrm>
          <a:prstGeom prst="rect">
            <a:avLst/>
          </a:prstGeom>
          <a:solidFill>
            <a:srgbClr val="005BAC"/>
          </a:solidFill>
          <a:ln w="0">
            <a:noFill/>
          </a:ln>
        </p:spPr>
        <p:txBody>
          <a:bodyPr/>
          <a:lstStyle/>
          <a:p/>
        </p:txBody>
      </p:sp>
      <p:sp>
        <p:nvSpPr>
          <p:cNvPr id="9902" name="AccentLine"/>
          <p:cNvSpPr/>
          <p:nvPr/>
        </p:nvSpPr>
        <p:spPr>
          <a:xfrm>
            <a:off x="0" y="6629520"/>
            <a:ext cx="12192000" cy="60960"/>
          </a:xfrm>
          <a:prstGeom prst="rect">
            <a:avLst/>
          </a:prstGeom>
          <a:solidFill>
            <a:srgbClr val="E2E8F0"/>
          </a:solidFill>
          <a:ln w="0">
            <a:noFill/>
          </a:ln>
        </p:spPr>
        <p:txBody>
          <a:bodyPr/>
          <a:lstStyl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opBar"/>
          <p:cNvSpPr/>
          <p:nvPr/>
        </p:nvSpPr>
        <p:spPr>
          <a:xfrm>
            <a:off x="0" y="0"/>
            <a:ext cx="12192000" cy="91440"/>
          </a:xfrm>
          <a:prstGeom prst="rect">
            <a:avLst/>
          </a:prstGeom>
          <a:solidFill>
            <a:srgbClr val="0284C7"/>
          </a:solidFill>
          <a:ln w="0">
            <a:noFill/>
          </a:ln>
        </p:spPr>
        <p:txBody>
          <a:bodyPr/>
          <a:lstStyle/>
          <a:p/>
        </p:txBody>
      </p:sp>
      <p:sp>
        <p:nvSpPr>
          <p:cNvPr id="3" name="BottomBar"/>
          <p:cNvSpPr/>
          <p:nvPr/>
        </p:nvSpPr>
        <p:spPr>
          <a:xfrm>
            <a:off x="0" y="6706560"/>
            <a:ext cx="12192000" cy="91440"/>
          </a:xfrm>
          <a:prstGeom prst="rect">
            <a:avLst/>
          </a:prstGeom>
          <a:solidFill>
            <a:srgbClr val="0284C7"/>
          </a:solidFill>
          <a:ln w="0">
            <a:noFill/>
          </a:ln>
        </p:spPr>
        <p:txBody>
          <a:bodyPr/>
          <a:lstStyle/>
          <a:p/>
        </p:txBody>
      </p:sp>
      <p:sp>
        <p:nvSpPr>
          <p:cNvPr id="4" name="LeftAccent"/>
          <p:cNvSpPr/>
          <p:nvPr/>
        </p:nvSpPr>
        <p:spPr>
          <a:xfrm>
            <a:off x="548640" y="1828800"/>
            <a:ext cx="182880" cy="3200400"/>
          </a:xfrm>
          <a:prstGeom prst="rect">
            <a:avLst/>
          </a:prstGeom>
          <a:solidFill>
            <a:srgbClr val="0284C7"/>
          </a:solidFill>
          <a:ln w="0">
            <a:noFill/>
          </a:ln>
        </p:spPr>
        <p:txBody>
          <a:bodyPr/>
          <a:lstStyle/>
          <a:p/>
        </p:txBody>
      </p:sp>
      <p:sp>
        <p:nvSpPr>
          <p:cNvPr id="5" name="MainTitle"/>
          <p:cNvSpPr/>
          <p:nvPr/>
        </p:nvSpPr>
        <p:spPr>
          <a:xfrm>
            <a:off x="914400" y="2194560"/>
            <a:ext cx="10368000" cy="1005840"/>
          </a:xfrm>
          <a:prstGeom prst="rect">
            <a:avLst/>
          </a:prstGeom>
          <a:noFill/>
        </p:spPr>
        <p:txBody>
          <a:bodyPr wrap="square" lIns="0" tIns="0" rIns="0" bIns="0" rtlCol="0" anchor="ctr"/>
          <a:lstStyle/>
          <a:p>
            <a:pPr marL="0" indent="0" algn="ctr">
              <a:buNone/>
            </a:pPr>
            <a:r>
              <a:rPr lang="fr-CA" sz="4800" b="1" dirty="0">
                <a:solidFill>
                  <a:srgbClr val="F8FAFC"/>
                </a:solidFill>
                <a:latin typeface="Calibri" panose="020F0502020204030204" pitchFamily="34" charset="0"/>
              </a:rPr>
              <a:t>Merci de votre attention</a:t>
            </a:r>
            <a:endParaRPr lang="fr-CA" sz="4800" dirty="0"/>
          </a:p>
        </p:txBody>
      </p:sp>
      <p:sp>
        <p:nvSpPr>
          <p:cNvPr id="6" name="Separator"/>
          <p:cNvSpPr/>
          <p:nvPr/>
        </p:nvSpPr>
        <p:spPr>
          <a:xfrm>
            <a:off x="2743200" y="3291840"/>
            <a:ext cx="6705600" cy="0"/>
          </a:xfrm>
          <a:prstGeom prst="line">
            <a:avLst/>
          </a:prstGeom>
          <a:noFill/>
          <a:ln w="19050">
            <a:solidFill>
              <a:srgbClr val="0284C7"/>
            </a:solidFill>
            <a:prstDash val="solid"/>
          </a:ln>
        </p:spPr>
      </p:sp>
      <p:sp>
        <p:nvSpPr>
          <p:cNvPr id="7" name="Subtitle"/>
          <p:cNvSpPr/>
          <p:nvPr/>
        </p:nvSpPr>
        <p:spPr>
          <a:xfrm>
            <a:off x="914400" y="3474720"/>
            <a:ext cx="10368000" cy="731520"/>
          </a:xfrm>
          <a:prstGeom prst="rect">
            <a:avLst/>
          </a:prstGeom>
          <a:noFill/>
        </p:spPr>
        <p:txBody>
          <a:bodyPr wrap="square" lIns="0" tIns="0" rIns="0" bIns="0" rtlCol="0" anchor="ctr"/>
          <a:lstStyle/>
          <a:p>
            <a:pPr marL="0" indent="0" algn="ctr">
              <a:buNone/>
            </a:pPr>
            <a:r>
              <a:rPr lang="fr-CA" sz="2200" dirty="0">
                <a:solidFill>
                  <a:srgbClr val="7DD3FC"/>
                </a:solidFill>
                <a:latin typeface="Calibri" panose="020F0502020204030204" pitchFamily="34" charset="0"/>
              </a:rPr>
              <a:t>Nous sommes à la disposition du jury pour toute question</a:t>
            </a:r>
            <a:endParaRPr lang="fr-CA" sz="2200" dirty="0"/>
          </a:p>
        </p:txBody>
      </p:sp>
      <p:sp>
        <p:nvSpPr>
          <p:cNvPr id="8" name="Names"/>
          <p:cNvSpPr/>
          <p:nvPr/>
        </p:nvSpPr>
        <p:spPr>
          <a:xfrm>
            <a:off x="914400" y="5486400"/>
            <a:ext cx="10368000" cy="548640"/>
          </a:xfrm>
          <a:prstGeom prst="rect">
            <a:avLst/>
          </a:prstGeom>
          <a:noFill/>
        </p:spPr>
        <p:txBody>
          <a:bodyPr wrap="square" lIns="0" tIns="0" rIns="0" bIns="0" rtlCol="0" anchor="ctr"/>
          <a:lstStyle/>
          <a:p>
            <a:pPr marL="0" indent="0" algn="ctr">
              <a:buNone/>
            </a:pPr>
            <a:r>
              <a:rPr lang="fr-CA" sz="1400" dirty="0">
                <a:solidFill>
                  <a:srgbClr val="94A3B8"/>
                </a:solidFill>
                <a:latin typeface="Calibri" panose="020F0502020204030204" pitchFamily="34" charset="0"/>
              </a:rPr>
              <a:t>HAMOUDI Aymene  |  BENCHAOUCHE Nadjib  —  Master Réseaux Radio Mobiles —  USTHB 2026</a:t>
            </a:r>
            <a:endParaRPr lang="fr-CA" sz="1400" dirty="0"/>
          </a:p>
        </p:txBody>
      </p:sp>
    </p:spTree>
  </p:cSld>
  <p:clrMapOvr>
    <a:masterClrMapping/>
  </p:clrMapOvr>
</p:sld>
</file>

<file path=ppt/tags/tag1.xml><?xml version="1.0" encoding="utf-8"?>
<p:tagLst xmlns:p="http://schemas.openxmlformats.org/presentationml/2006/main">
  <p:tag name="KSO_WM_DIAGRAM_VIRTUALLY_FRAME" val="{&quot;height&quot;:191.90999999999994,&quot;left&quot;:38.2,&quot;top&quot;:298.8,&quot;width&quot;:480}"/>
</p:tagLst>
</file>

<file path=ppt/tags/tag2.xml><?xml version="1.0" encoding="utf-8"?>
<p:tagLst xmlns:p="http://schemas.openxmlformats.org/presentationml/2006/main">
  <p:tag name="KSO_WM_DIAGRAM_VIRTUALLY_FRAME" val="{&quot;height&quot;:191.90999999999994,&quot;left&quot;:38.2,&quot;top&quot;:298.8,&quot;width&quot;:480}"/>
</p:tagLst>
</file>

<file path=ppt/tags/tag3.xml><?xml version="1.0" encoding="utf-8"?>
<p:tagLst xmlns:p="http://schemas.openxmlformats.org/presentationml/2006/main">
  <p:tag name="KSO_WM_DIAGRAM_VIRTUALLY_FRAME" val="{&quot;height&quot;:191.90999999999994,&quot;left&quot;:38.2,&quot;top&quot;:298.8,&quot;width&quot;:480}"/>
</p:tagLst>
</file>

<file path=ppt/tags/tag4.xml><?xml version="1.0" encoding="utf-8"?>
<p:tagLst xmlns:p="http://schemas.openxmlformats.org/presentationml/2006/main">
  <p:tag name="KSO_WM_DIAGRAM_VIRTUALLY_FRAME" val="{&quot;height&quot;:191.90999999999994,&quot;left&quot;:38.2,&quot;top&quot;:298.8,&quot;width&quot;:480}"/>
</p:tagLst>
</file>

<file path=ppt/tags/tag5.xml><?xml version="1.0" encoding="utf-8"?>
<p:tagLst xmlns:p="http://schemas.openxmlformats.org/presentationml/2006/main">
  <p:tag name="KSO_WM_DIAGRAM_VIRTUALLY_FRAME" val="{&quot;height&quot;:191.90999999999994,&quot;left&quot;:38.2,&quot;top&quot;:298.8,&quot;width&quot;:480}"/>
</p:tagLst>
</file>

<file path=ppt/tags/tag6.xml><?xml version="1.0" encoding="utf-8"?>
<p:tagLst xmlns:p="http://schemas.openxmlformats.org/presentationml/2006/main">
  <p:tag name="KSO_WM_DIAGRAM_VIRTUALLY_FRAME" val="{&quot;height&quot;:191.90999999999994,&quot;left&quot;:38.2,&quot;top&quot;:298.8,&quot;width&quot;:480}"/>
</p:tagLst>
</file>

<file path=ppt/tags/tag7.xml><?xml version="1.0" encoding="utf-8"?>
<p:tagLst xmlns:p="http://schemas.openxmlformats.org/presentationml/2006/main">
  <p:tag name="KSO_WM_DIAGRAM_VIRTUALLY_FRAME" val="{&quot;height&quot;:191.90999999999994,&quot;left&quot;:38.2,&quot;top&quot;:298.8,&quot;width&quot;:480}"/>
</p:tagLst>
</file>

<file path=ppt/tags/tag8.xml><?xml version="1.0" encoding="utf-8"?>
<p:tagLst xmlns:p="http://schemas.openxmlformats.org/presentationml/2006/main">
  <p:tag name="KSO_WM_DIAGRAM_VIRTUALLY_FRAME" val="{&quot;height&quot;:191.90999999999994,&quot;left&quot;:38.2,&quot;top&quot;:298.8,&quot;width&quot;:480}"/>
</p:tagLst>
</file>

<file path=ppt/tags/tag9.xml><?xml version="1.0" encoding="utf-8"?>
<p:tagLst xmlns:p="http://schemas.openxmlformats.org/presentationml/2006/main">
  <p:tag name="KSO_WM_DIAGRAM_VIRTUALLY_FRAME" val="{&quot;height&quot;:191.90999999999994,&quot;left&quot;:38.2,&quot;top&quot;:298.8,&quot;width&quot;:480}"/>
</p:tagLst>
</file>

<file path=ppt/tags/tag10.xml><?xml version="1.0" encoding="utf-8"?>
<p:tagLst xmlns:p="http://schemas.openxmlformats.org/presentationml/2006/main">
  <p:tag name="KSO_WM_DIAGRAM_VIRTUALLY_FRAME" val="{&quot;height&quot;:191.90999999999994,&quot;left&quot;:38.2,&quot;top&quot;:298.8,&quot;width&quot;:480}"/>
</p:tagLst>
</file>

<file path=ppt/tags/tag11.xml><?xml version="1.0" encoding="utf-8"?>
<p:tagLst xmlns:p="http://schemas.openxmlformats.org/presentationml/2006/main">
  <p:tag name="KSO_WM_DIAGRAM_VIRTUALLY_FRAME" val="{&quot;height&quot;:191.90999999999994,&quot;left&quot;:38.2,&quot;top&quot;:298.8,&quot;width&quot;:480}"/>
</p:tagLst>
</file>

<file path=ppt/tags/tag12.xml><?xml version="1.0" encoding="utf-8"?>
<p:tagLst xmlns:p="http://schemas.openxmlformats.org/presentationml/2006/main">
  <p:tag name="KSO_WM_DIAGRAM_VIRTUALLY_FRAME" val="{&quot;height&quot;:191.90999999999994,&quot;left&quot;:38.2,&quot;top&quot;:298.8,&quot;width&quot;:480}"/>
</p:tagLst>
</file>

<file path=ppt/tags/tag13.xml><?xml version="1.0" encoding="utf-8"?>
<p:tagLst xmlns:p="http://schemas.openxmlformats.org/presentationml/2006/main">
  <p:tag name="KSO_WM_DIAGRAM_VIRTUALLY_FRAME" val="{&quot;height&quot;:191.90999999999994,&quot;left&quot;:38.2,&quot;top&quot;:298.8,&quot;width&quot;:480}"/>
</p:tagLst>
</file>

<file path=ppt/tags/tag14.xml><?xml version="1.0" encoding="utf-8"?>
<p:tagLst xmlns:p="http://schemas.openxmlformats.org/presentationml/2006/main">
  <p:tag name="KSO_WM_DIAGRAM_VIRTUALLY_FRAME" val="{&quot;height&quot;:191.90999999999994,&quot;left&quot;:38.2,&quot;top&quot;:298.8,&quot;width&quot;:480}"/>
</p:tagLst>
</file>

<file path=ppt/tags/tag15.xml><?xml version="1.0" encoding="utf-8"?>
<p:tagLst xmlns:p="http://schemas.openxmlformats.org/presentationml/2006/main">
  <p:tag name="KSO_WM_DIAGRAM_VIRTUALLY_FRAME" val="{&quot;height&quot;:191.90999999999994,&quot;left&quot;:38.2,&quot;top&quot;:298.8,&quot;width&quot;:480}"/>
</p:tagLst>
</file>

<file path=ppt/tags/tag16.xml><?xml version="1.0" encoding="utf-8"?>
<p:tagLst xmlns:p="http://schemas.openxmlformats.org/presentationml/2006/main">
  <p:tag name="KSO_WM_DIAGRAM_VIRTUALLY_FRAME" val="{&quot;height&quot;:191.90999999999994,&quot;left&quot;:38.2,&quot;top&quot;:298.8,&quot;width&quot;:480}"/>
</p:tagLst>
</file>

<file path=ppt/tags/tag17.xml><?xml version="1.0" encoding="utf-8"?>
<p:tagLst xmlns:p="http://schemas.openxmlformats.org/presentationml/2006/main">
  <p:tag name="KSO_WM_DIAGRAM_VIRTUALLY_FRAME" val="{&quot;height&quot;:288,&quot;left&quot;:43.2,&quot;top&quot;:118.8,&quot;width&quot;:873.576062992126}"/>
</p:tagLst>
</file>

<file path=ppt/tags/tag18.xml><?xml version="1.0" encoding="utf-8"?>
<p:tagLst xmlns:p="http://schemas.openxmlformats.org/presentationml/2006/main">
  <p:tag name="KSO_WM_DIAGRAM_VIRTUALLY_FRAME" val="{&quot;height&quot;:288,&quot;left&quot;:43.2,&quot;top&quot;:118.8,&quot;width&quot;:873.576062992126}"/>
</p:tagLst>
</file>

<file path=ppt/tags/tag19.xml><?xml version="1.0" encoding="utf-8"?>
<p:tagLst xmlns:p="http://schemas.openxmlformats.org/presentationml/2006/main">
  <p:tag name="KSO_WM_DIAGRAM_VIRTUALLY_FRAME" val="{&quot;height&quot;:288,&quot;left&quot;:43.2,&quot;top&quot;:118.8,&quot;width&quot;:873.576062992126}"/>
</p:tagLst>
</file>

<file path=ppt/tags/tag20.xml><?xml version="1.0" encoding="utf-8"?>
<p:tagLst xmlns:p="http://schemas.openxmlformats.org/presentationml/2006/main">
  <p:tag name="KSO_WM_DIAGRAM_VIRTUALLY_FRAME" val="{&quot;height&quot;:288,&quot;left&quot;:43.2,&quot;top&quot;:118.8,&quot;width&quot;:873.576062992126}"/>
</p:tagLst>
</file>

<file path=ppt/tags/tag21.xml><?xml version="1.0" encoding="utf-8"?>
<p:tagLst xmlns:p="http://schemas.openxmlformats.org/presentationml/2006/main">
  <p:tag name="KSO_WM_DIAGRAM_VIRTUALLY_FRAME" val="{&quot;height&quot;:288,&quot;left&quot;:43.2,&quot;top&quot;:118.8,&quot;width&quot;:873.576062992126}"/>
</p:tagLst>
</file>

<file path=ppt/tags/tag22.xml><?xml version="1.0" encoding="utf-8"?>
<p:tagLst xmlns:p="http://schemas.openxmlformats.org/presentationml/2006/main">
  <p:tag name="KSO_WM_DIAGRAM_VIRTUALLY_FRAME" val="{&quot;height&quot;:288,&quot;left&quot;:43.2,&quot;top&quot;:118.8,&quot;width&quot;:873.576062992126}"/>
</p:tagLst>
</file>

<file path=ppt/tags/tag23.xml><?xml version="1.0" encoding="utf-8"?>
<p:tagLst xmlns:p="http://schemas.openxmlformats.org/presentationml/2006/main">
  <p:tag name="KSO_WM_DIAGRAM_VIRTUALLY_FRAME" val="{&quot;height&quot;:288,&quot;left&quot;:43.2,&quot;top&quot;:118.8,&quot;width&quot;:873.576062992126}"/>
</p:tagLst>
</file>

<file path=ppt/tags/tag24.xml><?xml version="1.0" encoding="utf-8"?>
<p:tagLst xmlns:p="http://schemas.openxmlformats.org/presentationml/2006/main">
  <p:tag name="KSO_WM_DIAGRAM_VIRTUALLY_FRAME" val="{&quot;height&quot;:288,&quot;left&quot;:43.2,&quot;top&quot;:118.8,&quot;width&quot;:873.576062992126}"/>
</p:tagLst>
</file>

<file path=ppt/tags/tag25.xml><?xml version="1.0" encoding="utf-8"?>
<p:tagLst xmlns:p="http://schemas.openxmlformats.org/presentationml/2006/main">
  <p:tag name="KSO_WM_DIAGRAM_VIRTUALLY_FRAME" val="{&quot;height&quot;:288,&quot;left&quot;:43.2,&quot;top&quot;:118.8,&quot;width&quot;:873.576062992126}"/>
</p:tagLst>
</file>

<file path=ppt/tags/tag26.xml><?xml version="1.0" encoding="utf-8"?>
<p:tagLst xmlns:p="http://schemas.openxmlformats.org/presentationml/2006/main">
  <p:tag name="KSO_WM_DIAGRAM_VIRTUALLY_FRAME" val="{&quot;height&quot;:288,&quot;left&quot;:43.2,&quot;top&quot;:118.8,&quot;width&quot;:873.57606299212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10105</Words>
  <Application>WPS Presentation</Application>
  <PresentationFormat>On-screen Show (16:9)</PresentationFormat>
  <Paragraphs>649</Paragraphs>
  <Slides>21</Slides>
  <Notes>20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et optimisation de la couverture 5G NR dans le réseau Mobilis</dc:title>
  <dc:creator>HAMOUDI Aymene, BENCHAOUCHE Nadjib</dc:creator>
  <dc:subject>PptxGenJS Presentation</dc:subject>
  <cp:lastModifiedBy>Nadjib BENCHAOUCHE</cp:lastModifiedBy>
  <cp:revision>9</cp:revision>
  <dcterms:created xsi:type="dcterms:W3CDTF">2026-06-22T19:00:00Z</dcterms:created>
  <dcterms:modified xsi:type="dcterms:W3CDTF">2026-06-24T17:35:47Z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99575F28D85E4F6FBEC7110038DA4F47_12</vt:lpwstr>
  </property>
  <property fmtid="{D5CDD505-2E9C-101B-9397-08002B2CF9AE}" pid="3" name="KSOProductBuildVer">
    <vt:lpwstr>3084-12.2.0.23203</vt:lpwstr>
  </property>
</Properties>
</file>